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20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20E"/>
          </a:solidFill>
          <a:ln/>
        </p:spPr>
      </p:sp>
      <p:sp>
        <p:nvSpPr>
          <p:cNvPr id="3" name="Text 1"/>
          <p:cNvSpPr/>
          <p:nvPr/>
        </p:nvSpPr>
        <p:spPr>
          <a:xfrm>
            <a:off x="822960" y="1417320"/>
            <a:ext cx="10058400" cy="365760"/>
          </a:xfrm>
          <a:prstGeom prst="rect">
            <a:avLst/>
          </a:prstGeom>
          <a:noFill/>
          <a:ln/>
        </p:spPr>
        <p:txBody>
          <a:bodyPr wrap="square" rtlCol="0" anchor="ctr"/>
          <a:lstStyle/>
          <a:p>
            <a:pPr indent="0" marL="0">
              <a:buNone/>
            </a:pPr>
            <a:r>
              <a:rPr lang="en-US" sz="1300" b="1" spc="250" kern="0" dirty="0">
                <a:solidFill>
                  <a:srgbClr val="E67E3A"/>
                </a:solidFill>
                <a:latin typeface="Calibri" pitchFamily="34" charset="0"/>
                <a:ea typeface="Calibri" pitchFamily="34" charset="-122"/>
                <a:cs typeface="Calibri" pitchFamily="34" charset="-120"/>
              </a:rPr>
              <a:t>C PROGRAMMING  ·  RESTAURANT POS / BILLING SYSTEM</a:t>
            </a:r>
            <a:endParaRPr lang="en-US" sz="1300" dirty="0"/>
          </a:p>
        </p:txBody>
      </p:sp>
      <p:sp>
        <p:nvSpPr>
          <p:cNvPr id="4" name="Text 2"/>
          <p:cNvSpPr/>
          <p:nvPr/>
        </p:nvSpPr>
        <p:spPr>
          <a:xfrm>
            <a:off x="777240" y="1874520"/>
            <a:ext cx="10607040" cy="1737360"/>
          </a:xfrm>
          <a:prstGeom prst="rect">
            <a:avLst/>
          </a:prstGeom>
          <a:noFill/>
          <a:ln/>
        </p:spPr>
        <p:txBody>
          <a:bodyPr wrap="square" lIns="0" tIns="0" rIns="0" bIns="0" rtlCol="0" anchor="ctr"/>
          <a:lstStyle/>
          <a:p>
            <a:pPr indent="0" marL="0">
              <a:lnSpc>
                <a:spcPct val="105000"/>
              </a:lnSpc>
              <a:buNone/>
            </a:pPr>
            <a:r>
              <a:rPr lang="en-US" sz="4800" b="1" dirty="0">
                <a:solidFill>
                  <a:srgbClr val="F6F1E9"/>
                </a:solidFill>
                <a:latin typeface="Cambria" pitchFamily="34" charset="0"/>
                <a:ea typeface="Cambria" pitchFamily="34" charset="-122"/>
                <a:cs typeface="Cambria" pitchFamily="34" charset="-120"/>
              </a:rPr>
              <a:t>Restaurant Management</a:t>
            </a:r>
            <a:endParaRPr lang="en-US" sz="4800" dirty="0"/>
          </a:p>
          <a:p>
            <a:pPr indent="0" marL="0">
              <a:lnSpc>
                <a:spcPct val="105000"/>
              </a:lnSpc>
              <a:buNone/>
            </a:pPr>
            <a:r>
              <a:rPr lang="en-US" sz="4800" b="1" dirty="0">
                <a:solidFill>
                  <a:srgbClr val="F6F1E9"/>
                </a:solidFill>
                <a:latin typeface="Cambria" pitchFamily="34" charset="0"/>
                <a:ea typeface="Cambria" pitchFamily="34" charset="-122"/>
                <a:cs typeface="Cambria" pitchFamily="34" charset="-120"/>
              </a:rPr>
              <a:t>&amp; Billing System</a:t>
            </a:r>
            <a:endParaRPr lang="en-US" sz="4800" dirty="0"/>
          </a:p>
        </p:txBody>
      </p:sp>
      <p:sp>
        <p:nvSpPr>
          <p:cNvPr id="5" name="Text 3"/>
          <p:cNvSpPr/>
          <p:nvPr/>
        </p:nvSpPr>
        <p:spPr>
          <a:xfrm>
            <a:off x="822960" y="3611880"/>
            <a:ext cx="9144000" cy="457200"/>
          </a:xfrm>
          <a:prstGeom prst="rect">
            <a:avLst/>
          </a:prstGeom>
          <a:noFill/>
          <a:ln/>
        </p:spPr>
        <p:txBody>
          <a:bodyPr wrap="square" rtlCol="0" anchor="ctr"/>
          <a:lstStyle/>
          <a:p>
            <a:pPr indent="0" marL="0">
              <a:buNone/>
            </a:pPr>
            <a:r>
              <a:rPr lang="en-US" sz="1700" i="1" dirty="0">
                <a:solidFill>
                  <a:srgbClr val="AFA492"/>
                </a:solidFill>
                <a:latin typeface="Calibri" pitchFamily="34" charset="0"/>
                <a:ea typeface="Calibri" pitchFamily="34" charset="-122"/>
                <a:cs typeface="Calibri" pitchFamily="34" charset="-120"/>
              </a:rPr>
              <a:t>A C Programming Based Restaurant Billing Application</a:t>
            </a:r>
            <a:endParaRPr lang="en-US" sz="1700" dirty="0"/>
          </a:p>
        </p:txBody>
      </p:sp>
      <p:sp>
        <p:nvSpPr>
          <p:cNvPr id="6" name="Shape 4"/>
          <p:cNvSpPr/>
          <p:nvPr/>
        </p:nvSpPr>
        <p:spPr>
          <a:xfrm>
            <a:off x="822960" y="4343400"/>
            <a:ext cx="1371600" cy="457200"/>
          </a:xfrm>
          <a:prstGeom prst="roundRect">
            <a:avLst>
              <a:gd name="adj" fmla="val 50000"/>
            </a:avLst>
          </a:prstGeom>
          <a:solidFill>
            <a:srgbClr val="2C2419"/>
          </a:solidFill>
          <a:ln w="12700">
            <a:solidFill>
              <a:srgbClr val="3A3126"/>
            </a:solidFill>
            <a:prstDash val="solid"/>
          </a:ln>
        </p:spPr>
      </p:sp>
      <p:sp>
        <p:nvSpPr>
          <p:cNvPr id="7" name="Text 5"/>
          <p:cNvSpPr/>
          <p:nvPr/>
        </p:nvSpPr>
        <p:spPr>
          <a:xfrm>
            <a:off x="822960" y="4343400"/>
            <a:ext cx="1371600" cy="457200"/>
          </a:xfrm>
          <a:prstGeom prst="rect">
            <a:avLst/>
          </a:prstGeom>
          <a:noFill/>
          <a:ln/>
        </p:spPr>
        <p:txBody>
          <a:bodyPr wrap="square" lIns="0" tIns="0" rIns="0" bIns="0" rtlCol="0" anchor="ctr"/>
          <a:lstStyle/>
          <a:p>
            <a:pPr algn="ctr" indent="0" marL="0">
              <a:buNone/>
            </a:pPr>
            <a:r>
              <a:rPr lang="en-US" sz="1100" b="1" spc="50" kern="0" dirty="0">
                <a:solidFill>
                  <a:srgbClr val="F6F1E9"/>
                </a:solidFill>
                <a:latin typeface="Calibri" pitchFamily="34" charset="0"/>
                <a:ea typeface="Calibri" pitchFamily="34" charset="-122"/>
                <a:cs typeface="Calibri" pitchFamily="34" charset="-120"/>
              </a:rPr>
              <a:t>Menu</a:t>
            </a:r>
            <a:endParaRPr lang="en-US" sz="1100" dirty="0"/>
          </a:p>
        </p:txBody>
      </p:sp>
      <p:sp>
        <p:nvSpPr>
          <p:cNvPr id="8" name="Shape 6"/>
          <p:cNvSpPr/>
          <p:nvPr/>
        </p:nvSpPr>
        <p:spPr>
          <a:xfrm>
            <a:off x="2249424" y="4517136"/>
            <a:ext cx="393192" cy="128016"/>
          </a:xfrm>
          <a:prstGeom prst="rightArrow">
            <a:avLst/>
          </a:prstGeom>
          <a:solidFill>
            <a:srgbClr val="7C7264"/>
          </a:solidFill>
          <a:ln/>
        </p:spPr>
      </p:sp>
      <p:sp>
        <p:nvSpPr>
          <p:cNvPr id="9" name="Shape 7"/>
          <p:cNvSpPr/>
          <p:nvPr/>
        </p:nvSpPr>
        <p:spPr>
          <a:xfrm>
            <a:off x="2697480" y="4343400"/>
            <a:ext cx="1371600" cy="457200"/>
          </a:xfrm>
          <a:prstGeom prst="roundRect">
            <a:avLst>
              <a:gd name="adj" fmla="val 50000"/>
            </a:avLst>
          </a:prstGeom>
          <a:solidFill>
            <a:srgbClr val="2C2419"/>
          </a:solidFill>
          <a:ln w="12700">
            <a:solidFill>
              <a:srgbClr val="3A3126"/>
            </a:solidFill>
            <a:prstDash val="solid"/>
          </a:ln>
        </p:spPr>
      </p:sp>
      <p:sp>
        <p:nvSpPr>
          <p:cNvPr id="10" name="Text 8"/>
          <p:cNvSpPr/>
          <p:nvPr/>
        </p:nvSpPr>
        <p:spPr>
          <a:xfrm>
            <a:off x="2697480" y="4343400"/>
            <a:ext cx="1371600" cy="457200"/>
          </a:xfrm>
          <a:prstGeom prst="rect">
            <a:avLst/>
          </a:prstGeom>
          <a:noFill/>
          <a:ln/>
        </p:spPr>
        <p:txBody>
          <a:bodyPr wrap="square" lIns="0" tIns="0" rIns="0" bIns="0" rtlCol="0" anchor="ctr"/>
          <a:lstStyle/>
          <a:p>
            <a:pPr algn="ctr" indent="0" marL="0">
              <a:buNone/>
            </a:pPr>
            <a:r>
              <a:rPr lang="en-US" sz="1100" b="1" spc="50" kern="0" dirty="0">
                <a:solidFill>
                  <a:srgbClr val="F6F1E9"/>
                </a:solidFill>
                <a:latin typeface="Calibri" pitchFamily="34" charset="0"/>
                <a:ea typeface="Calibri" pitchFamily="34" charset="-122"/>
                <a:cs typeface="Calibri" pitchFamily="34" charset="-120"/>
              </a:rPr>
              <a:t>Order</a:t>
            </a:r>
            <a:endParaRPr lang="en-US" sz="1100" dirty="0"/>
          </a:p>
        </p:txBody>
      </p:sp>
      <p:sp>
        <p:nvSpPr>
          <p:cNvPr id="11" name="Shape 9"/>
          <p:cNvSpPr/>
          <p:nvPr/>
        </p:nvSpPr>
        <p:spPr>
          <a:xfrm>
            <a:off x="4123944" y="4517136"/>
            <a:ext cx="393192" cy="128016"/>
          </a:xfrm>
          <a:prstGeom prst="rightArrow">
            <a:avLst/>
          </a:prstGeom>
          <a:solidFill>
            <a:srgbClr val="7C7264"/>
          </a:solidFill>
          <a:ln/>
        </p:spPr>
      </p:sp>
      <p:sp>
        <p:nvSpPr>
          <p:cNvPr id="12" name="Shape 10"/>
          <p:cNvSpPr/>
          <p:nvPr/>
        </p:nvSpPr>
        <p:spPr>
          <a:xfrm>
            <a:off x="4572000" y="4343400"/>
            <a:ext cx="1371600" cy="457200"/>
          </a:xfrm>
          <a:prstGeom prst="roundRect">
            <a:avLst>
              <a:gd name="adj" fmla="val 50000"/>
            </a:avLst>
          </a:prstGeom>
          <a:solidFill>
            <a:srgbClr val="2C2419"/>
          </a:solidFill>
          <a:ln w="12700">
            <a:solidFill>
              <a:srgbClr val="3A3126"/>
            </a:solidFill>
            <a:prstDash val="solid"/>
          </a:ln>
        </p:spPr>
      </p:sp>
      <p:sp>
        <p:nvSpPr>
          <p:cNvPr id="13" name="Text 11"/>
          <p:cNvSpPr/>
          <p:nvPr/>
        </p:nvSpPr>
        <p:spPr>
          <a:xfrm>
            <a:off x="4572000" y="4343400"/>
            <a:ext cx="1371600" cy="457200"/>
          </a:xfrm>
          <a:prstGeom prst="rect">
            <a:avLst/>
          </a:prstGeom>
          <a:noFill/>
          <a:ln/>
        </p:spPr>
        <p:txBody>
          <a:bodyPr wrap="square" lIns="0" tIns="0" rIns="0" bIns="0" rtlCol="0" anchor="ctr"/>
          <a:lstStyle/>
          <a:p>
            <a:pPr algn="ctr" indent="0" marL="0">
              <a:buNone/>
            </a:pPr>
            <a:r>
              <a:rPr lang="en-US" sz="1100" b="1" spc="50" kern="0" dirty="0">
                <a:solidFill>
                  <a:srgbClr val="F6F1E9"/>
                </a:solidFill>
                <a:latin typeface="Calibri" pitchFamily="34" charset="0"/>
                <a:ea typeface="Calibri" pitchFamily="34" charset="-122"/>
                <a:cs typeface="Calibri" pitchFamily="34" charset="-120"/>
              </a:rPr>
              <a:t>Billing</a:t>
            </a:r>
            <a:endParaRPr lang="en-US" sz="1100" dirty="0"/>
          </a:p>
        </p:txBody>
      </p:sp>
      <p:sp>
        <p:nvSpPr>
          <p:cNvPr id="14" name="Shape 12"/>
          <p:cNvSpPr/>
          <p:nvPr/>
        </p:nvSpPr>
        <p:spPr>
          <a:xfrm>
            <a:off x="5998464" y="4517136"/>
            <a:ext cx="393192" cy="128016"/>
          </a:xfrm>
          <a:prstGeom prst="rightArrow">
            <a:avLst/>
          </a:prstGeom>
          <a:solidFill>
            <a:srgbClr val="7C7264"/>
          </a:solidFill>
          <a:ln/>
        </p:spPr>
      </p:sp>
      <p:sp>
        <p:nvSpPr>
          <p:cNvPr id="15" name="Shape 13"/>
          <p:cNvSpPr/>
          <p:nvPr/>
        </p:nvSpPr>
        <p:spPr>
          <a:xfrm>
            <a:off x="6446520" y="4343400"/>
            <a:ext cx="1371600" cy="457200"/>
          </a:xfrm>
          <a:prstGeom prst="roundRect">
            <a:avLst>
              <a:gd name="adj" fmla="val 50000"/>
            </a:avLst>
          </a:prstGeom>
          <a:solidFill>
            <a:srgbClr val="E67E3A"/>
          </a:solidFill>
          <a:ln w="12700">
            <a:solidFill>
              <a:srgbClr val="E67E3A"/>
            </a:solidFill>
            <a:prstDash val="solid"/>
          </a:ln>
        </p:spPr>
      </p:sp>
      <p:sp>
        <p:nvSpPr>
          <p:cNvPr id="16" name="Text 14"/>
          <p:cNvSpPr/>
          <p:nvPr/>
        </p:nvSpPr>
        <p:spPr>
          <a:xfrm>
            <a:off x="6446520" y="4343400"/>
            <a:ext cx="1371600" cy="457200"/>
          </a:xfrm>
          <a:prstGeom prst="rect">
            <a:avLst/>
          </a:prstGeom>
          <a:noFill/>
          <a:ln/>
        </p:spPr>
        <p:txBody>
          <a:bodyPr wrap="square" lIns="0" tIns="0" rIns="0" bIns="0" rtlCol="0" anchor="ctr"/>
          <a:lstStyle/>
          <a:p>
            <a:pPr algn="ctr" indent="0" marL="0">
              <a:buNone/>
            </a:pPr>
            <a:r>
              <a:rPr lang="en-US" sz="1100" b="1" spc="50" kern="0" dirty="0">
                <a:solidFill>
                  <a:srgbClr val="1A1512"/>
                </a:solidFill>
                <a:latin typeface="Calibri" pitchFamily="34" charset="0"/>
                <a:ea typeface="Calibri" pitchFamily="34" charset="-122"/>
                <a:cs typeface="Calibri" pitchFamily="34" charset="-120"/>
              </a:rPr>
              <a:t>Receipt</a:t>
            </a:r>
            <a:endParaRPr lang="en-US" sz="1100" dirty="0"/>
          </a:p>
        </p:txBody>
      </p:sp>
      <p:sp>
        <p:nvSpPr>
          <p:cNvPr id="17" name="Shape 15"/>
          <p:cNvSpPr/>
          <p:nvPr/>
        </p:nvSpPr>
        <p:spPr>
          <a:xfrm>
            <a:off x="822960" y="5257800"/>
            <a:ext cx="10515600" cy="0"/>
          </a:xfrm>
          <a:prstGeom prst="line">
            <a:avLst/>
          </a:prstGeom>
          <a:noFill/>
          <a:ln w="12700">
            <a:solidFill>
              <a:srgbClr val="3A3126"/>
            </a:solidFill>
            <a:prstDash val="solid"/>
          </a:ln>
        </p:spPr>
      </p:sp>
      <p:sp>
        <p:nvSpPr>
          <p:cNvPr id="18" name="Text 16"/>
          <p:cNvSpPr/>
          <p:nvPr/>
        </p:nvSpPr>
        <p:spPr>
          <a:xfrm>
            <a:off x="822960" y="5486400"/>
            <a:ext cx="2468880" cy="256032"/>
          </a:xfrm>
          <a:prstGeom prst="rect">
            <a:avLst/>
          </a:prstGeom>
          <a:noFill/>
          <a:ln/>
        </p:spPr>
        <p:txBody>
          <a:bodyPr wrap="square" rtlCol="0" anchor="ctr"/>
          <a:lstStyle/>
          <a:p>
            <a:pPr indent="0" marL="0">
              <a:buNone/>
            </a:pPr>
            <a:r>
              <a:rPr lang="en-US" sz="950" b="1" spc="120" kern="0" dirty="0">
                <a:solidFill>
                  <a:srgbClr val="7C7264"/>
                </a:solidFill>
                <a:latin typeface="Calibri" pitchFamily="34" charset="0"/>
                <a:ea typeface="Calibri" pitchFamily="34" charset="-122"/>
                <a:cs typeface="Calibri" pitchFamily="34" charset="-120"/>
              </a:rPr>
              <a:t>STUDENT NAME</a:t>
            </a:r>
            <a:endParaRPr lang="en-US" sz="950" dirty="0"/>
          </a:p>
        </p:txBody>
      </p:sp>
      <p:sp>
        <p:nvSpPr>
          <p:cNvPr id="19" name="Text 17"/>
          <p:cNvSpPr/>
          <p:nvPr/>
        </p:nvSpPr>
        <p:spPr>
          <a:xfrm>
            <a:off x="822960" y="5742432"/>
            <a:ext cx="2468880" cy="365760"/>
          </a:xfrm>
          <a:prstGeom prst="rect">
            <a:avLst/>
          </a:prstGeom>
          <a:noFill/>
          <a:ln/>
        </p:spPr>
        <p:txBody>
          <a:bodyPr wrap="square" rtlCol="0" anchor="ctr"/>
          <a:lstStyle/>
          <a:p>
            <a:pPr indent="0" marL="0">
              <a:buNone/>
            </a:pPr>
            <a:r>
              <a:rPr lang="en-US" sz="1350" b="1" dirty="0">
                <a:solidFill>
                  <a:srgbClr val="F6F1E9"/>
                </a:solidFill>
                <a:latin typeface="Calibri" pitchFamily="34" charset="0"/>
                <a:ea typeface="Calibri" pitchFamily="34" charset="-122"/>
                <a:cs typeface="Calibri" pitchFamily="34" charset="-120"/>
              </a:rPr>
              <a:t>[Your Name]</a:t>
            </a:r>
            <a:endParaRPr lang="en-US" sz="1350" dirty="0"/>
          </a:p>
        </p:txBody>
      </p:sp>
      <p:sp>
        <p:nvSpPr>
          <p:cNvPr id="20" name="Text 18"/>
          <p:cNvSpPr/>
          <p:nvPr/>
        </p:nvSpPr>
        <p:spPr>
          <a:xfrm>
            <a:off x="3429000" y="5486400"/>
            <a:ext cx="2468880" cy="256032"/>
          </a:xfrm>
          <a:prstGeom prst="rect">
            <a:avLst/>
          </a:prstGeom>
          <a:noFill/>
          <a:ln/>
        </p:spPr>
        <p:txBody>
          <a:bodyPr wrap="square" rtlCol="0" anchor="ctr"/>
          <a:lstStyle/>
          <a:p>
            <a:pPr indent="0" marL="0">
              <a:buNone/>
            </a:pPr>
            <a:r>
              <a:rPr lang="en-US" sz="950" b="1" spc="120" kern="0" dirty="0">
                <a:solidFill>
                  <a:srgbClr val="7C7264"/>
                </a:solidFill>
                <a:latin typeface="Calibri" pitchFamily="34" charset="0"/>
                <a:ea typeface="Calibri" pitchFamily="34" charset="-122"/>
                <a:cs typeface="Calibri" pitchFamily="34" charset="-120"/>
              </a:rPr>
              <a:t>ROLL NUMBER</a:t>
            </a:r>
            <a:endParaRPr lang="en-US" sz="950" dirty="0"/>
          </a:p>
        </p:txBody>
      </p:sp>
      <p:sp>
        <p:nvSpPr>
          <p:cNvPr id="21" name="Text 19"/>
          <p:cNvSpPr/>
          <p:nvPr/>
        </p:nvSpPr>
        <p:spPr>
          <a:xfrm>
            <a:off x="3429000" y="5742432"/>
            <a:ext cx="2468880" cy="365760"/>
          </a:xfrm>
          <a:prstGeom prst="rect">
            <a:avLst/>
          </a:prstGeom>
          <a:noFill/>
          <a:ln/>
        </p:spPr>
        <p:txBody>
          <a:bodyPr wrap="square" rtlCol="0" anchor="ctr"/>
          <a:lstStyle/>
          <a:p>
            <a:pPr indent="0" marL="0">
              <a:buNone/>
            </a:pPr>
            <a:r>
              <a:rPr lang="en-US" sz="1350" b="1" dirty="0">
                <a:solidFill>
                  <a:srgbClr val="F6F1E9"/>
                </a:solidFill>
                <a:latin typeface="Calibri" pitchFamily="34" charset="0"/>
                <a:ea typeface="Calibri" pitchFamily="34" charset="-122"/>
                <a:cs typeface="Calibri" pitchFamily="34" charset="-120"/>
              </a:rPr>
              <a:t>[Your Roll Number]</a:t>
            </a:r>
            <a:endParaRPr lang="en-US" sz="1350" dirty="0"/>
          </a:p>
        </p:txBody>
      </p:sp>
      <p:sp>
        <p:nvSpPr>
          <p:cNvPr id="22" name="Text 20"/>
          <p:cNvSpPr/>
          <p:nvPr/>
        </p:nvSpPr>
        <p:spPr>
          <a:xfrm>
            <a:off x="6035040" y="5486400"/>
            <a:ext cx="2468880" cy="256032"/>
          </a:xfrm>
          <a:prstGeom prst="rect">
            <a:avLst/>
          </a:prstGeom>
          <a:noFill/>
          <a:ln/>
        </p:spPr>
        <p:txBody>
          <a:bodyPr wrap="square" rtlCol="0" anchor="ctr"/>
          <a:lstStyle/>
          <a:p>
            <a:pPr indent="0" marL="0">
              <a:buNone/>
            </a:pPr>
            <a:r>
              <a:rPr lang="en-US" sz="950" b="1" spc="120" kern="0" dirty="0">
                <a:solidFill>
                  <a:srgbClr val="7C7264"/>
                </a:solidFill>
                <a:latin typeface="Calibri" pitchFamily="34" charset="0"/>
                <a:ea typeface="Calibri" pitchFamily="34" charset="-122"/>
                <a:cs typeface="Calibri" pitchFamily="34" charset="-120"/>
              </a:rPr>
              <a:t>DEPARTMENT</a:t>
            </a:r>
            <a:endParaRPr lang="en-US" sz="950" dirty="0"/>
          </a:p>
        </p:txBody>
      </p:sp>
      <p:sp>
        <p:nvSpPr>
          <p:cNvPr id="23" name="Text 21"/>
          <p:cNvSpPr/>
          <p:nvPr/>
        </p:nvSpPr>
        <p:spPr>
          <a:xfrm>
            <a:off x="6035040" y="5742432"/>
            <a:ext cx="2468880" cy="365760"/>
          </a:xfrm>
          <a:prstGeom prst="rect">
            <a:avLst/>
          </a:prstGeom>
          <a:noFill/>
          <a:ln/>
        </p:spPr>
        <p:txBody>
          <a:bodyPr wrap="square" rtlCol="0" anchor="ctr"/>
          <a:lstStyle/>
          <a:p>
            <a:pPr indent="0" marL="0">
              <a:buNone/>
            </a:pPr>
            <a:r>
              <a:rPr lang="en-US" sz="1350" b="1" dirty="0">
                <a:solidFill>
                  <a:srgbClr val="F6F1E9"/>
                </a:solidFill>
                <a:latin typeface="Calibri" pitchFamily="34" charset="0"/>
                <a:ea typeface="Calibri" pitchFamily="34" charset="-122"/>
                <a:cs typeface="Calibri" pitchFamily="34" charset="-120"/>
              </a:rPr>
              <a:t>Computer Science / CSE</a:t>
            </a:r>
            <a:endParaRPr lang="en-US" sz="1350" dirty="0"/>
          </a:p>
        </p:txBody>
      </p:sp>
      <p:sp>
        <p:nvSpPr>
          <p:cNvPr id="24" name="Text 22"/>
          <p:cNvSpPr/>
          <p:nvPr/>
        </p:nvSpPr>
        <p:spPr>
          <a:xfrm>
            <a:off x="8641080" y="5486400"/>
            <a:ext cx="2468880" cy="256032"/>
          </a:xfrm>
          <a:prstGeom prst="rect">
            <a:avLst/>
          </a:prstGeom>
          <a:noFill/>
          <a:ln/>
        </p:spPr>
        <p:txBody>
          <a:bodyPr wrap="square" rtlCol="0" anchor="ctr"/>
          <a:lstStyle/>
          <a:p>
            <a:pPr indent="0" marL="0">
              <a:buNone/>
            </a:pPr>
            <a:r>
              <a:rPr lang="en-US" sz="950" b="1" spc="120" kern="0" dirty="0">
                <a:solidFill>
                  <a:srgbClr val="7C7264"/>
                </a:solidFill>
                <a:latin typeface="Calibri" pitchFamily="34" charset="0"/>
                <a:ea typeface="Calibri" pitchFamily="34" charset="-122"/>
                <a:cs typeface="Calibri" pitchFamily="34" charset="-120"/>
              </a:rPr>
              <a:t>COLLEGE</a:t>
            </a:r>
            <a:endParaRPr lang="en-US" sz="950" dirty="0"/>
          </a:p>
        </p:txBody>
      </p:sp>
      <p:sp>
        <p:nvSpPr>
          <p:cNvPr id="25" name="Text 23"/>
          <p:cNvSpPr/>
          <p:nvPr/>
        </p:nvSpPr>
        <p:spPr>
          <a:xfrm>
            <a:off x="8641080" y="5742432"/>
            <a:ext cx="2468880" cy="365760"/>
          </a:xfrm>
          <a:prstGeom prst="rect">
            <a:avLst/>
          </a:prstGeom>
          <a:noFill/>
          <a:ln/>
        </p:spPr>
        <p:txBody>
          <a:bodyPr wrap="square" rtlCol="0" anchor="ctr"/>
          <a:lstStyle/>
          <a:p>
            <a:pPr indent="0" marL="0">
              <a:buNone/>
            </a:pPr>
            <a:r>
              <a:rPr lang="en-US" sz="1350" b="1" dirty="0">
                <a:solidFill>
                  <a:srgbClr val="F6F1E9"/>
                </a:solidFill>
                <a:latin typeface="Calibri" pitchFamily="34" charset="0"/>
                <a:ea typeface="Calibri" pitchFamily="34" charset="-122"/>
                <a:cs typeface="Calibri" pitchFamily="34" charset="-120"/>
              </a:rPr>
              <a:t>[Your College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Project Overview</a:t>
            </a:r>
            <a:endParaRPr lang="en-US" sz="3400" dirty="0"/>
          </a:p>
        </p:txBody>
      </p:sp>
      <p:sp>
        <p:nvSpPr>
          <p:cNvPr id="4" name="Text 2"/>
          <p:cNvSpPr/>
          <p:nvPr/>
        </p:nvSpPr>
        <p:spPr>
          <a:xfrm>
            <a:off x="548640" y="1508760"/>
            <a:ext cx="6035040" cy="1371600"/>
          </a:xfrm>
          <a:prstGeom prst="rect">
            <a:avLst/>
          </a:prstGeom>
          <a:noFill/>
          <a:ln/>
        </p:spPr>
        <p:txBody>
          <a:bodyPr wrap="square" rtlCol="0" anchor="ctr"/>
          <a:lstStyle/>
          <a:p>
            <a:pPr indent="0" marL="0">
              <a:lnSpc>
                <a:spcPct val="125000"/>
              </a:lnSpc>
              <a:buNone/>
            </a:pPr>
            <a:r>
              <a:rPr lang="en-US" sz="1450" dirty="0">
                <a:solidFill>
                  <a:srgbClr val="AFA492"/>
                </a:solidFill>
                <a:latin typeface="Calibri" pitchFamily="34" charset="0"/>
                <a:ea typeface="Calibri" pitchFamily="34" charset="-122"/>
                <a:cs typeface="Calibri" pitchFamily="34" charset="-120"/>
              </a:rPr>
              <a:t>The Restaurant Management &amp; Billing System is a simple C-based software application designed to automate the basic billing process in a restaurant, replacing manual, error-prone calculations with a fast console-driven workflow.</a:t>
            </a:r>
            <a:endParaRPr lang="en-US" sz="1450" dirty="0"/>
          </a:p>
        </p:txBody>
      </p:sp>
      <p:sp>
        <p:nvSpPr>
          <p:cNvPr id="5" name="Text 3"/>
          <p:cNvSpPr/>
          <p:nvPr/>
        </p:nvSpPr>
        <p:spPr>
          <a:xfrm>
            <a:off x="548640" y="2880360"/>
            <a:ext cx="54864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THE SYSTEM IS DESIGNED TO</a:t>
            </a:r>
            <a:endParaRPr lang="en-US" sz="1100" dirty="0"/>
          </a:p>
        </p:txBody>
      </p:sp>
      <p:sp>
        <p:nvSpPr>
          <p:cNvPr id="6" name="Shape 4"/>
          <p:cNvSpPr/>
          <p:nvPr/>
        </p:nvSpPr>
        <p:spPr>
          <a:xfrm>
            <a:off x="548640" y="3300984"/>
            <a:ext cx="128016" cy="128016"/>
          </a:xfrm>
          <a:prstGeom prst="ellipse">
            <a:avLst/>
          </a:prstGeom>
          <a:solidFill>
            <a:srgbClr val="E67E3A"/>
          </a:solidFill>
          <a:ln/>
        </p:spPr>
      </p:sp>
      <p:sp>
        <p:nvSpPr>
          <p:cNvPr id="7" name="Text 5"/>
          <p:cNvSpPr/>
          <p:nvPr/>
        </p:nvSpPr>
        <p:spPr>
          <a:xfrm>
            <a:off x="822960" y="3172968"/>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Display available menu items</a:t>
            </a:r>
            <a:endParaRPr lang="en-US" sz="1250" dirty="0"/>
          </a:p>
        </p:txBody>
      </p:sp>
      <p:sp>
        <p:nvSpPr>
          <p:cNvPr id="8" name="Shape 6"/>
          <p:cNvSpPr/>
          <p:nvPr/>
        </p:nvSpPr>
        <p:spPr>
          <a:xfrm>
            <a:off x="3611880" y="3300984"/>
            <a:ext cx="128016" cy="128016"/>
          </a:xfrm>
          <a:prstGeom prst="ellipse">
            <a:avLst/>
          </a:prstGeom>
          <a:solidFill>
            <a:srgbClr val="E67E3A"/>
          </a:solidFill>
          <a:ln/>
        </p:spPr>
      </p:sp>
      <p:sp>
        <p:nvSpPr>
          <p:cNvPr id="9" name="Text 7"/>
          <p:cNvSpPr/>
          <p:nvPr/>
        </p:nvSpPr>
        <p:spPr>
          <a:xfrm>
            <a:off x="3886200" y="3172968"/>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Accept customer orders</a:t>
            </a:r>
            <a:endParaRPr lang="en-US" sz="1250" dirty="0"/>
          </a:p>
        </p:txBody>
      </p:sp>
      <p:sp>
        <p:nvSpPr>
          <p:cNvPr id="10" name="Shape 8"/>
          <p:cNvSpPr/>
          <p:nvPr/>
        </p:nvSpPr>
        <p:spPr>
          <a:xfrm>
            <a:off x="548640" y="3867912"/>
            <a:ext cx="128016" cy="128016"/>
          </a:xfrm>
          <a:prstGeom prst="ellipse">
            <a:avLst/>
          </a:prstGeom>
          <a:solidFill>
            <a:srgbClr val="E67E3A"/>
          </a:solidFill>
          <a:ln/>
        </p:spPr>
      </p:sp>
      <p:sp>
        <p:nvSpPr>
          <p:cNvPr id="11" name="Text 9"/>
          <p:cNvSpPr/>
          <p:nvPr/>
        </p:nvSpPr>
        <p:spPr>
          <a:xfrm>
            <a:off x="822960" y="3739896"/>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Record item quantities</a:t>
            </a:r>
            <a:endParaRPr lang="en-US" sz="1250" dirty="0"/>
          </a:p>
        </p:txBody>
      </p:sp>
      <p:sp>
        <p:nvSpPr>
          <p:cNvPr id="12" name="Shape 10"/>
          <p:cNvSpPr/>
          <p:nvPr/>
        </p:nvSpPr>
        <p:spPr>
          <a:xfrm>
            <a:off x="3611880" y="3867912"/>
            <a:ext cx="128016" cy="128016"/>
          </a:xfrm>
          <a:prstGeom prst="ellipse">
            <a:avLst/>
          </a:prstGeom>
          <a:solidFill>
            <a:srgbClr val="E67E3A"/>
          </a:solidFill>
          <a:ln/>
        </p:spPr>
      </p:sp>
      <p:sp>
        <p:nvSpPr>
          <p:cNvPr id="13" name="Text 11"/>
          <p:cNvSpPr/>
          <p:nvPr/>
        </p:nvSpPr>
        <p:spPr>
          <a:xfrm>
            <a:off x="3886200" y="3739896"/>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Calculate item-wise costs</a:t>
            </a:r>
            <a:endParaRPr lang="en-US" sz="1250" dirty="0"/>
          </a:p>
        </p:txBody>
      </p:sp>
      <p:sp>
        <p:nvSpPr>
          <p:cNvPr id="14" name="Shape 12"/>
          <p:cNvSpPr/>
          <p:nvPr/>
        </p:nvSpPr>
        <p:spPr>
          <a:xfrm>
            <a:off x="548640" y="4434840"/>
            <a:ext cx="128016" cy="128016"/>
          </a:xfrm>
          <a:prstGeom prst="ellipse">
            <a:avLst/>
          </a:prstGeom>
          <a:solidFill>
            <a:srgbClr val="E67E3A"/>
          </a:solidFill>
          <a:ln/>
        </p:spPr>
      </p:sp>
      <p:sp>
        <p:nvSpPr>
          <p:cNvPr id="15" name="Text 13"/>
          <p:cNvSpPr/>
          <p:nvPr/>
        </p:nvSpPr>
        <p:spPr>
          <a:xfrm>
            <a:off x="822960" y="4306824"/>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Calculate the total bill</a:t>
            </a:r>
            <a:endParaRPr lang="en-US" sz="1250" dirty="0"/>
          </a:p>
        </p:txBody>
      </p:sp>
      <p:sp>
        <p:nvSpPr>
          <p:cNvPr id="16" name="Shape 14"/>
          <p:cNvSpPr/>
          <p:nvPr/>
        </p:nvSpPr>
        <p:spPr>
          <a:xfrm>
            <a:off x="3611880" y="4434840"/>
            <a:ext cx="128016" cy="128016"/>
          </a:xfrm>
          <a:prstGeom prst="ellipse">
            <a:avLst/>
          </a:prstGeom>
          <a:solidFill>
            <a:srgbClr val="E67E3A"/>
          </a:solidFill>
          <a:ln/>
        </p:spPr>
      </p:sp>
      <p:sp>
        <p:nvSpPr>
          <p:cNvPr id="17" name="Text 15"/>
          <p:cNvSpPr/>
          <p:nvPr/>
        </p:nvSpPr>
        <p:spPr>
          <a:xfrm>
            <a:off x="3886200" y="4306824"/>
            <a:ext cx="2697480" cy="384048"/>
          </a:xfrm>
          <a:prstGeom prst="rect">
            <a:avLst/>
          </a:prstGeom>
          <a:noFill/>
          <a:ln/>
        </p:spPr>
        <p:txBody>
          <a:bodyPr wrap="square" lIns="0" tIns="0" rIns="0" bIns="0" rtlCol="0" anchor="ctr"/>
          <a:lstStyle/>
          <a:p>
            <a:pPr indent="0" marL="0">
              <a:buNone/>
            </a:pPr>
            <a:r>
              <a:rPr lang="en-US" sz="1250" dirty="0">
                <a:solidFill>
                  <a:srgbClr val="F6F1E9"/>
                </a:solidFill>
                <a:latin typeface="Calibri" pitchFamily="34" charset="0"/>
                <a:ea typeface="Calibri" pitchFamily="34" charset="-122"/>
                <a:cs typeface="Calibri" pitchFamily="34" charset="-120"/>
              </a:rPr>
              <a:t>Generate a final bill / receipt</a:t>
            </a:r>
            <a:endParaRPr lang="en-US" sz="1250" dirty="0"/>
          </a:p>
        </p:txBody>
      </p:sp>
      <p:sp>
        <p:nvSpPr>
          <p:cNvPr id="18" name="Shape 16"/>
          <p:cNvSpPr/>
          <p:nvPr/>
        </p:nvSpPr>
        <p:spPr>
          <a:xfrm>
            <a:off x="7040880" y="1463040"/>
            <a:ext cx="4572000" cy="4892040"/>
          </a:xfrm>
          <a:prstGeom prst="roundRect">
            <a:avLst>
              <a:gd name="adj" fmla="val 2400"/>
            </a:avLst>
          </a:prstGeom>
          <a:solidFill>
            <a:srgbClr val="231D17"/>
          </a:solidFill>
          <a:ln w="12700">
            <a:solidFill>
              <a:srgbClr val="3A3126"/>
            </a:solidFill>
            <a:prstDash val="solid"/>
          </a:ln>
        </p:spPr>
      </p:sp>
      <p:sp>
        <p:nvSpPr>
          <p:cNvPr id="19" name="Text 17"/>
          <p:cNvSpPr/>
          <p:nvPr/>
        </p:nvSpPr>
        <p:spPr>
          <a:xfrm>
            <a:off x="7406640" y="1783080"/>
            <a:ext cx="36576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WORKFLOW</a:t>
            </a:r>
            <a:endParaRPr lang="en-US" sz="1100" dirty="0"/>
          </a:p>
        </p:txBody>
      </p:sp>
      <p:sp>
        <p:nvSpPr>
          <p:cNvPr id="20" name="Shape 18"/>
          <p:cNvSpPr/>
          <p:nvPr/>
        </p:nvSpPr>
        <p:spPr>
          <a:xfrm>
            <a:off x="7406640" y="2331720"/>
            <a:ext cx="3840480" cy="566928"/>
          </a:xfrm>
          <a:prstGeom prst="roundRect">
            <a:avLst>
              <a:gd name="adj" fmla="val 12903"/>
            </a:avLst>
          </a:prstGeom>
          <a:solidFill>
            <a:srgbClr val="2C2419"/>
          </a:solidFill>
          <a:ln w="12700">
            <a:solidFill>
              <a:srgbClr val="3A3126"/>
            </a:solidFill>
            <a:prstDash val="solid"/>
          </a:ln>
        </p:spPr>
      </p:sp>
      <p:sp>
        <p:nvSpPr>
          <p:cNvPr id="21" name="Text 19"/>
          <p:cNvSpPr/>
          <p:nvPr/>
        </p:nvSpPr>
        <p:spPr>
          <a:xfrm>
            <a:off x="7543800" y="2331720"/>
            <a:ext cx="365760" cy="566928"/>
          </a:xfrm>
          <a:prstGeom prst="rect">
            <a:avLst/>
          </a:prstGeom>
          <a:noFill/>
          <a:ln/>
        </p:spPr>
        <p:txBody>
          <a:bodyPr wrap="square" lIns="0" tIns="0" rIns="0" bIns="0" rtlCol="0" anchor="ctr"/>
          <a:lstStyle/>
          <a:p>
            <a:pPr algn="ctr" indent="0" marL="0">
              <a:buNone/>
            </a:pPr>
            <a:r>
              <a:rPr lang="en-US" sz="1500" b="1" dirty="0">
                <a:solidFill>
                  <a:srgbClr val="AFA492"/>
                </a:solidFill>
                <a:latin typeface="Cambria" pitchFamily="34" charset="0"/>
                <a:ea typeface="Cambria" pitchFamily="34" charset="-122"/>
                <a:cs typeface="Cambria" pitchFamily="34" charset="-120"/>
              </a:rPr>
              <a:t>1</a:t>
            </a:r>
            <a:endParaRPr lang="en-US" sz="1500" dirty="0"/>
          </a:p>
        </p:txBody>
      </p:sp>
      <p:sp>
        <p:nvSpPr>
          <p:cNvPr id="22" name="Text 20"/>
          <p:cNvSpPr/>
          <p:nvPr/>
        </p:nvSpPr>
        <p:spPr>
          <a:xfrm>
            <a:off x="7955280" y="2331720"/>
            <a:ext cx="3108960" cy="566928"/>
          </a:xfrm>
          <a:prstGeom prst="rect">
            <a:avLst/>
          </a:prstGeom>
          <a:noFill/>
          <a:ln/>
        </p:spPr>
        <p:txBody>
          <a:bodyPr wrap="square" lIns="0" tIns="0" rIns="0" bIns="0" rtlCol="0" anchor="ctr"/>
          <a:lstStyle/>
          <a:p>
            <a:pPr indent="0" marL="0">
              <a:buNone/>
            </a:pPr>
            <a:r>
              <a:rPr lang="en-US" sz="1450" b="1" dirty="0">
                <a:solidFill>
                  <a:srgbClr val="F6F1E9"/>
                </a:solidFill>
                <a:latin typeface="Calibri" pitchFamily="34" charset="0"/>
                <a:ea typeface="Calibri" pitchFamily="34" charset="-122"/>
                <a:cs typeface="Calibri" pitchFamily="34" charset="-120"/>
              </a:rPr>
              <a:t>Menu</a:t>
            </a:r>
            <a:endParaRPr lang="en-US" sz="1450" dirty="0"/>
          </a:p>
        </p:txBody>
      </p:sp>
      <p:sp>
        <p:nvSpPr>
          <p:cNvPr id="23" name="Shape 21"/>
          <p:cNvSpPr/>
          <p:nvPr/>
        </p:nvSpPr>
        <p:spPr>
          <a:xfrm>
            <a:off x="9253728" y="2916936"/>
            <a:ext cx="146304" cy="146304"/>
          </a:xfrm>
          <a:prstGeom prst="downArrow">
            <a:avLst/>
          </a:prstGeom>
          <a:solidFill>
            <a:srgbClr val="7C7264"/>
          </a:solidFill>
          <a:ln/>
        </p:spPr>
      </p:sp>
      <p:sp>
        <p:nvSpPr>
          <p:cNvPr id="24" name="Shape 22"/>
          <p:cNvSpPr/>
          <p:nvPr/>
        </p:nvSpPr>
        <p:spPr>
          <a:xfrm>
            <a:off x="7406640" y="3099816"/>
            <a:ext cx="3840480" cy="566928"/>
          </a:xfrm>
          <a:prstGeom prst="roundRect">
            <a:avLst>
              <a:gd name="adj" fmla="val 12903"/>
            </a:avLst>
          </a:prstGeom>
          <a:solidFill>
            <a:srgbClr val="2C2419"/>
          </a:solidFill>
          <a:ln w="12700">
            <a:solidFill>
              <a:srgbClr val="3A3126"/>
            </a:solidFill>
            <a:prstDash val="solid"/>
          </a:ln>
        </p:spPr>
      </p:sp>
      <p:sp>
        <p:nvSpPr>
          <p:cNvPr id="25" name="Text 23"/>
          <p:cNvSpPr/>
          <p:nvPr/>
        </p:nvSpPr>
        <p:spPr>
          <a:xfrm>
            <a:off x="7543800" y="3099816"/>
            <a:ext cx="365760" cy="566928"/>
          </a:xfrm>
          <a:prstGeom prst="rect">
            <a:avLst/>
          </a:prstGeom>
          <a:noFill/>
          <a:ln/>
        </p:spPr>
        <p:txBody>
          <a:bodyPr wrap="square" lIns="0" tIns="0" rIns="0" bIns="0" rtlCol="0" anchor="ctr"/>
          <a:lstStyle/>
          <a:p>
            <a:pPr algn="ctr" indent="0" marL="0">
              <a:buNone/>
            </a:pPr>
            <a:r>
              <a:rPr lang="en-US" sz="1500" b="1" dirty="0">
                <a:solidFill>
                  <a:srgbClr val="AFA492"/>
                </a:solidFill>
                <a:latin typeface="Cambria" pitchFamily="34" charset="0"/>
                <a:ea typeface="Cambria" pitchFamily="34" charset="-122"/>
                <a:cs typeface="Cambria" pitchFamily="34" charset="-120"/>
              </a:rPr>
              <a:t>2</a:t>
            </a:r>
            <a:endParaRPr lang="en-US" sz="1500" dirty="0"/>
          </a:p>
        </p:txBody>
      </p:sp>
      <p:sp>
        <p:nvSpPr>
          <p:cNvPr id="26" name="Text 24"/>
          <p:cNvSpPr/>
          <p:nvPr/>
        </p:nvSpPr>
        <p:spPr>
          <a:xfrm>
            <a:off x="7955280" y="3099816"/>
            <a:ext cx="3108960" cy="566928"/>
          </a:xfrm>
          <a:prstGeom prst="rect">
            <a:avLst/>
          </a:prstGeom>
          <a:noFill/>
          <a:ln/>
        </p:spPr>
        <p:txBody>
          <a:bodyPr wrap="square" lIns="0" tIns="0" rIns="0" bIns="0" rtlCol="0" anchor="ctr"/>
          <a:lstStyle/>
          <a:p>
            <a:pPr indent="0" marL="0">
              <a:buNone/>
            </a:pPr>
            <a:r>
              <a:rPr lang="en-US" sz="1450" b="1" dirty="0">
                <a:solidFill>
                  <a:srgbClr val="F6F1E9"/>
                </a:solidFill>
                <a:latin typeface="Calibri" pitchFamily="34" charset="0"/>
                <a:ea typeface="Calibri" pitchFamily="34" charset="-122"/>
                <a:cs typeface="Calibri" pitchFamily="34" charset="-120"/>
              </a:rPr>
              <a:t>Order</a:t>
            </a:r>
            <a:endParaRPr lang="en-US" sz="1450" dirty="0"/>
          </a:p>
        </p:txBody>
      </p:sp>
      <p:sp>
        <p:nvSpPr>
          <p:cNvPr id="27" name="Shape 25"/>
          <p:cNvSpPr/>
          <p:nvPr/>
        </p:nvSpPr>
        <p:spPr>
          <a:xfrm>
            <a:off x="9253728" y="3685032"/>
            <a:ext cx="146304" cy="146304"/>
          </a:xfrm>
          <a:prstGeom prst="downArrow">
            <a:avLst/>
          </a:prstGeom>
          <a:solidFill>
            <a:srgbClr val="7C7264"/>
          </a:solidFill>
          <a:ln/>
        </p:spPr>
      </p:sp>
      <p:sp>
        <p:nvSpPr>
          <p:cNvPr id="28" name="Shape 26"/>
          <p:cNvSpPr/>
          <p:nvPr/>
        </p:nvSpPr>
        <p:spPr>
          <a:xfrm>
            <a:off x="7406640" y="3867912"/>
            <a:ext cx="3840480" cy="566928"/>
          </a:xfrm>
          <a:prstGeom prst="roundRect">
            <a:avLst>
              <a:gd name="adj" fmla="val 12903"/>
            </a:avLst>
          </a:prstGeom>
          <a:solidFill>
            <a:srgbClr val="2C2419"/>
          </a:solidFill>
          <a:ln w="12700">
            <a:solidFill>
              <a:srgbClr val="3A3126"/>
            </a:solidFill>
            <a:prstDash val="solid"/>
          </a:ln>
        </p:spPr>
      </p:sp>
      <p:sp>
        <p:nvSpPr>
          <p:cNvPr id="29" name="Text 27"/>
          <p:cNvSpPr/>
          <p:nvPr/>
        </p:nvSpPr>
        <p:spPr>
          <a:xfrm>
            <a:off x="7543800" y="3867912"/>
            <a:ext cx="365760" cy="566928"/>
          </a:xfrm>
          <a:prstGeom prst="rect">
            <a:avLst/>
          </a:prstGeom>
          <a:noFill/>
          <a:ln/>
        </p:spPr>
        <p:txBody>
          <a:bodyPr wrap="square" lIns="0" tIns="0" rIns="0" bIns="0" rtlCol="0" anchor="ctr"/>
          <a:lstStyle/>
          <a:p>
            <a:pPr algn="ctr" indent="0" marL="0">
              <a:buNone/>
            </a:pPr>
            <a:r>
              <a:rPr lang="en-US" sz="1500" b="1" dirty="0">
                <a:solidFill>
                  <a:srgbClr val="AFA492"/>
                </a:solidFill>
                <a:latin typeface="Cambria" pitchFamily="34" charset="0"/>
                <a:ea typeface="Cambria" pitchFamily="34" charset="-122"/>
                <a:cs typeface="Cambria" pitchFamily="34" charset="-120"/>
              </a:rPr>
              <a:t>3</a:t>
            </a:r>
            <a:endParaRPr lang="en-US" sz="1500" dirty="0"/>
          </a:p>
        </p:txBody>
      </p:sp>
      <p:sp>
        <p:nvSpPr>
          <p:cNvPr id="30" name="Text 28"/>
          <p:cNvSpPr/>
          <p:nvPr/>
        </p:nvSpPr>
        <p:spPr>
          <a:xfrm>
            <a:off x="7955280" y="3867912"/>
            <a:ext cx="3108960" cy="566928"/>
          </a:xfrm>
          <a:prstGeom prst="rect">
            <a:avLst/>
          </a:prstGeom>
          <a:noFill/>
          <a:ln/>
        </p:spPr>
        <p:txBody>
          <a:bodyPr wrap="square" lIns="0" tIns="0" rIns="0" bIns="0" rtlCol="0" anchor="ctr"/>
          <a:lstStyle/>
          <a:p>
            <a:pPr indent="0" marL="0">
              <a:buNone/>
            </a:pPr>
            <a:r>
              <a:rPr lang="en-US" sz="1450" b="1" dirty="0">
                <a:solidFill>
                  <a:srgbClr val="F6F1E9"/>
                </a:solidFill>
                <a:latin typeface="Calibri" pitchFamily="34" charset="0"/>
                <a:ea typeface="Calibri" pitchFamily="34" charset="-122"/>
                <a:cs typeface="Calibri" pitchFamily="34" charset="-120"/>
              </a:rPr>
              <a:t>Quantity</a:t>
            </a:r>
            <a:endParaRPr lang="en-US" sz="1450" dirty="0"/>
          </a:p>
        </p:txBody>
      </p:sp>
      <p:sp>
        <p:nvSpPr>
          <p:cNvPr id="31" name="Shape 29"/>
          <p:cNvSpPr/>
          <p:nvPr/>
        </p:nvSpPr>
        <p:spPr>
          <a:xfrm>
            <a:off x="9253728" y="4453128"/>
            <a:ext cx="146304" cy="146304"/>
          </a:xfrm>
          <a:prstGeom prst="downArrow">
            <a:avLst/>
          </a:prstGeom>
          <a:solidFill>
            <a:srgbClr val="7C7264"/>
          </a:solidFill>
          <a:ln/>
        </p:spPr>
      </p:sp>
      <p:sp>
        <p:nvSpPr>
          <p:cNvPr id="32" name="Shape 30"/>
          <p:cNvSpPr/>
          <p:nvPr/>
        </p:nvSpPr>
        <p:spPr>
          <a:xfrm>
            <a:off x="7406640" y="4636008"/>
            <a:ext cx="3840480" cy="566928"/>
          </a:xfrm>
          <a:prstGeom prst="roundRect">
            <a:avLst>
              <a:gd name="adj" fmla="val 12903"/>
            </a:avLst>
          </a:prstGeom>
          <a:solidFill>
            <a:srgbClr val="2C2419"/>
          </a:solidFill>
          <a:ln w="12700">
            <a:solidFill>
              <a:srgbClr val="3A3126"/>
            </a:solidFill>
            <a:prstDash val="solid"/>
          </a:ln>
        </p:spPr>
      </p:sp>
      <p:sp>
        <p:nvSpPr>
          <p:cNvPr id="33" name="Text 31"/>
          <p:cNvSpPr/>
          <p:nvPr/>
        </p:nvSpPr>
        <p:spPr>
          <a:xfrm>
            <a:off x="7543800" y="4636008"/>
            <a:ext cx="365760" cy="566928"/>
          </a:xfrm>
          <a:prstGeom prst="rect">
            <a:avLst/>
          </a:prstGeom>
          <a:noFill/>
          <a:ln/>
        </p:spPr>
        <p:txBody>
          <a:bodyPr wrap="square" lIns="0" tIns="0" rIns="0" bIns="0" rtlCol="0" anchor="ctr"/>
          <a:lstStyle/>
          <a:p>
            <a:pPr algn="ctr" indent="0" marL="0">
              <a:buNone/>
            </a:pPr>
            <a:r>
              <a:rPr lang="en-US" sz="1500" b="1" dirty="0">
                <a:solidFill>
                  <a:srgbClr val="AFA492"/>
                </a:solidFill>
                <a:latin typeface="Cambria" pitchFamily="34" charset="0"/>
                <a:ea typeface="Cambria" pitchFamily="34" charset="-122"/>
                <a:cs typeface="Cambria" pitchFamily="34" charset="-120"/>
              </a:rPr>
              <a:t>4</a:t>
            </a:r>
            <a:endParaRPr lang="en-US" sz="1500" dirty="0"/>
          </a:p>
        </p:txBody>
      </p:sp>
      <p:sp>
        <p:nvSpPr>
          <p:cNvPr id="34" name="Text 32"/>
          <p:cNvSpPr/>
          <p:nvPr/>
        </p:nvSpPr>
        <p:spPr>
          <a:xfrm>
            <a:off x="7955280" y="4636008"/>
            <a:ext cx="3108960" cy="566928"/>
          </a:xfrm>
          <a:prstGeom prst="rect">
            <a:avLst/>
          </a:prstGeom>
          <a:noFill/>
          <a:ln/>
        </p:spPr>
        <p:txBody>
          <a:bodyPr wrap="square" lIns="0" tIns="0" rIns="0" bIns="0" rtlCol="0" anchor="ctr"/>
          <a:lstStyle/>
          <a:p>
            <a:pPr indent="0" marL="0">
              <a:buNone/>
            </a:pPr>
            <a:r>
              <a:rPr lang="en-US" sz="1450" b="1" dirty="0">
                <a:solidFill>
                  <a:srgbClr val="F6F1E9"/>
                </a:solidFill>
                <a:latin typeface="Calibri" pitchFamily="34" charset="0"/>
                <a:ea typeface="Calibri" pitchFamily="34" charset="-122"/>
                <a:cs typeface="Calibri" pitchFamily="34" charset="-120"/>
              </a:rPr>
              <a:t>Calculation</a:t>
            </a:r>
            <a:endParaRPr lang="en-US" sz="1450" dirty="0"/>
          </a:p>
        </p:txBody>
      </p:sp>
      <p:sp>
        <p:nvSpPr>
          <p:cNvPr id="35" name="Shape 33"/>
          <p:cNvSpPr/>
          <p:nvPr/>
        </p:nvSpPr>
        <p:spPr>
          <a:xfrm>
            <a:off x="9253728" y="5221224"/>
            <a:ext cx="146304" cy="146304"/>
          </a:xfrm>
          <a:prstGeom prst="downArrow">
            <a:avLst/>
          </a:prstGeom>
          <a:solidFill>
            <a:srgbClr val="7C7264"/>
          </a:solidFill>
          <a:ln/>
        </p:spPr>
      </p:sp>
      <p:sp>
        <p:nvSpPr>
          <p:cNvPr id="36" name="Shape 34"/>
          <p:cNvSpPr/>
          <p:nvPr/>
        </p:nvSpPr>
        <p:spPr>
          <a:xfrm>
            <a:off x="7406640" y="5404104"/>
            <a:ext cx="3840480" cy="566928"/>
          </a:xfrm>
          <a:prstGeom prst="roundRect">
            <a:avLst>
              <a:gd name="adj" fmla="val 12903"/>
            </a:avLst>
          </a:prstGeom>
          <a:solidFill>
            <a:srgbClr val="E67E3A"/>
          </a:solidFill>
          <a:ln w="12700">
            <a:solidFill>
              <a:srgbClr val="E67E3A"/>
            </a:solidFill>
            <a:prstDash val="solid"/>
          </a:ln>
        </p:spPr>
      </p:sp>
      <p:sp>
        <p:nvSpPr>
          <p:cNvPr id="37" name="Text 35"/>
          <p:cNvSpPr/>
          <p:nvPr/>
        </p:nvSpPr>
        <p:spPr>
          <a:xfrm>
            <a:off x="7543800" y="5404104"/>
            <a:ext cx="365760" cy="566928"/>
          </a:xfrm>
          <a:prstGeom prst="rect">
            <a:avLst/>
          </a:prstGeom>
          <a:noFill/>
          <a:ln/>
        </p:spPr>
        <p:txBody>
          <a:bodyPr wrap="square" lIns="0" tIns="0" rIns="0" bIns="0" rtlCol="0" anchor="ctr"/>
          <a:lstStyle/>
          <a:p>
            <a:pPr algn="ctr" indent="0" marL="0">
              <a:buNone/>
            </a:pPr>
            <a:r>
              <a:rPr lang="en-US" sz="1500" b="1" dirty="0">
                <a:solidFill>
                  <a:srgbClr val="1A1512"/>
                </a:solidFill>
                <a:latin typeface="Cambria" pitchFamily="34" charset="0"/>
                <a:ea typeface="Cambria" pitchFamily="34" charset="-122"/>
                <a:cs typeface="Cambria" pitchFamily="34" charset="-120"/>
              </a:rPr>
              <a:t>5</a:t>
            </a:r>
            <a:endParaRPr lang="en-US" sz="1500" dirty="0"/>
          </a:p>
        </p:txBody>
      </p:sp>
      <p:sp>
        <p:nvSpPr>
          <p:cNvPr id="38" name="Text 36"/>
          <p:cNvSpPr/>
          <p:nvPr/>
        </p:nvSpPr>
        <p:spPr>
          <a:xfrm>
            <a:off x="7955280" y="5404104"/>
            <a:ext cx="3108960" cy="566928"/>
          </a:xfrm>
          <a:prstGeom prst="rect">
            <a:avLst/>
          </a:prstGeom>
          <a:noFill/>
          <a:ln/>
        </p:spPr>
        <p:txBody>
          <a:bodyPr wrap="square" lIns="0" tIns="0" rIns="0" bIns="0" rtlCol="0" anchor="ctr"/>
          <a:lstStyle/>
          <a:p>
            <a:pPr indent="0" marL="0">
              <a:buNone/>
            </a:pPr>
            <a:r>
              <a:rPr lang="en-US" sz="1450" b="1" dirty="0">
                <a:solidFill>
                  <a:srgbClr val="1A1512"/>
                </a:solidFill>
                <a:latin typeface="Calibri" pitchFamily="34" charset="0"/>
                <a:ea typeface="Calibri" pitchFamily="34" charset="-122"/>
                <a:cs typeface="Calibri" pitchFamily="34" charset="-120"/>
              </a:rPr>
              <a:t>Bill</a:t>
            </a:r>
            <a:endParaRPr lang="en-US" sz="1450" dirty="0"/>
          </a:p>
        </p:txBody>
      </p:sp>
      <p:sp>
        <p:nvSpPr>
          <p:cNvPr id="39" name="Text 37"/>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40" name="Text 38"/>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Problem Statement</a:t>
            </a:r>
            <a:endParaRPr lang="en-US" sz="3400" dirty="0"/>
          </a:p>
        </p:txBody>
      </p:sp>
      <p:sp>
        <p:nvSpPr>
          <p:cNvPr id="4" name="Text 2"/>
          <p:cNvSpPr/>
          <p:nvPr/>
        </p:nvSpPr>
        <p:spPr>
          <a:xfrm>
            <a:off x="548640" y="1417320"/>
            <a:ext cx="54864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CHALLENGES WITH MANUAL BILLING</a:t>
            </a:r>
            <a:endParaRPr lang="en-US" sz="1100" dirty="0"/>
          </a:p>
        </p:txBody>
      </p:sp>
      <p:sp>
        <p:nvSpPr>
          <p:cNvPr id="5" name="Shape 3"/>
          <p:cNvSpPr/>
          <p:nvPr/>
        </p:nvSpPr>
        <p:spPr>
          <a:xfrm>
            <a:off x="548640" y="1783080"/>
            <a:ext cx="274320" cy="274320"/>
          </a:xfrm>
          <a:prstGeom prst="roundRect">
            <a:avLst>
              <a:gd name="adj" fmla="val 20000"/>
            </a:avLst>
          </a:prstGeom>
          <a:solidFill>
            <a:srgbClr val="2C2419"/>
          </a:solidFill>
          <a:ln w="12700">
            <a:solidFill>
              <a:srgbClr val="3A3126"/>
            </a:solidFill>
            <a:prstDash val="solid"/>
          </a:ln>
        </p:spPr>
      </p:sp>
      <p:sp>
        <p:nvSpPr>
          <p:cNvPr id="6" name="Text 4"/>
          <p:cNvSpPr/>
          <p:nvPr/>
        </p:nvSpPr>
        <p:spPr>
          <a:xfrm>
            <a:off x="548640" y="1783080"/>
            <a:ext cx="274320" cy="274320"/>
          </a:xfrm>
          <a:prstGeom prst="rect">
            <a:avLst/>
          </a:prstGeom>
          <a:noFill/>
          <a:ln/>
        </p:spPr>
        <p:txBody>
          <a:bodyPr wrap="square" lIns="0" tIns="0" rIns="0" bIns="0" rtlCol="0" anchor="ctr"/>
          <a:lstStyle/>
          <a:p>
            <a:pPr algn="ctr" indent="0" marL="0">
              <a:buNone/>
            </a:pPr>
            <a:r>
              <a:rPr lang="en-US" sz="1200" b="1" dirty="0">
                <a:solidFill>
                  <a:srgbClr val="C97B6B"/>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0120" y="1737360"/>
            <a:ext cx="57607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Manual calculation can lead to arithmetic errors</a:t>
            </a:r>
            <a:endParaRPr lang="en-US" sz="1300" dirty="0"/>
          </a:p>
        </p:txBody>
      </p:sp>
      <p:sp>
        <p:nvSpPr>
          <p:cNvPr id="8" name="Shape 6"/>
          <p:cNvSpPr/>
          <p:nvPr/>
        </p:nvSpPr>
        <p:spPr>
          <a:xfrm>
            <a:off x="548640" y="2313432"/>
            <a:ext cx="274320" cy="274320"/>
          </a:xfrm>
          <a:prstGeom prst="roundRect">
            <a:avLst>
              <a:gd name="adj" fmla="val 20000"/>
            </a:avLst>
          </a:prstGeom>
          <a:solidFill>
            <a:srgbClr val="2C2419"/>
          </a:solidFill>
          <a:ln w="12700">
            <a:solidFill>
              <a:srgbClr val="3A3126"/>
            </a:solidFill>
            <a:prstDash val="solid"/>
          </a:ln>
        </p:spPr>
      </p:sp>
      <p:sp>
        <p:nvSpPr>
          <p:cNvPr id="9" name="Text 7"/>
          <p:cNvSpPr/>
          <p:nvPr/>
        </p:nvSpPr>
        <p:spPr>
          <a:xfrm>
            <a:off x="548640" y="2313432"/>
            <a:ext cx="274320" cy="274320"/>
          </a:xfrm>
          <a:prstGeom prst="rect">
            <a:avLst/>
          </a:prstGeom>
          <a:noFill/>
          <a:ln/>
        </p:spPr>
        <p:txBody>
          <a:bodyPr wrap="square" lIns="0" tIns="0" rIns="0" bIns="0" rtlCol="0" anchor="ctr"/>
          <a:lstStyle/>
          <a:p>
            <a:pPr algn="ctr" indent="0" marL="0">
              <a:buNone/>
            </a:pPr>
            <a:r>
              <a:rPr lang="en-US" sz="1200" b="1" dirty="0">
                <a:solidFill>
                  <a:srgbClr val="C97B6B"/>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60120" y="2267712"/>
            <a:ext cx="57607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Maintaining orders manually is time-consuming</a:t>
            </a:r>
            <a:endParaRPr lang="en-US" sz="1300" dirty="0"/>
          </a:p>
        </p:txBody>
      </p:sp>
      <p:sp>
        <p:nvSpPr>
          <p:cNvPr id="11" name="Shape 9"/>
          <p:cNvSpPr/>
          <p:nvPr/>
        </p:nvSpPr>
        <p:spPr>
          <a:xfrm>
            <a:off x="548640" y="2843784"/>
            <a:ext cx="274320" cy="274320"/>
          </a:xfrm>
          <a:prstGeom prst="roundRect">
            <a:avLst>
              <a:gd name="adj" fmla="val 20000"/>
            </a:avLst>
          </a:prstGeom>
          <a:solidFill>
            <a:srgbClr val="2C2419"/>
          </a:solidFill>
          <a:ln w="12700">
            <a:solidFill>
              <a:srgbClr val="3A3126"/>
            </a:solidFill>
            <a:prstDash val="solid"/>
          </a:ln>
        </p:spPr>
      </p:sp>
      <p:sp>
        <p:nvSpPr>
          <p:cNvPr id="12" name="Text 10"/>
          <p:cNvSpPr/>
          <p:nvPr/>
        </p:nvSpPr>
        <p:spPr>
          <a:xfrm>
            <a:off x="548640" y="2843784"/>
            <a:ext cx="274320" cy="274320"/>
          </a:xfrm>
          <a:prstGeom prst="rect">
            <a:avLst/>
          </a:prstGeom>
          <a:noFill/>
          <a:ln/>
        </p:spPr>
        <p:txBody>
          <a:bodyPr wrap="square" lIns="0" tIns="0" rIns="0" bIns="0" rtlCol="0" anchor="ctr"/>
          <a:lstStyle/>
          <a:p>
            <a:pPr algn="ctr" indent="0" marL="0">
              <a:buNone/>
            </a:pPr>
            <a:r>
              <a:rPr lang="en-US" sz="1200" b="1" dirty="0">
                <a:solidFill>
                  <a:srgbClr val="C97B6B"/>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960120" y="2798064"/>
            <a:ext cx="57607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Repeated calculations slow down billing</a:t>
            </a:r>
            <a:endParaRPr lang="en-US" sz="1300" dirty="0"/>
          </a:p>
        </p:txBody>
      </p:sp>
      <p:sp>
        <p:nvSpPr>
          <p:cNvPr id="14" name="Shape 12"/>
          <p:cNvSpPr/>
          <p:nvPr/>
        </p:nvSpPr>
        <p:spPr>
          <a:xfrm>
            <a:off x="548640" y="3374136"/>
            <a:ext cx="274320" cy="274320"/>
          </a:xfrm>
          <a:prstGeom prst="roundRect">
            <a:avLst>
              <a:gd name="adj" fmla="val 20000"/>
            </a:avLst>
          </a:prstGeom>
          <a:solidFill>
            <a:srgbClr val="2C2419"/>
          </a:solidFill>
          <a:ln w="12700">
            <a:solidFill>
              <a:srgbClr val="3A3126"/>
            </a:solidFill>
            <a:prstDash val="solid"/>
          </a:ln>
        </p:spPr>
      </p:sp>
      <p:sp>
        <p:nvSpPr>
          <p:cNvPr id="15" name="Text 13"/>
          <p:cNvSpPr/>
          <p:nvPr/>
        </p:nvSpPr>
        <p:spPr>
          <a:xfrm>
            <a:off x="548640" y="3374136"/>
            <a:ext cx="274320" cy="274320"/>
          </a:xfrm>
          <a:prstGeom prst="rect">
            <a:avLst/>
          </a:prstGeom>
          <a:noFill/>
          <a:ln/>
        </p:spPr>
        <p:txBody>
          <a:bodyPr wrap="square" lIns="0" tIns="0" rIns="0" bIns="0" rtlCol="0" anchor="ctr"/>
          <a:lstStyle/>
          <a:p>
            <a:pPr algn="ctr" indent="0" marL="0">
              <a:buNone/>
            </a:pPr>
            <a:r>
              <a:rPr lang="en-US" sz="1200" b="1" dirty="0">
                <a:solidFill>
                  <a:srgbClr val="C97B6B"/>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960120" y="3328416"/>
            <a:ext cx="57607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Incorrect totals can cause customer dissatisfaction</a:t>
            </a:r>
            <a:endParaRPr lang="en-US" sz="1300" dirty="0"/>
          </a:p>
        </p:txBody>
      </p:sp>
      <p:sp>
        <p:nvSpPr>
          <p:cNvPr id="17" name="Shape 15"/>
          <p:cNvSpPr/>
          <p:nvPr/>
        </p:nvSpPr>
        <p:spPr>
          <a:xfrm>
            <a:off x="548640" y="3904488"/>
            <a:ext cx="274320" cy="274320"/>
          </a:xfrm>
          <a:prstGeom prst="roundRect">
            <a:avLst>
              <a:gd name="adj" fmla="val 20000"/>
            </a:avLst>
          </a:prstGeom>
          <a:solidFill>
            <a:srgbClr val="2C2419"/>
          </a:solidFill>
          <a:ln w="12700">
            <a:solidFill>
              <a:srgbClr val="3A3126"/>
            </a:solidFill>
            <a:prstDash val="solid"/>
          </a:ln>
        </p:spPr>
      </p:sp>
      <p:sp>
        <p:nvSpPr>
          <p:cNvPr id="18" name="Text 16"/>
          <p:cNvSpPr/>
          <p:nvPr/>
        </p:nvSpPr>
        <p:spPr>
          <a:xfrm>
            <a:off x="548640" y="3904488"/>
            <a:ext cx="274320" cy="274320"/>
          </a:xfrm>
          <a:prstGeom prst="rect">
            <a:avLst/>
          </a:prstGeom>
          <a:noFill/>
          <a:ln/>
        </p:spPr>
        <p:txBody>
          <a:bodyPr wrap="square" lIns="0" tIns="0" rIns="0" bIns="0" rtlCol="0" anchor="ctr"/>
          <a:lstStyle/>
          <a:p>
            <a:pPr algn="ctr" indent="0" marL="0">
              <a:buNone/>
            </a:pPr>
            <a:r>
              <a:rPr lang="en-US" sz="1200" b="1" dirty="0">
                <a:solidFill>
                  <a:srgbClr val="C97B6B"/>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960120" y="3858768"/>
            <a:ext cx="57607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Handwritten bills are difficult to maintain consistently</a:t>
            </a:r>
            <a:endParaRPr lang="en-US" sz="1300" dirty="0"/>
          </a:p>
        </p:txBody>
      </p:sp>
      <p:sp>
        <p:nvSpPr>
          <p:cNvPr id="20" name="Text 18"/>
          <p:cNvSpPr/>
          <p:nvPr/>
        </p:nvSpPr>
        <p:spPr>
          <a:xfrm>
            <a:off x="548640" y="4709160"/>
            <a:ext cx="6309360" cy="685800"/>
          </a:xfrm>
          <a:prstGeom prst="rect">
            <a:avLst/>
          </a:prstGeom>
          <a:noFill/>
          <a:ln/>
        </p:spPr>
        <p:txBody>
          <a:bodyPr wrap="square" rtlCol="0" anchor="ctr"/>
          <a:lstStyle/>
          <a:p>
            <a:pPr indent="0" marL="0">
              <a:lnSpc>
                <a:spcPct val="120000"/>
              </a:lnSpc>
              <a:buNone/>
            </a:pPr>
            <a:r>
              <a:rPr lang="en-US" sz="1350" i="1" dirty="0">
                <a:solidFill>
                  <a:srgbClr val="AFA492"/>
                </a:solidFill>
                <a:latin typeface="Calibri" pitchFamily="34" charset="0"/>
                <a:ea typeface="Calibri" pitchFamily="34" charset="-122"/>
                <a:cs typeface="Calibri" pitchFamily="34" charset="-120"/>
              </a:rPr>
              <a:t>A simple computerized billing system can automate calculations and generate accurate bills quickly.</a:t>
            </a:r>
            <a:endParaRPr lang="en-US" sz="1350" dirty="0"/>
          </a:p>
        </p:txBody>
      </p:sp>
      <p:sp>
        <p:nvSpPr>
          <p:cNvPr id="21" name="Shape 19"/>
          <p:cNvSpPr/>
          <p:nvPr/>
        </p:nvSpPr>
        <p:spPr>
          <a:xfrm>
            <a:off x="7223760" y="1463040"/>
            <a:ext cx="2148840" cy="4892040"/>
          </a:xfrm>
          <a:prstGeom prst="roundRect">
            <a:avLst>
              <a:gd name="adj" fmla="val 5106"/>
            </a:avLst>
          </a:prstGeom>
          <a:solidFill>
            <a:srgbClr val="231D17"/>
          </a:solidFill>
          <a:ln w="12700">
            <a:solidFill>
              <a:srgbClr val="3A3126"/>
            </a:solidFill>
            <a:prstDash val="solid"/>
          </a:ln>
        </p:spPr>
      </p:sp>
      <p:sp>
        <p:nvSpPr>
          <p:cNvPr id="22" name="Shape 20"/>
          <p:cNvSpPr/>
          <p:nvPr/>
        </p:nvSpPr>
        <p:spPr>
          <a:xfrm>
            <a:off x="7452360" y="1783080"/>
            <a:ext cx="1691640" cy="457200"/>
          </a:xfrm>
          <a:prstGeom prst="roundRect">
            <a:avLst>
              <a:gd name="adj" fmla="val 12000"/>
            </a:avLst>
          </a:prstGeom>
          <a:solidFill>
            <a:srgbClr val="2C2419"/>
          </a:solidFill>
          <a:ln/>
        </p:spPr>
      </p:sp>
      <p:sp>
        <p:nvSpPr>
          <p:cNvPr id="23" name="Text 21"/>
          <p:cNvSpPr/>
          <p:nvPr/>
        </p:nvSpPr>
        <p:spPr>
          <a:xfrm>
            <a:off x="7452360" y="1783080"/>
            <a:ext cx="1691640" cy="457200"/>
          </a:xfrm>
          <a:prstGeom prst="rect">
            <a:avLst/>
          </a:prstGeom>
          <a:noFill/>
          <a:ln/>
        </p:spPr>
        <p:txBody>
          <a:bodyPr wrap="square" lIns="0" tIns="0" rIns="0" bIns="0" rtlCol="0" anchor="ctr"/>
          <a:lstStyle/>
          <a:p>
            <a:pPr algn="ctr" indent="0" marL="0">
              <a:buNone/>
            </a:pPr>
            <a:r>
              <a:rPr lang="en-US" sz="1050" b="1" spc="50" kern="0" dirty="0">
                <a:solidFill>
                  <a:srgbClr val="C97B6B"/>
                </a:solidFill>
                <a:latin typeface="Calibri" pitchFamily="34" charset="0"/>
                <a:ea typeface="Calibri" pitchFamily="34" charset="-122"/>
                <a:cs typeface="Calibri" pitchFamily="34" charset="-120"/>
              </a:rPr>
              <a:t>MANUAL BILLING</a:t>
            </a:r>
            <a:endParaRPr lang="en-US" sz="1050" dirty="0"/>
          </a:p>
        </p:txBody>
      </p:sp>
      <p:sp>
        <p:nvSpPr>
          <p:cNvPr id="24" name="Shape 22"/>
          <p:cNvSpPr/>
          <p:nvPr/>
        </p:nvSpPr>
        <p:spPr>
          <a:xfrm>
            <a:off x="8225028" y="2331720"/>
            <a:ext cx="146304" cy="320040"/>
          </a:xfrm>
          <a:prstGeom prst="downArrow">
            <a:avLst/>
          </a:prstGeom>
          <a:solidFill>
            <a:srgbClr val="7C7264"/>
          </a:solidFill>
          <a:ln/>
        </p:spPr>
      </p:sp>
      <p:sp>
        <p:nvSpPr>
          <p:cNvPr id="25" name="Shape 23"/>
          <p:cNvSpPr/>
          <p:nvPr/>
        </p:nvSpPr>
        <p:spPr>
          <a:xfrm>
            <a:off x="7452360" y="2834640"/>
            <a:ext cx="1691640" cy="548640"/>
          </a:xfrm>
          <a:prstGeom prst="roundRect">
            <a:avLst>
              <a:gd name="adj" fmla="val 13333"/>
            </a:avLst>
          </a:prstGeom>
          <a:solidFill>
            <a:srgbClr val="2C2419"/>
          </a:solidFill>
          <a:ln w="12700">
            <a:solidFill>
              <a:srgbClr val="3A3126"/>
            </a:solidFill>
            <a:prstDash val="solid"/>
          </a:ln>
        </p:spPr>
      </p:sp>
      <p:sp>
        <p:nvSpPr>
          <p:cNvPr id="26" name="Text 24"/>
          <p:cNvSpPr/>
          <p:nvPr/>
        </p:nvSpPr>
        <p:spPr>
          <a:xfrm>
            <a:off x="7452360" y="283464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Errors</a:t>
            </a:r>
            <a:endParaRPr lang="en-US" sz="1250" dirty="0"/>
          </a:p>
        </p:txBody>
      </p:sp>
      <p:sp>
        <p:nvSpPr>
          <p:cNvPr id="27" name="Shape 25"/>
          <p:cNvSpPr/>
          <p:nvPr/>
        </p:nvSpPr>
        <p:spPr>
          <a:xfrm>
            <a:off x="7452360" y="3611880"/>
            <a:ext cx="1691640" cy="548640"/>
          </a:xfrm>
          <a:prstGeom prst="roundRect">
            <a:avLst>
              <a:gd name="adj" fmla="val 13333"/>
            </a:avLst>
          </a:prstGeom>
          <a:solidFill>
            <a:srgbClr val="2C2419"/>
          </a:solidFill>
          <a:ln w="12700">
            <a:solidFill>
              <a:srgbClr val="3A3126"/>
            </a:solidFill>
            <a:prstDash val="solid"/>
          </a:ln>
        </p:spPr>
      </p:sp>
      <p:sp>
        <p:nvSpPr>
          <p:cNvPr id="28" name="Text 26"/>
          <p:cNvSpPr/>
          <p:nvPr/>
        </p:nvSpPr>
        <p:spPr>
          <a:xfrm>
            <a:off x="7452360" y="361188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Delays</a:t>
            </a:r>
            <a:endParaRPr lang="en-US" sz="1250" dirty="0"/>
          </a:p>
        </p:txBody>
      </p:sp>
      <p:sp>
        <p:nvSpPr>
          <p:cNvPr id="29" name="Shape 27"/>
          <p:cNvSpPr/>
          <p:nvPr/>
        </p:nvSpPr>
        <p:spPr>
          <a:xfrm>
            <a:off x="7452360" y="4389120"/>
            <a:ext cx="1691640" cy="548640"/>
          </a:xfrm>
          <a:prstGeom prst="roundRect">
            <a:avLst>
              <a:gd name="adj" fmla="val 13333"/>
            </a:avLst>
          </a:prstGeom>
          <a:solidFill>
            <a:srgbClr val="2C2419"/>
          </a:solidFill>
          <a:ln w="12700">
            <a:solidFill>
              <a:srgbClr val="3A3126"/>
            </a:solidFill>
            <a:prstDash val="solid"/>
          </a:ln>
        </p:spPr>
      </p:sp>
      <p:sp>
        <p:nvSpPr>
          <p:cNvPr id="30" name="Text 28"/>
          <p:cNvSpPr/>
          <p:nvPr/>
        </p:nvSpPr>
        <p:spPr>
          <a:xfrm>
            <a:off x="7452360" y="438912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Repeated calculations</a:t>
            </a:r>
            <a:endParaRPr lang="en-US" sz="1250" dirty="0"/>
          </a:p>
        </p:txBody>
      </p:sp>
      <p:sp>
        <p:nvSpPr>
          <p:cNvPr id="31" name="Shape 29"/>
          <p:cNvSpPr/>
          <p:nvPr/>
        </p:nvSpPr>
        <p:spPr>
          <a:xfrm>
            <a:off x="9738360" y="1463040"/>
            <a:ext cx="2148840" cy="4892040"/>
          </a:xfrm>
          <a:prstGeom prst="roundRect">
            <a:avLst>
              <a:gd name="adj" fmla="val 5106"/>
            </a:avLst>
          </a:prstGeom>
          <a:solidFill>
            <a:srgbClr val="231D17"/>
          </a:solidFill>
          <a:ln w="12700">
            <a:solidFill>
              <a:srgbClr val="3A3126"/>
            </a:solidFill>
            <a:prstDash val="solid"/>
          </a:ln>
        </p:spPr>
      </p:sp>
      <p:sp>
        <p:nvSpPr>
          <p:cNvPr id="32" name="Shape 30"/>
          <p:cNvSpPr/>
          <p:nvPr/>
        </p:nvSpPr>
        <p:spPr>
          <a:xfrm>
            <a:off x="9966960" y="1783080"/>
            <a:ext cx="1691640" cy="457200"/>
          </a:xfrm>
          <a:prstGeom prst="roundRect">
            <a:avLst>
              <a:gd name="adj" fmla="val 12000"/>
            </a:avLst>
          </a:prstGeom>
          <a:solidFill>
            <a:srgbClr val="2C2419"/>
          </a:solidFill>
          <a:ln/>
        </p:spPr>
      </p:sp>
      <p:sp>
        <p:nvSpPr>
          <p:cNvPr id="33" name="Text 31"/>
          <p:cNvSpPr/>
          <p:nvPr/>
        </p:nvSpPr>
        <p:spPr>
          <a:xfrm>
            <a:off x="9966960" y="1783080"/>
            <a:ext cx="1691640" cy="457200"/>
          </a:xfrm>
          <a:prstGeom prst="rect">
            <a:avLst/>
          </a:prstGeom>
          <a:noFill/>
          <a:ln/>
        </p:spPr>
        <p:txBody>
          <a:bodyPr wrap="square" lIns="0" tIns="0" rIns="0" bIns="0" rtlCol="0" anchor="ctr"/>
          <a:lstStyle/>
          <a:p>
            <a:pPr algn="ctr" indent="0" marL="0">
              <a:buNone/>
            </a:pPr>
            <a:r>
              <a:rPr lang="en-US" sz="1050" b="1" spc="50" kern="0" dirty="0">
                <a:solidFill>
                  <a:srgbClr val="8FB996"/>
                </a:solidFill>
                <a:latin typeface="Calibri" pitchFamily="34" charset="0"/>
                <a:ea typeface="Calibri" pitchFamily="34" charset="-122"/>
                <a:cs typeface="Calibri" pitchFamily="34" charset="-120"/>
              </a:rPr>
              <a:t>COMPUTERIZED BILLING</a:t>
            </a:r>
            <a:endParaRPr lang="en-US" sz="1050" dirty="0"/>
          </a:p>
        </p:txBody>
      </p:sp>
      <p:sp>
        <p:nvSpPr>
          <p:cNvPr id="34" name="Shape 32"/>
          <p:cNvSpPr/>
          <p:nvPr/>
        </p:nvSpPr>
        <p:spPr>
          <a:xfrm>
            <a:off x="10739628" y="2331720"/>
            <a:ext cx="146304" cy="320040"/>
          </a:xfrm>
          <a:prstGeom prst="downArrow">
            <a:avLst/>
          </a:prstGeom>
          <a:solidFill>
            <a:srgbClr val="7C7264"/>
          </a:solidFill>
          <a:ln/>
        </p:spPr>
      </p:sp>
      <p:sp>
        <p:nvSpPr>
          <p:cNvPr id="35" name="Shape 33"/>
          <p:cNvSpPr/>
          <p:nvPr/>
        </p:nvSpPr>
        <p:spPr>
          <a:xfrm>
            <a:off x="9966960" y="2834640"/>
            <a:ext cx="1691640" cy="548640"/>
          </a:xfrm>
          <a:prstGeom prst="roundRect">
            <a:avLst>
              <a:gd name="adj" fmla="val 13333"/>
            </a:avLst>
          </a:prstGeom>
          <a:solidFill>
            <a:srgbClr val="2C2419"/>
          </a:solidFill>
          <a:ln w="12700">
            <a:solidFill>
              <a:srgbClr val="3A3126"/>
            </a:solidFill>
            <a:prstDash val="solid"/>
          </a:ln>
        </p:spPr>
      </p:sp>
      <p:sp>
        <p:nvSpPr>
          <p:cNvPr id="36" name="Text 34"/>
          <p:cNvSpPr/>
          <p:nvPr/>
        </p:nvSpPr>
        <p:spPr>
          <a:xfrm>
            <a:off x="9966960" y="283464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Speed</a:t>
            </a:r>
            <a:endParaRPr lang="en-US" sz="1250" dirty="0"/>
          </a:p>
        </p:txBody>
      </p:sp>
      <p:sp>
        <p:nvSpPr>
          <p:cNvPr id="37" name="Shape 35"/>
          <p:cNvSpPr/>
          <p:nvPr/>
        </p:nvSpPr>
        <p:spPr>
          <a:xfrm>
            <a:off x="9966960" y="3611880"/>
            <a:ext cx="1691640" cy="548640"/>
          </a:xfrm>
          <a:prstGeom prst="roundRect">
            <a:avLst>
              <a:gd name="adj" fmla="val 13333"/>
            </a:avLst>
          </a:prstGeom>
          <a:solidFill>
            <a:srgbClr val="2C2419"/>
          </a:solidFill>
          <a:ln w="12700">
            <a:solidFill>
              <a:srgbClr val="3A3126"/>
            </a:solidFill>
            <a:prstDash val="solid"/>
          </a:ln>
        </p:spPr>
      </p:sp>
      <p:sp>
        <p:nvSpPr>
          <p:cNvPr id="38" name="Text 36"/>
          <p:cNvSpPr/>
          <p:nvPr/>
        </p:nvSpPr>
        <p:spPr>
          <a:xfrm>
            <a:off x="9966960" y="361188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Accuracy</a:t>
            </a:r>
            <a:endParaRPr lang="en-US" sz="1250" dirty="0"/>
          </a:p>
        </p:txBody>
      </p:sp>
      <p:sp>
        <p:nvSpPr>
          <p:cNvPr id="39" name="Shape 37"/>
          <p:cNvSpPr/>
          <p:nvPr/>
        </p:nvSpPr>
        <p:spPr>
          <a:xfrm>
            <a:off x="9966960" y="4389120"/>
            <a:ext cx="1691640" cy="548640"/>
          </a:xfrm>
          <a:prstGeom prst="roundRect">
            <a:avLst>
              <a:gd name="adj" fmla="val 13333"/>
            </a:avLst>
          </a:prstGeom>
          <a:solidFill>
            <a:srgbClr val="2C2419"/>
          </a:solidFill>
          <a:ln w="12700">
            <a:solidFill>
              <a:srgbClr val="3A3126"/>
            </a:solidFill>
            <a:prstDash val="solid"/>
          </a:ln>
        </p:spPr>
      </p:sp>
      <p:sp>
        <p:nvSpPr>
          <p:cNvPr id="40" name="Text 38"/>
          <p:cNvSpPr/>
          <p:nvPr/>
        </p:nvSpPr>
        <p:spPr>
          <a:xfrm>
            <a:off x="9966960" y="4389120"/>
            <a:ext cx="1691640" cy="548640"/>
          </a:xfrm>
          <a:prstGeom prst="rect">
            <a:avLst/>
          </a:prstGeom>
          <a:noFill/>
          <a:ln/>
        </p:spPr>
        <p:txBody>
          <a:bodyPr wrap="square" lIns="0" tIns="0" rIns="0" bIns="0" rtlCol="0" anchor="ctr"/>
          <a:lstStyle/>
          <a:p>
            <a:pPr algn="ctr" indent="0" marL="0">
              <a:buNone/>
            </a:pPr>
            <a:r>
              <a:rPr lang="en-US" sz="1250" b="1" dirty="0">
                <a:solidFill>
                  <a:srgbClr val="F6F1E9"/>
                </a:solidFill>
                <a:latin typeface="Calibri" pitchFamily="34" charset="0"/>
                <a:ea typeface="Calibri" pitchFamily="34" charset="-122"/>
                <a:cs typeface="Calibri" pitchFamily="34" charset="-120"/>
              </a:rPr>
              <a:t>Consistency</a:t>
            </a:r>
            <a:endParaRPr lang="en-US" sz="1250" dirty="0"/>
          </a:p>
        </p:txBody>
      </p:sp>
      <p:sp>
        <p:nvSpPr>
          <p:cNvPr id="41" name="Text 39"/>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42" name="Text 40"/>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Project Objectives</a:t>
            </a:r>
            <a:endParaRPr lang="en-US" sz="3400" dirty="0"/>
          </a:p>
        </p:txBody>
      </p:sp>
      <p:sp>
        <p:nvSpPr>
          <p:cNvPr id="4" name="Shape 2"/>
          <p:cNvSpPr/>
          <p:nvPr/>
        </p:nvSpPr>
        <p:spPr>
          <a:xfrm>
            <a:off x="548640" y="1600200"/>
            <a:ext cx="2651760" cy="1783080"/>
          </a:xfrm>
          <a:prstGeom prst="roundRect">
            <a:avLst>
              <a:gd name="adj" fmla="val 5128"/>
            </a:avLst>
          </a:prstGeom>
          <a:solidFill>
            <a:srgbClr val="231D17"/>
          </a:solidFill>
          <a:ln w="12700">
            <a:solidFill>
              <a:srgbClr val="3A3126"/>
            </a:solidFill>
            <a:prstDash val="solid"/>
          </a:ln>
        </p:spPr>
      </p:sp>
      <p:sp>
        <p:nvSpPr>
          <p:cNvPr id="5" name="Shape 3"/>
          <p:cNvSpPr/>
          <p:nvPr/>
        </p:nvSpPr>
        <p:spPr>
          <a:xfrm>
            <a:off x="777240" y="1828800"/>
            <a:ext cx="502920" cy="502920"/>
          </a:xfrm>
          <a:prstGeom prst="ellipse">
            <a:avLst/>
          </a:prstGeom>
          <a:solidFill>
            <a:srgbClr val="2C2419"/>
          </a:solidFill>
          <a:ln w="15875">
            <a:solidFill>
              <a:srgbClr val="E67E3A"/>
            </a:solidFill>
            <a:prstDash val="solid"/>
          </a:ln>
        </p:spPr>
      </p:sp>
      <p:sp>
        <p:nvSpPr>
          <p:cNvPr id="6" name="Text 4"/>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77240" y="24688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Create a simple restaurant billing application</a:t>
            </a:r>
            <a:endParaRPr lang="en-US" sz="1250" dirty="0"/>
          </a:p>
        </p:txBody>
      </p:sp>
      <p:sp>
        <p:nvSpPr>
          <p:cNvPr id="8" name="Shape 6"/>
          <p:cNvSpPr/>
          <p:nvPr/>
        </p:nvSpPr>
        <p:spPr>
          <a:xfrm>
            <a:off x="3401568" y="1600200"/>
            <a:ext cx="2651760" cy="1783080"/>
          </a:xfrm>
          <a:prstGeom prst="roundRect">
            <a:avLst>
              <a:gd name="adj" fmla="val 5128"/>
            </a:avLst>
          </a:prstGeom>
          <a:solidFill>
            <a:srgbClr val="231D17"/>
          </a:solidFill>
          <a:ln w="12700">
            <a:solidFill>
              <a:srgbClr val="3A3126"/>
            </a:solidFill>
            <a:prstDash val="solid"/>
          </a:ln>
        </p:spPr>
      </p:sp>
      <p:sp>
        <p:nvSpPr>
          <p:cNvPr id="9" name="Shape 7"/>
          <p:cNvSpPr/>
          <p:nvPr/>
        </p:nvSpPr>
        <p:spPr>
          <a:xfrm>
            <a:off x="3630168" y="1828800"/>
            <a:ext cx="502920" cy="502920"/>
          </a:xfrm>
          <a:prstGeom prst="ellipse">
            <a:avLst/>
          </a:prstGeom>
          <a:solidFill>
            <a:srgbClr val="2C2419"/>
          </a:solidFill>
          <a:ln w="15875">
            <a:solidFill>
              <a:srgbClr val="E67E3A"/>
            </a:solidFill>
            <a:prstDash val="solid"/>
          </a:ln>
        </p:spPr>
      </p:sp>
      <p:sp>
        <p:nvSpPr>
          <p:cNvPr id="10" name="Text 8"/>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3630168" y="24688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Display food items and their prices</a:t>
            </a:r>
            <a:endParaRPr lang="en-US" sz="1250" dirty="0"/>
          </a:p>
        </p:txBody>
      </p:sp>
      <p:sp>
        <p:nvSpPr>
          <p:cNvPr id="12" name="Shape 10"/>
          <p:cNvSpPr/>
          <p:nvPr/>
        </p:nvSpPr>
        <p:spPr>
          <a:xfrm>
            <a:off x="6254496" y="1600200"/>
            <a:ext cx="2651760" cy="1783080"/>
          </a:xfrm>
          <a:prstGeom prst="roundRect">
            <a:avLst>
              <a:gd name="adj" fmla="val 5128"/>
            </a:avLst>
          </a:prstGeom>
          <a:solidFill>
            <a:srgbClr val="231D17"/>
          </a:solidFill>
          <a:ln w="12700">
            <a:solidFill>
              <a:srgbClr val="3A3126"/>
            </a:solidFill>
            <a:prstDash val="solid"/>
          </a:ln>
        </p:spPr>
      </p:sp>
      <p:sp>
        <p:nvSpPr>
          <p:cNvPr id="13" name="Shape 11"/>
          <p:cNvSpPr/>
          <p:nvPr/>
        </p:nvSpPr>
        <p:spPr>
          <a:xfrm>
            <a:off x="6483096" y="1828800"/>
            <a:ext cx="502920" cy="502920"/>
          </a:xfrm>
          <a:prstGeom prst="ellipse">
            <a:avLst/>
          </a:prstGeom>
          <a:solidFill>
            <a:srgbClr val="2C2419"/>
          </a:solidFill>
          <a:ln w="15875">
            <a:solidFill>
              <a:srgbClr val="E67E3A"/>
            </a:solidFill>
            <a:prstDash val="solid"/>
          </a:ln>
        </p:spPr>
      </p:sp>
      <p:sp>
        <p:nvSpPr>
          <p:cNvPr id="14" name="Text 12"/>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3</a:t>
            </a:r>
            <a:endParaRPr lang="en-US" sz="1800" dirty="0"/>
          </a:p>
        </p:txBody>
      </p:sp>
      <p:sp>
        <p:nvSpPr>
          <p:cNvPr id="15" name="Text 13"/>
          <p:cNvSpPr/>
          <p:nvPr/>
        </p:nvSpPr>
        <p:spPr>
          <a:xfrm>
            <a:off x="6483096" y="24688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Accept customer item selections and quantities</a:t>
            </a:r>
            <a:endParaRPr lang="en-US" sz="1250" dirty="0"/>
          </a:p>
        </p:txBody>
      </p:sp>
      <p:sp>
        <p:nvSpPr>
          <p:cNvPr id="16" name="Shape 14"/>
          <p:cNvSpPr/>
          <p:nvPr/>
        </p:nvSpPr>
        <p:spPr>
          <a:xfrm>
            <a:off x="9107424" y="1600200"/>
            <a:ext cx="2651760" cy="1783080"/>
          </a:xfrm>
          <a:prstGeom prst="roundRect">
            <a:avLst>
              <a:gd name="adj" fmla="val 5128"/>
            </a:avLst>
          </a:prstGeom>
          <a:solidFill>
            <a:srgbClr val="231D17"/>
          </a:solidFill>
          <a:ln w="12700">
            <a:solidFill>
              <a:srgbClr val="3A3126"/>
            </a:solidFill>
            <a:prstDash val="solid"/>
          </a:ln>
        </p:spPr>
      </p:sp>
      <p:sp>
        <p:nvSpPr>
          <p:cNvPr id="17" name="Shape 15"/>
          <p:cNvSpPr/>
          <p:nvPr/>
        </p:nvSpPr>
        <p:spPr>
          <a:xfrm>
            <a:off x="9336024" y="1828800"/>
            <a:ext cx="502920" cy="502920"/>
          </a:xfrm>
          <a:prstGeom prst="ellipse">
            <a:avLst/>
          </a:prstGeom>
          <a:solidFill>
            <a:srgbClr val="2C2419"/>
          </a:solidFill>
          <a:ln w="15875">
            <a:solidFill>
              <a:srgbClr val="E67E3A"/>
            </a:solidFill>
            <a:prstDash val="solid"/>
          </a:ln>
        </p:spPr>
      </p:sp>
      <p:sp>
        <p:nvSpPr>
          <p:cNvPr id="18" name="Text 16"/>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4</a:t>
            </a:r>
            <a:endParaRPr lang="en-US" sz="1800" dirty="0"/>
          </a:p>
        </p:txBody>
      </p:sp>
      <p:sp>
        <p:nvSpPr>
          <p:cNvPr id="19" name="Text 17"/>
          <p:cNvSpPr/>
          <p:nvPr/>
        </p:nvSpPr>
        <p:spPr>
          <a:xfrm>
            <a:off x="9336024" y="24688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Calculate item-wise and total costs automatically</a:t>
            </a:r>
            <a:endParaRPr lang="en-US" sz="1250" dirty="0"/>
          </a:p>
        </p:txBody>
      </p:sp>
      <p:sp>
        <p:nvSpPr>
          <p:cNvPr id="20" name="Shape 18"/>
          <p:cNvSpPr/>
          <p:nvPr/>
        </p:nvSpPr>
        <p:spPr>
          <a:xfrm>
            <a:off x="548640" y="3657600"/>
            <a:ext cx="2651760" cy="1783080"/>
          </a:xfrm>
          <a:prstGeom prst="roundRect">
            <a:avLst>
              <a:gd name="adj" fmla="val 5128"/>
            </a:avLst>
          </a:prstGeom>
          <a:solidFill>
            <a:srgbClr val="231D17"/>
          </a:solidFill>
          <a:ln w="12700">
            <a:solidFill>
              <a:srgbClr val="3A3126"/>
            </a:solidFill>
            <a:prstDash val="solid"/>
          </a:ln>
        </p:spPr>
      </p:sp>
      <p:sp>
        <p:nvSpPr>
          <p:cNvPr id="21" name="Shape 19"/>
          <p:cNvSpPr/>
          <p:nvPr/>
        </p:nvSpPr>
        <p:spPr>
          <a:xfrm>
            <a:off x="777240" y="3886200"/>
            <a:ext cx="502920" cy="502920"/>
          </a:xfrm>
          <a:prstGeom prst="ellipse">
            <a:avLst/>
          </a:prstGeom>
          <a:solidFill>
            <a:srgbClr val="2C2419"/>
          </a:solidFill>
          <a:ln w="15875">
            <a:solidFill>
              <a:srgbClr val="E67E3A"/>
            </a:solidFill>
            <a:prstDash val="solid"/>
          </a:ln>
        </p:spPr>
      </p:sp>
      <p:sp>
        <p:nvSpPr>
          <p:cNvPr id="22" name="Text 20"/>
          <p:cNvSpPr/>
          <p:nvPr/>
        </p:nvSpPr>
        <p:spPr>
          <a:xfrm>
            <a:off x="777240" y="38862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5</a:t>
            </a:r>
            <a:endParaRPr lang="en-US" sz="1800" dirty="0"/>
          </a:p>
        </p:txBody>
      </p:sp>
      <p:sp>
        <p:nvSpPr>
          <p:cNvPr id="23" name="Text 21"/>
          <p:cNvSpPr/>
          <p:nvPr/>
        </p:nvSpPr>
        <p:spPr>
          <a:xfrm>
            <a:off x="777240" y="45262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Generate a clear final bill</a:t>
            </a:r>
            <a:endParaRPr lang="en-US" sz="1250" dirty="0"/>
          </a:p>
        </p:txBody>
      </p:sp>
      <p:sp>
        <p:nvSpPr>
          <p:cNvPr id="24" name="Shape 22"/>
          <p:cNvSpPr/>
          <p:nvPr/>
        </p:nvSpPr>
        <p:spPr>
          <a:xfrm>
            <a:off x="3401568" y="3657600"/>
            <a:ext cx="2651760" cy="1783080"/>
          </a:xfrm>
          <a:prstGeom prst="roundRect">
            <a:avLst>
              <a:gd name="adj" fmla="val 5128"/>
            </a:avLst>
          </a:prstGeom>
          <a:solidFill>
            <a:srgbClr val="231D17"/>
          </a:solidFill>
          <a:ln w="12700">
            <a:solidFill>
              <a:srgbClr val="3A3126"/>
            </a:solidFill>
            <a:prstDash val="solid"/>
          </a:ln>
        </p:spPr>
      </p:sp>
      <p:sp>
        <p:nvSpPr>
          <p:cNvPr id="25" name="Shape 23"/>
          <p:cNvSpPr/>
          <p:nvPr/>
        </p:nvSpPr>
        <p:spPr>
          <a:xfrm>
            <a:off x="3630168" y="3886200"/>
            <a:ext cx="502920" cy="502920"/>
          </a:xfrm>
          <a:prstGeom prst="ellipse">
            <a:avLst/>
          </a:prstGeom>
          <a:solidFill>
            <a:srgbClr val="2C2419"/>
          </a:solidFill>
          <a:ln w="15875">
            <a:solidFill>
              <a:srgbClr val="E67E3A"/>
            </a:solidFill>
            <a:prstDash val="solid"/>
          </a:ln>
        </p:spPr>
      </p:sp>
      <p:sp>
        <p:nvSpPr>
          <p:cNvPr id="26" name="Text 24"/>
          <p:cNvSpPr/>
          <p:nvPr/>
        </p:nvSpPr>
        <p:spPr>
          <a:xfrm>
            <a:off x="3630168" y="38862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6</a:t>
            </a:r>
            <a:endParaRPr lang="en-US" sz="1800" dirty="0"/>
          </a:p>
        </p:txBody>
      </p:sp>
      <p:sp>
        <p:nvSpPr>
          <p:cNvPr id="27" name="Text 25"/>
          <p:cNvSpPr/>
          <p:nvPr/>
        </p:nvSpPr>
        <p:spPr>
          <a:xfrm>
            <a:off x="3630168" y="45262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Demonstrate fundamental C programming concepts</a:t>
            </a:r>
            <a:endParaRPr lang="en-US" sz="1250" dirty="0"/>
          </a:p>
        </p:txBody>
      </p:sp>
      <p:sp>
        <p:nvSpPr>
          <p:cNvPr id="28" name="Shape 26"/>
          <p:cNvSpPr/>
          <p:nvPr/>
        </p:nvSpPr>
        <p:spPr>
          <a:xfrm>
            <a:off x="6254496" y="3657600"/>
            <a:ext cx="2651760" cy="1783080"/>
          </a:xfrm>
          <a:prstGeom prst="roundRect">
            <a:avLst>
              <a:gd name="adj" fmla="val 5128"/>
            </a:avLst>
          </a:prstGeom>
          <a:solidFill>
            <a:srgbClr val="231D17"/>
          </a:solidFill>
          <a:ln w="12700">
            <a:solidFill>
              <a:srgbClr val="3A3126"/>
            </a:solidFill>
            <a:prstDash val="solid"/>
          </a:ln>
        </p:spPr>
      </p:sp>
      <p:sp>
        <p:nvSpPr>
          <p:cNvPr id="29" name="Shape 27"/>
          <p:cNvSpPr/>
          <p:nvPr/>
        </p:nvSpPr>
        <p:spPr>
          <a:xfrm>
            <a:off x="6483096" y="3886200"/>
            <a:ext cx="502920" cy="502920"/>
          </a:xfrm>
          <a:prstGeom prst="ellipse">
            <a:avLst/>
          </a:prstGeom>
          <a:solidFill>
            <a:srgbClr val="2C2419"/>
          </a:solidFill>
          <a:ln w="15875">
            <a:solidFill>
              <a:srgbClr val="E67E3A"/>
            </a:solidFill>
            <a:prstDash val="solid"/>
          </a:ln>
        </p:spPr>
      </p:sp>
      <p:sp>
        <p:nvSpPr>
          <p:cNvPr id="30" name="Text 28"/>
          <p:cNvSpPr/>
          <p:nvPr/>
        </p:nvSpPr>
        <p:spPr>
          <a:xfrm>
            <a:off x="6483096" y="3886200"/>
            <a:ext cx="502920" cy="502920"/>
          </a:xfrm>
          <a:prstGeom prst="rect">
            <a:avLst/>
          </a:prstGeom>
          <a:noFill/>
          <a:ln/>
        </p:spPr>
        <p:txBody>
          <a:bodyPr wrap="square" lIns="0" tIns="0" rIns="0" bIns="0" rtlCol="0" anchor="ctr"/>
          <a:lstStyle/>
          <a:p>
            <a:pPr algn="ctr" indent="0" marL="0">
              <a:buNone/>
            </a:pPr>
            <a:r>
              <a:rPr lang="en-US" sz="1800" b="1" dirty="0">
                <a:solidFill>
                  <a:srgbClr val="E67E3A"/>
                </a:solidFill>
                <a:latin typeface="Cambria" pitchFamily="34" charset="0"/>
                <a:ea typeface="Cambria" pitchFamily="34" charset="-122"/>
                <a:cs typeface="Cambria" pitchFamily="34" charset="-120"/>
              </a:rPr>
              <a:t>7</a:t>
            </a:r>
            <a:endParaRPr lang="en-US" sz="1800" dirty="0"/>
          </a:p>
        </p:txBody>
      </p:sp>
      <p:sp>
        <p:nvSpPr>
          <p:cNvPr id="31" name="Text 29"/>
          <p:cNvSpPr/>
          <p:nvPr/>
        </p:nvSpPr>
        <p:spPr>
          <a:xfrm>
            <a:off x="6483096" y="4526280"/>
            <a:ext cx="2194560" cy="777240"/>
          </a:xfrm>
          <a:prstGeom prst="rect">
            <a:avLst/>
          </a:prstGeom>
          <a:noFill/>
          <a:ln/>
        </p:spPr>
        <p:txBody>
          <a:bodyPr wrap="square" lIns="0" tIns="0" rIns="0" bIns="0" rtlCol="0" anchor="t"/>
          <a:lstStyle/>
          <a:p>
            <a:pPr indent="0" marL="0">
              <a:lnSpc>
                <a:spcPct val="115000"/>
              </a:lnSpc>
              <a:buNone/>
            </a:pPr>
            <a:r>
              <a:rPr lang="en-US" sz="1250" dirty="0">
                <a:solidFill>
                  <a:srgbClr val="F6F1E9"/>
                </a:solidFill>
                <a:latin typeface="Calibri" pitchFamily="34" charset="0"/>
                <a:ea typeface="Calibri" pitchFamily="34" charset="-122"/>
                <a:cs typeface="Calibri" pitchFamily="34" charset="-120"/>
              </a:rPr>
              <a:t>Reduce manual calculation errors</a:t>
            </a:r>
            <a:endParaRPr lang="en-US" sz="1250" dirty="0"/>
          </a:p>
        </p:txBody>
      </p:sp>
      <p:sp>
        <p:nvSpPr>
          <p:cNvPr id="32" name="Text 30"/>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33" name="Text 31"/>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PROCESS</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System Workflow</a:t>
            </a:r>
            <a:endParaRPr lang="en-US" sz="3400" dirty="0"/>
          </a:p>
        </p:txBody>
      </p:sp>
      <p:sp>
        <p:nvSpPr>
          <p:cNvPr id="4" name="Shape 2"/>
          <p:cNvSpPr/>
          <p:nvPr/>
        </p:nvSpPr>
        <p:spPr>
          <a:xfrm>
            <a:off x="1737360" y="1371600"/>
            <a:ext cx="3017520" cy="365760"/>
          </a:xfrm>
          <a:prstGeom prst="roundRect">
            <a:avLst>
              <a:gd name="adj" fmla="val 50000"/>
            </a:avLst>
          </a:prstGeom>
          <a:solidFill>
            <a:srgbClr val="E67E3A"/>
          </a:solidFill>
          <a:ln w="12700">
            <a:solidFill>
              <a:srgbClr val="E67E3A"/>
            </a:solidFill>
            <a:prstDash val="solid"/>
          </a:ln>
        </p:spPr>
      </p:sp>
      <p:sp>
        <p:nvSpPr>
          <p:cNvPr id="5" name="Text 3"/>
          <p:cNvSpPr/>
          <p:nvPr/>
        </p:nvSpPr>
        <p:spPr>
          <a:xfrm>
            <a:off x="1737360" y="1371600"/>
            <a:ext cx="3017520" cy="365760"/>
          </a:xfrm>
          <a:prstGeom prst="rect">
            <a:avLst/>
          </a:prstGeom>
          <a:noFill/>
          <a:ln/>
        </p:spPr>
        <p:txBody>
          <a:bodyPr wrap="square" lIns="0" tIns="0" rIns="0" bIns="0" rtlCol="0" anchor="ctr"/>
          <a:lstStyle/>
          <a:p>
            <a:pPr algn="ctr" indent="0" marL="0">
              <a:buNone/>
            </a:pPr>
            <a:r>
              <a:rPr lang="en-US" sz="1100" b="1" dirty="0">
                <a:solidFill>
                  <a:srgbClr val="1A1512"/>
                </a:solidFill>
                <a:latin typeface="Calibri" pitchFamily="34" charset="0"/>
                <a:ea typeface="Calibri" pitchFamily="34" charset="-122"/>
                <a:cs typeface="Calibri" pitchFamily="34" charset="-120"/>
              </a:rPr>
              <a:t>START</a:t>
            </a:r>
            <a:endParaRPr lang="en-US" sz="1100" dirty="0"/>
          </a:p>
        </p:txBody>
      </p:sp>
      <p:sp>
        <p:nvSpPr>
          <p:cNvPr id="6" name="Shape 4"/>
          <p:cNvSpPr/>
          <p:nvPr/>
        </p:nvSpPr>
        <p:spPr>
          <a:xfrm>
            <a:off x="3172968" y="1755648"/>
            <a:ext cx="146304" cy="54864"/>
          </a:xfrm>
          <a:prstGeom prst="downArrow">
            <a:avLst/>
          </a:prstGeom>
          <a:solidFill>
            <a:srgbClr val="7C7264"/>
          </a:solidFill>
          <a:ln/>
        </p:spPr>
      </p:sp>
      <p:sp>
        <p:nvSpPr>
          <p:cNvPr id="7" name="Shape 5"/>
          <p:cNvSpPr/>
          <p:nvPr/>
        </p:nvSpPr>
        <p:spPr>
          <a:xfrm>
            <a:off x="1737360" y="1828800"/>
            <a:ext cx="3017520" cy="365760"/>
          </a:xfrm>
          <a:prstGeom prst="roundRect">
            <a:avLst>
              <a:gd name="adj" fmla="val 20000"/>
            </a:avLst>
          </a:prstGeom>
          <a:solidFill>
            <a:srgbClr val="2C2419"/>
          </a:solidFill>
          <a:ln w="12700">
            <a:solidFill>
              <a:srgbClr val="3A3126"/>
            </a:solidFill>
            <a:prstDash val="solid"/>
          </a:ln>
        </p:spPr>
      </p:sp>
      <p:sp>
        <p:nvSpPr>
          <p:cNvPr id="8" name="Text 6"/>
          <p:cNvSpPr/>
          <p:nvPr/>
        </p:nvSpPr>
        <p:spPr>
          <a:xfrm>
            <a:off x="1737360" y="1828800"/>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Display Restaurant Menu</a:t>
            </a:r>
            <a:endParaRPr lang="en-US" sz="1100" dirty="0"/>
          </a:p>
        </p:txBody>
      </p:sp>
      <p:sp>
        <p:nvSpPr>
          <p:cNvPr id="9" name="Shape 7"/>
          <p:cNvSpPr/>
          <p:nvPr/>
        </p:nvSpPr>
        <p:spPr>
          <a:xfrm>
            <a:off x="3172968" y="2212848"/>
            <a:ext cx="146304" cy="54864"/>
          </a:xfrm>
          <a:prstGeom prst="downArrow">
            <a:avLst/>
          </a:prstGeom>
          <a:solidFill>
            <a:srgbClr val="7C7264"/>
          </a:solidFill>
          <a:ln/>
        </p:spPr>
      </p:sp>
      <p:sp>
        <p:nvSpPr>
          <p:cNvPr id="10" name="Shape 8"/>
          <p:cNvSpPr/>
          <p:nvPr/>
        </p:nvSpPr>
        <p:spPr>
          <a:xfrm>
            <a:off x="1737360" y="2286000"/>
            <a:ext cx="3017520" cy="365760"/>
          </a:xfrm>
          <a:prstGeom prst="roundRect">
            <a:avLst>
              <a:gd name="adj" fmla="val 20000"/>
            </a:avLst>
          </a:prstGeom>
          <a:solidFill>
            <a:srgbClr val="2C2419"/>
          </a:solidFill>
          <a:ln w="12700">
            <a:solidFill>
              <a:srgbClr val="3A3126"/>
            </a:solidFill>
            <a:prstDash val="solid"/>
          </a:ln>
        </p:spPr>
      </p:sp>
      <p:sp>
        <p:nvSpPr>
          <p:cNvPr id="11" name="Text 9"/>
          <p:cNvSpPr/>
          <p:nvPr/>
        </p:nvSpPr>
        <p:spPr>
          <a:xfrm>
            <a:off x="1737360" y="2286000"/>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Select Food Item</a:t>
            </a:r>
            <a:endParaRPr lang="en-US" sz="1100" dirty="0"/>
          </a:p>
        </p:txBody>
      </p:sp>
      <p:sp>
        <p:nvSpPr>
          <p:cNvPr id="12" name="Shape 10"/>
          <p:cNvSpPr/>
          <p:nvPr/>
        </p:nvSpPr>
        <p:spPr>
          <a:xfrm>
            <a:off x="3172968" y="2670048"/>
            <a:ext cx="146304" cy="54864"/>
          </a:xfrm>
          <a:prstGeom prst="downArrow">
            <a:avLst/>
          </a:prstGeom>
          <a:solidFill>
            <a:srgbClr val="7C7264"/>
          </a:solidFill>
          <a:ln/>
        </p:spPr>
      </p:sp>
      <p:sp>
        <p:nvSpPr>
          <p:cNvPr id="13" name="Shape 11"/>
          <p:cNvSpPr/>
          <p:nvPr/>
        </p:nvSpPr>
        <p:spPr>
          <a:xfrm>
            <a:off x="1737360" y="2743200"/>
            <a:ext cx="3017520" cy="365760"/>
          </a:xfrm>
          <a:prstGeom prst="roundRect">
            <a:avLst>
              <a:gd name="adj" fmla="val 20000"/>
            </a:avLst>
          </a:prstGeom>
          <a:solidFill>
            <a:srgbClr val="2C2419"/>
          </a:solidFill>
          <a:ln w="12700">
            <a:solidFill>
              <a:srgbClr val="3A3126"/>
            </a:solidFill>
            <a:prstDash val="solid"/>
          </a:ln>
        </p:spPr>
      </p:sp>
      <p:sp>
        <p:nvSpPr>
          <p:cNvPr id="14" name="Text 12"/>
          <p:cNvSpPr/>
          <p:nvPr/>
        </p:nvSpPr>
        <p:spPr>
          <a:xfrm>
            <a:off x="1737360" y="2743200"/>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Enter Quantity</a:t>
            </a:r>
            <a:endParaRPr lang="en-US" sz="1100" dirty="0"/>
          </a:p>
        </p:txBody>
      </p:sp>
      <p:sp>
        <p:nvSpPr>
          <p:cNvPr id="15" name="Shape 13"/>
          <p:cNvSpPr/>
          <p:nvPr/>
        </p:nvSpPr>
        <p:spPr>
          <a:xfrm>
            <a:off x="3172968" y="3127248"/>
            <a:ext cx="146304" cy="54864"/>
          </a:xfrm>
          <a:prstGeom prst="downArrow">
            <a:avLst/>
          </a:prstGeom>
          <a:solidFill>
            <a:srgbClr val="7C7264"/>
          </a:solidFill>
          <a:ln/>
        </p:spPr>
      </p:sp>
      <p:sp>
        <p:nvSpPr>
          <p:cNvPr id="16" name="Shape 14"/>
          <p:cNvSpPr/>
          <p:nvPr/>
        </p:nvSpPr>
        <p:spPr>
          <a:xfrm>
            <a:off x="1737360" y="3200400"/>
            <a:ext cx="3017520" cy="365760"/>
          </a:xfrm>
          <a:prstGeom prst="roundRect">
            <a:avLst>
              <a:gd name="adj" fmla="val 20000"/>
            </a:avLst>
          </a:prstGeom>
          <a:solidFill>
            <a:srgbClr val="2C2419"/>
          </a:solidFill>
          <a:ln w="12700">
            <a:solidFill>
              <a:srgbClr val="3A3126"/>
            </a:solidFill>
            <a:prstDash val="solid"/>
          </a:ln>
        </p:spPr>
      </p:sp>
      <p:sp>
        <p:nvSpPr>
          <p:cNvPr id="17" name="Text 15"/>
          <p:cNvSpPr/>
          <p:nvPr/>
        </p:nvSpPr>
        <p:spPr>
          <a:xfrm>
            <a:off x="1737360" y="3200400"/>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Calculate Item Cost</a:t>
            </a:r>
            <a:endParaRPr lang="en-US" sz="1100" dirty="0"/>
          </a:p>
        </p:txBody>
      </p:sp>
      <p:sp>
        <p:nvSpPr>
          <p:cNvPr id="18" name="Shape 16"/>
          <p:cNvSpPr/>
          <p:nvPr/>
        </p:nvSpPr>
        <p:spPr>
          <a:xfrm>
            <a:off x="3172968" y="3584448"/>
            <a:ext cx="146304" cy="54864"/>
          </a:xfrm>
          <a:prstGeom prst="downArrow">
            <a:avLst/>
          </a:prstGeom>
          <a:solidFill>
            <a:srgbClr val="7C7264"/>
          </a:solidFill>
          <a:ln/>
        </p:spPr>
      </p:sp>
      <p:sp>
        <p:nvSpPr>
          <p:cNvPr id="19" name="Shape 17"/>
          <p:cNvSpPr/>
          <p:nvPr/>
        </p:nvSpPr>
        <p:spPr>
          <a:xfrm>
            <a:off x="1737360" y="3657600"/>
            <a:ext cx="3017520" cy="365760"/>
          </a:xfrm>
          <a:prstGeom prst="roundRect">
            <a:avLst>
              <a:gd name="adj" fmla="val 20000"/>
            </a:avLst>
          </a:prstGeom>
          <a:solidFill>
            <a:srgbClr val="2C2419"/>
          </a:solidFill>
          <a:ln w="12700">
            <a:solidFill>
              <a:srgbClr val="3A3126"/>
            </a:solidFill>
            <a:prstDash val="solid"/>
          </a:ln>
        </p:spPr>
      </p:sp>
      <p:sp>
        <p:nvSpPr>
          <p:cNvPr id="20" name="Text 18"/>
          <p:cNvSpPr/>
          <p:nvPr/>
        </p:nvSpPr>
        <p:spPr>
          <a:xfrm>
            <a:off x="1737360" y="3657600"/>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Add to Total</a:t>
            </a:r>
            <a:endParaRPr lang="en-US" sz="1100" dirty="0"/>
          </a:p>
        </p:txBody>
      </p:sp>
      <p:sp>
        <p:nvSpPr>
          <p:cNvPr id="21" name="Shape 19"/>
          <p:cNvSpPr/>
          <p:nvPr/>
        </p:nvSpPr>
        <p:spPr>
          <a:xfrm>
            <a:off x="3172968" y="4041648"/>
            <a:ext cx="146304" cy="54864"/>
          </a:xfrm>
          <a:prstGeom prst="downArrow">
            <a:avLst/>
          </a:prstGeom>
          <a:solidFill>
            <a:srgbClr val="7C7264"/>
          </a:solidFill>
          <a:ln/>
        </p:spPr>
      </p:sp>
      <p:sp>
        <p:nvSpPr>
          <p:cNvPr id="22" name="Shape 20"/>
          <p:cNvSpPr/>
          <p:nvPr/>
        </p:nvSpPr>
        <p:spPr>
          <a:xfrm>
            <a:off x="1737360" y="4114800"/>
            <a:ext cx="3017520" cy="438912"/>
          </a:xfrm>
          <a:prstGeom prst="diamond">
            <a:avLst/>
          </a:prstGeom>
          <a:solidFill>
            <a:srgbClr val="231D17"/>
          </a:solidFill>
          <a:ln w="19050">
            <a:solidFill>
              <a:srgbClr val="E67E3A"/>
            </a:solidFill>
            <a:prstDash val="solid"/>
          </a:ln>
        </p:spPr>
      </p:sp>
      <p:sp>
        <p:nvSpPr>
          <p:cNvPr id="23" name="Text 21"/>
          <p:cNvSpPr/>
          <p:nvPr/>
        </p:nvSpPr>
        <p:spPr>
          <a:xfrm>
            <a:off x="1737360" y="4114800"/>
            <a:ext cx="3017520" cy="438912"/>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More Items ?</a:t>
            </a:r>
            <a:endParaRPr lang="en-US" sz="1100" dirty="0"/>
          </a:p>
        </p:txBody>
      </p:sp>
      <p:sp>
        <p:nvSpPr>
          <p:cNvPr id="24" name="Shape 22"/>
          <p:cNvSpPr/>
          <p:nvPr/>
        </p:nvSpPr>
        <p:spPr>
          <a:xfrm>
            <a:off x="3172968" y="4572000"/>
            <a:ext cx="146304" cy="54864"/>
          </a:xfrm>
          <a:prstGeom prst="downArrow">
            <a:avLst/>
          </a:prstGeom>
          <a:solidFill>
            <a:srgbClr val="7C7264"/>
          </a:solidFill>
          <a:ln/>
        </p:spPr>
      </p:sp>
      <p:sp>
        <p:nvSpPr>
          <p:cNvPr id="25" name="Shape 23"/>
          <p:cNvSpPr/>
          <p:nvPr/>
        </p:nvSpPr>
        <p:spPr>
          <a:xfrm>
            <a:off x="1737360" y="4645152"/>
            <a:ext cx="3017520" cy="365760"/>
          </a:xfrm>
          <a:prstGeom prst="roundRect">
            <a:avLst>
              <a:gd name="adj" fmla="val 20000"/>
            </a:avLst>
          </a:prstGeom>
          <a:solidFill>
            <a:srgbClr val="2C2419"/>
          </a:solidFill>
          <a:ln w="12700">
            <a:solidFill>
              <a:srgbClr val="3A3126"/>
            </a:solidFill>
            <a:prstDash val="solid"/>
          </a:ln>
        </p:spPr>
      </p:sp>
      <p:sp>
        <p:nvSpPr>
          <p:cNvPr id="26" name="Text 24"/>
          <p:cNvSpPr/>
          <p:nvPr/>
        </p:nvSpPr>
        <p:spPr>
          <a:xfrm>
            <a:off x="1737360" y="4645152"/>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Generate Final Bill</a:t>
            </a:r>
            <a:endParaRPr lang="en-US" sz="1100" dirty="0"/>
          </a:p>
        </p:txBody>
      </p:sp>
      <p:sp>
        <p:nvSpPr>
          <p:cNvPr id="27" name="Shape 25"/>
          <p:cNvSpPr/>
          <p:nvPr/>
        </p:nvSpPr>
        <p:spPr>
          <a:xfrm>
            <a:off x="3172968" y="5029200"/>
            <a:ext cx="146304" cy="54864"/>
          </a:xfrm>
          <a:prstGeom prst="downArrow">
            <a:avLst/>
          </a:prstGeom>
          <a:solidFill>
            <a:srgbClr val="7C7264"/>
          </a:solidFill>
          <a:ln/>
        </p:spPr>
      </p:sp>
      <p:sp>
        <p:nvSpPr>
          <p:cNvPr id="28" name="Shape 26"/>
          <p:cNvSpPr/>
          <p:nvPr/>
        </p:nvSpPr>
        <p:spPr>
          <a:xfrm>
            <a:off x="1737360" y="5102352"/>
            <a:ext cx="3017520" cy="365760"/>
          </a:xfrm>
          <a:prstGeom prst="roundRect">
            <a:avLst>
              <a:gd name="adj" fmla="val 20000"/>
            </a:avLst>
          </a:prstGeom>
          <a:solidFill>
            <a:srgbClr val="2C2419"/>
          </a:solidFill>
          <a:ln w="12700">
            <a:solidFill>
              <a:srgbClr val="3A3126"/>
            </a:solidFill>
            <a:prstDash val="solid"/>
          </a:ln>
        </p:spPr>
      </p:sp>
      <p:sp>
        <p:nvSpPr>
          <p:cNvPr id="29" name="Text 27"/>
          <p:cNvSpPr/>
          <p:nvPr/>
        </p:nvSpPr>
        <p:spPr>
          <a:xfrm>
            <a:off x="1737360" y="5102352"/>
            <a:ext cx="3017520" cy="365760"/>
          </a:xfrm>
          <a:prstGeom prst="rect">
            <a:avLst/>
          </a:prstGeom>
          <a:noFill/>
          <a:ln/>
        </p:spPr>
        <p:txBody>
          <a:bodyPr wrap="square" lIns="0" tIns="0" rIns="0" bIns="0" rtlCol="0" anchor="ctr"/>
          <a:lstStyle/>
          <a:p>
            <a:pPr algn="ctr" indent="0" marL="0">
              <a:buNone/>
            </a:pPr>
            <a:r>
              <a:rPr lang="en-US" sz="1100" b="1" dirty="0">
                <a:solidFill>
                  <a:srgbClr val="F6F1E9"/>
                </a:solidFill>
                <a:latin typeface="Calibri" pitchFamily="34" charset="0"/>
                <a:ea typeface="Calibri" pitchFamily="34" charset="-122"/>
                <a:cs typeface="Calibri" pitchFamily="34" charset="-120"/>
              </a:rPr>
              <a:t>Display Total Amount</a:t>
            </a:r>
            <a:endParaRPr lang="en-US" sz="1100" dirty="0"/>
          </a:p>
        </p:txBody>
      </p:sp>
      <p:sp>
        <p:nvSpPr>
          <p:cNvPr id="30" name="Shape 28"/>
          <p:cNvSpPr/>
          <p:nvPr/>
        </p:nvSpPr>
        <p:spPr>
          <a:xfrm>
            <a:off x="3172968" y="5486400"/>
            <a:ext cx="146304" cy="54864"/>
          </a:xfrm>
          <a:prstGeom prst="downArrow">
            <a:avLst/>
          </a:prstGeom>
          <a:solidFill>
            <a:srgbClr val="7C7264"/>
          </a:solidFill>
          <a:ln/>
        </p:spPr>
      </p:sp>
      <p:sp>
        <p:nvSpPr>
          <p:cNvPr id="31" name="Shape 29"/>
          <p:cNvSpPr/>
          <p:nvPr/>
        </p:nvSpPr>
        <p:spPr>
          <a:xfrm>
            <a:off x="1737360" y="5559552"/>
            <a:ext cx="3017520" cy="365760"/>
          </a:xfrm>
          <a:prstGeom prst="roundRect">
            <a:avLst>
              <a:gd name="adj" fmla="val 50000"/>
            </a:avLst>
          </a:prstGeom>
          <a:solidFill>
            <a:srgbClr val="E67E3A"/>
          </a:solidFill>
          <a:ln w="12700">
            <a:solidFill>
              <a:srgbClr val="E67E3A"/>
            </a:solidFill>
            <a:prstDash val="solid"/>
          </a:ln>
        </p:spPr>
      </p:sp>
      <p:sp>
        <p:nvSpPr>
          <p:cNvPr id="32" name="Text 30"/>
          <p:cNvSpPr/>
          <p:nvPr/>
        </p:nvSpPr>
        <p:spPr>
          <a:xfrm>
            <a:off x="1737360" y="5559552"/>
            <a:ext cx="3017520" cy="365760"/>
          </a:xfrm>
          <a:prstGeom prst="rect">
            <a:avLst/>
          </a:prstGeom>
          <a:noFill/>
          <a:ln/>
        </p:spPr>
        <p:txBody>
          <a:bodyPr wrap="square" lIns="0" tIns="0" rIns="0" bIns="0" rtlCol="0" anchor="ctr"/>
          <a:lstStyle/>
          <a:p>
            <a:pPr algn="ctr" indent="0" marL="0">
              <a:buNone/>
            </a:pPr>
            <a:r>
              <a:rPr lang="en-US" sz="1100" b="1" dirty="0">
                <a:solidFill>
                  <a:srgbClr val="1A1512"/>
                </a:solidFill>
                <a:latin typeface="Calibri" pitchFamily="34" charset="0"/>
                <a:ea typeface="Calibri" pitchFamily="34" charset="-122"/>
                <a:cs typeface="Calibri" pitchFamily="34" charset="-120"/>
              </a:rPr>
              <a:t>END</a:t>
            </a:r>
            <a:endParaRPr lang="en-US" sz="1100" dirty="0"/>
          </a:p>
        </p:txBody>
      </p:sp>
      <p:sp>
        <p:nvSpPr>
          <p:cNvPr id="33" name="Shape 31"/>
          <p:cNvSpPr/>
          <p:nvPr/>
        </p:nvSpPr>
        <p:spPr>
          <a:xfrm>
            <a:off x="4754880" y="4334256"/>
            <a:ext cx="548640" cy="0"/>
          </a:xfrm>
          <a:prstGeom prst="line">
            <a:avLst/>
          </a:prstGeom>
          <a:noFill/>
          <a:ln w="19050">
            <a:solidFill>
              <a:srgbClr val="E67E3A"/>
            </a:solidFill>
            <a:prstDash val="solid"/>
          </a:ln>
        </p:spPr>
      </p:sp>
      <p:sp>
        <p:nvSpPr>
          <p:cNvPr id="34" name="Shape 32"/>
          <p:cNvSpPr/>
          <p:nvPr/>
        </p:nvSpPr>
        <p:spPr>
          <a:xfrm>
            <a:off x="5303520" y="2468880"/>
            <a:ext cx="0" cy="1865376"/>
          </a:xfrm>
          <a:prstGeom prst="line">
            <a:avLst/>
          </a:prstGeom>
          <a:noFill/>
          <a:ln w="19050">
            <a:solidFill>
              <a:srgbClr val="E67E3A"/>
            </a:solidFill>
            <a:prstDash val="solid"/>
          </a:ln>
        </p:spPr>
      </p:sp>
      <p:sp>
        <p:nvSpPr>
          <p:cNvPr id="35" name="Shape 33"/>
          <p:cNvSpPr/>
          <p:nvPr/>
        </p:nvSpPr>
        <p:spPr>
          <a:xfrm>
            <a:off x="4754880" y="2404872"/>
            <a:ext cx="201168" cy="128016"/>
          </a:xfrm>
          <a:prstGeom prst="leftArrow">
            <a:avLst/>
          </a:prstGeom>
          <a:solidFill>
            <a:srgbClr val="E67E3A"/>
          </a:solidFill>
          <a:ln/>
        </p:spPr>
      </p:sp>
      <p:sp>
        <p:nvSpPr>
          <p:cNvPr id="36" name="Text 34"/>
          <p:cNvSpPr/>
          <p:nvPr/>
        </p:nvSpPr>
        <p:spPr>
          <a:xfrm>
            <a:off x="5349240" y="3264408"/>
            <a:ext cx="548640" cy="274320"/>
          </a:xfrm>
          <a:prstGeom prst="rect">
            <a:avLst/>
          </a:prstGeom>
          <a:noFill/>
          <a:ln/>
        </p:spPr>
        <p:txBody>
          <a:bodyPr wrap="square" rtlCol="0" anchor="ctr"/>
          <a:lstStyle/>
          <a:p>
            <a:pPr indent="0" marL="0">
              <a:buNone/>
            </a:pPr>
            <a:r>
              <a:rPr lang="en-US" sz="1050" b="1" dirty="0">
                <a:solidFill>
                  <a:srgbClr val="E67E3A"/>
                </a:solidFill>
                <a:latin typeface="Calibri" pitchFamily="34" charset="0"/>
                <a:ea typeface="Calibri" pitchFamily="34" charset="-122"/>
                <a:cs typeface="Calibri" pitchFamily="34" charset="-120"/>
              </a:rPr>
              <a:t>YES</a:t>
            </a:r>
            <a:endParaRPr lang="en-US" sz="1050" dirty="0"/>
          </a:p>
        </p:txBody>
      </p:sp>
      <p:sp>
        <p:nvSpPr>
          <p:cNvPr id="37" name="Text 35"/>
          <p:cNvSpPr/>
          <p:nvPr/>
        </p:nvSpPr>
        <p:spPr>
          <a:xfrm>
            <a:off x="2468880" y="4517136"/>
            <a:ext cx="457200" cy="182880"/>
          </a:xfrm>
          <a:prstGeom prst="rect">
            <a:avLst/>
          </a:prstGeom>
          <a:noFill/>
          <a:ln/>
        </p:spPr>
        <p:txBody>
          <a:bodyPr wrap="square" rtlCol="0" anchor="ctr"/>
          <a:lstStyle/>
          <a:p>
            <a:pPr algn="r" indent="0" marL="0">
              <a:buNone/>
            </a:pPr>
            <a:r>
              <a:rPr lang="en-US" sz="950" b="1" dirty="0">
                <a:solidFill>
                  <a:srgbClr val="AFA492"/>
                </a:solidFill>
                <a:latin typeface="Calibri" pitchFamily="34" charset="0"/>
                <a:ea typeface="Calibri" pitchFamily="34" charset="-122"/>
                <a:cs typeface="Calibri" pitchFamily="34" charset="-120"/>
              </a:rPr>
              <a:t>NO</a:t>
            </a:r>
            <a:endParaRPr lang="en-US" sz="950" dirty="0"/>
          </a:p>
        </p:txBody>
      </p:sp>
      <p:sp>
        <p:nvSpPr>
          <p:cNvPr id="38" name="Shape 36"/>
          <p:cNvSpPr/>
          <p:nvPr/>
        </p:nvSpPr>
        <p:spPr>
          <a:xfrm>
            <a:off x="7406640" y="2194560"/>
            <a:ext cx="4206240" cy="2926080"/>
          </a:xfrm>
          <a:prstGeom prst="roundRect">
            <a:avLst>
              <a:gd name="adj" fmla="val 3750"/>
            </a:avLst>
          </a:prstGeom>
          <a:solidFill>
            <a:srgbClr val="231D17"/>
          </a:solidFill>
          <a:ln w="12700">
            <a:solidFill>
              <a:srgbClr val="3A3126"/>
            </a:solidFill>
            <a:prstDash val="solid"/>
          </a:ln>
        </p:spPr>
      </p:sp>
      <p:sp>
        <p:nvSpPr>
          <p:cNvPr id="39" name="Text 37"/>
          <p:cNvSpPr/>
          <p:nvPr/>
        </p:nvSpPr>
        <p:spPr>
          <a:xfrm>
            <a:off x="7726680" y="2468880"/>
            <a:ext cx="36576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HOW IT WORKS</a:t>
            </a:r>
            <a:endParaRPr lang="en-US" sz="1100" dirty="0"/>
          </a:p>
        </p:txBody>
      </p:sp>
      <p:sp>
        <p:nvSpPr>
          <p:cNvPr id="40" name="Text 38"/>
          <p:cNvSpPr/>
          <p:nvPr/>
        </p:nvSpPr>
        <p:spPr>
          <a:xfrm>
            <a:off x="7726680" y="2880360"/>
            <a:ext cx="3657600" cy="2011680"/>
          </a:xfrm>
          <a:prstGeom prst="rect">
            <a:avLst/>
          </a:prstGeom>
          <a:noFill/>
          <a:ln/>
        </p:spPr>
        <p:txBody>
          <a:bodyPr wrap="square" rtlCol="0" anchor="ctr"/>
          <a:lstStyle/>
          <a:p>
            <a:pPr indent="0" marL="0">
              <a:lnSpc>
                <a:spcPct val="130000"/>
              </a:lnSpc>
              <a:buNone/>
            </a:pPr>
            <a:r>
              <a:rPr lang="en-US" sz="1300" dirty="0">
                <a:solidFill>
                  <a:srgbClr val="AFA492"/>
                </a:solidFill>
                <a:latin typeface="Calibri" pitchFamily="34" charset="0"/>
                <a:ea typeface="Calibri" pitchFamily="34" charset="-122"/>
                <a:cs typeface="Calibri" pitchFamily="34" charset="-120"/>
              </a:rPr>
              <a:t>The cashier walks through the menu, selects an item and quantity, and the system computes the running total. This repeats for every item ordered, looping back until the customer's order is complete, then the final bill is generated and displayed.</a:t>
            </a:r>
            <a:endParaRPr lang="en-US" sz="1300" dirty="0"/>
          </a:p>
        </p:txBody>
      </p:sp>
      <p:sp>
        <p:nvSpPr>
          <p:cNvPr id="41" name="Text 39"/>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42" name="Text 40"/>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CAPABILITIES</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Key Features</a:t>
            </a:r>
            <a:endParaRPr lang="en-US" sz="3400" dirty="0"/>
          </a:p>
        </p:txBody>
      </p:sp>
      <p:sp>
        <p:nvSpPr>
          <p:cNvPr id="4" name="Shape 2"/>
          <p:cNvSpPr/>
          <p:nvPr/>
        </p:nvSpPr>
        <p:spPr>
          <a:xfrm>
            <a:off x="548640" y="1600200"/>
            <a:ext cx="3520440" cy="1965960"/>
          </a:xfrm>
          <a:prstGeom prst="roundRect">
            <a:avLst>
              <a:gd name="adj" fmla="val 4651"/>
            </a:avLst>
          </a:prstGeom>
          <a:solidFill>
            <a:srgbClr val="231D17"/>
          </a:solidFill>
          <a:ln w="12700">
            <a:solidFill>
              <a:srgbClr val="3A3126"/>
            </a:solidFill>
            <a:prstDash val="solid"/>
          </a:ln>
        </p:spPr>
      </p:sp>
      <p:sp>
        <p:nvSpPr>
          <p:cNvPr id="5" name="Shape 3"/>
          <p:cNvSpPr/>
          <p:nvPr/>
        </p:nvSpPr>
        <p:spPr>
          <a:xfrm>
            <a:off x="822960" y="1874520"/>
            <a:ext cx="457200" cy="457200"/>
          </a:xfrm>
          <a:prstGeom prst="ellipse">
            <a:avLst/>
          </a:prstGeom>
          <a:solidFill>
            <a:srgbClr val="E67E3A"/>
          </a:solidFill>
          <a:ln/>
        </p:spPr>
      </p:sp>
      <p:sp>
        <p:nvSpPr>
          <p:cNvPr id="6" name="Text 4"/>
          <p:cNvSpPr/>
          <p:nvPr/>
        </p:nvSpPr>
        <p:spPr>
          <a:xfrm>
            <a:off x="822960" y="1874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22960" y="2468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Menu Display</a:t>
            </a:r>
            <a:endParaRPr lang="en-US" sz="1500" dirty="0"/>
          </a:p>
        </p:txBody>
      </p:sp>
      <p:sp>
        <p:nvSpPr>
          <p:cNvPr id="8" name="Text 6"/>
          <p:cNvSpPr/>
          <p:nvPr/>
        </p:nvSpPr>
        <p:spPr>
          <a:xfrm>
            <a:off x="822960" y="2834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Shows available food items and their prices.</a:t>
            </a:r>
            <a:endParaRPr lang="en-US" sz="1150" dirty="0"/>
          </a:p>
        </p:txBody>
      </p:sp>
      <p:sp>
        <p:nvSpPr>
          <p:cNvPr id="9" name="Shape 7"/>
          <p:cNvSpPr/>
          <p:nvPr/>
        </p:nvSpPr>
        <p:spPr>
          <a:xfrm>
            <a:off x="4343400" y="1600200"/>
            <a:ext cx="3520440" cy="1965960"/>
          </a:xfrm>
          <a:prstGeom prst="roundRect">
            <a:avLst>
              <a:gd name="adj" fmla="val 4651"/>
            </a:avLst>
          </a:prstGeom>
          <a:solidFill>
            <a:srgbClr val="231D17"/>
          </a:solidFill>
          <a:ln w="12700">
            <a:solidFill>
              <a:srgbClr val="3A3126"/>
            </a:solidFill>
            <a:prstDash val="solid"/>
          </a:ln>
        </p:spPr>
      </p:sp>
      <p:sp>
        <p:nvSpPr>
          <p:cNvPr id="10" name="Shape 8"/>
          <p:cNvSpPr/>
          <p:nvPr/>
        </p:nvSpPr>
        <p:spPr>
          <a:xfrm>
            <a:off x="4617720" y="1874520"/>
            <a:ext cx="457200" cy="457200"/>
          </a:xfrm>
          <a:prstGeom prst="ellipse">
            <a:avLst/>
          </a:prstGeom>
          <a:solidFill>
            <a:srgbClr val="E67E3A"/>
          </a:solidFill>
          <a:ln/>
        </p:spPr>
      </p:sp>
      <p:sp>
        <p:nvSpPr>
          <p:cNvPr id="11" name="Text 9"/>
          <p:cNvSpPr/>
          <p:nvPr/>
        </p:nvSpPr>
        <p:spPr>
          <a:xfrm>
            <a:off x="4617720" y="1874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4617720" y="2468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Order Selection</a:t>
            </a:r>
            <a:endParaRPr lang="en-US" sz="1500" dirty="0"/>
          </a:p>
        </p:txBody>
      </p:sp>
      <p:sp>
        <p:nvSpPr>
          <p:cNvPr id="13" name="Text 11"/>
          <p:cNvSpPr/>
          <p:nvPr/>
        </p:nvSpPr>
        <p:spPr>
          <a:xfrm>
            <a:off x="4617720" y="2834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Allows the user to select food items from the menu.</a:t>
            </a:r>
            <a:endParaRPr lang="en-US" sz="1150" dirty="0"/>
          </a:p>
        </p:txBody>
      </p:sp>
      <p:sp>
        <p:nvSpPr>
          <p:cNvPr id="14" name="Shape 12"/>
          <p:cNvSpPr/>
          <p:nvPr/>
        </p:nvSpPr>
        <p:spPr>
          <a:xfrm>
            <a:off x="8138160" y="1600200"/>
            <a:ext cx="3520440" cy="1965960"/>
          </a:xfrm>
          <a:prstGeom prst="roundRect">
            <a:avLst>
              <a:gd name="adj" fmla="val 4651"/>
            </a:avLst>
          </a:prstGeom>
          <a:solidFill>
            <a:srgbClr val="231D17"/>
          </a:solidFill>
          <a:ln w="12700">
            <a:solidFill>
              <a:srgbClr val="3A3126"/>
            </a:solidFill>
            <a:prstDash val="solid"/>
          </a:ln>
        </p:spPr>
      </p:sp>
      <p:sp>
        <p:nvSpPr>
          <p:cNvPr id="15" name="Shape 13"/>
          <p:cNvSpPr/>
          <p:nvPr/>
        </p:nvSpPr>
        <p:spPr>
          <a:xfrm>
            <a:off x="8412480" y="1874520"/>
            <a:ext cx="457200" cy="457200"/>
          </a:xfrm>
          <a:prstGeom prst="ellipse">
            <a:avLst/>
          </a:prstGeom>
          <a:solidFill>
            <a:srgbClr val="E67E3A"/>
          </a:solidFill>
          <a:ln/>
        </p:spPr>
      </p:sp>
      <p:sp>
        <p:nvSpPr>
          <p:cNvPr id="16" name="Text 14"/>
          <p:cNvSpPr/>
          <p:nvPr/>
        </p:nvSpPr>
        <p:spPr>
          <a:xfrm>
            <a:off x="8412480" y="1874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412480" y="2468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Quantity Management</a:t>
            </a:r>
            <a:endParaRPr lang="en-US" sz="1500" dirty="0"/>
          </a:p>
        </p:txBody>
      </p:sp>
      <p:sp>
        <p:nvSpPr>
          <p:cNvPr id="18" name="Text 16"/>
          <p:cNvSpPr/>
          <p:nvPr/>
        </p:nvSpPr>
        <p:spPr>
          <a:xfrm>
            <a:off x="8412480" y="2834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Accepts the required quantity for each item.</a:t>
            </a:r>
            <a:endParaRPr lang="en-US" sz="1150" dirty="0"/>
          </a:p>
        </p:txBody>
      </p:sp>
      <p:sp>
        <p:nvSpPr>
          <p:cNvPr id="19" name="Shape 17"/>
          <p:cNvSpPr/>
          <p:nvPr/>
        </p:nvSpPr>
        <p:spPr>
          <a:xfrm>
            <a:off x="548640" y="3886200"/>
            <a:ext cx="3520440" cy="1965960"/>
          </a:xfrm>
          <a:prstGeom prst="roundRect">
            <a:avLst>
              <a:gd name="adj" fmla="val 4651"/>
            </a:avLst>
          </a:prstGeom>
          <a:solidFill>
            <a:srgbClr val="231D17"/>
          </a:solidFill>
          <a:ln w="12700">
            <a:solidFill>
              <a:srgbClr val="3A3126"/>
            </a:solidFill>
            <a:prstDash val="solid"/>
          </a:ln>
        </p:spPr>
      </p:sp>
      <p:sp>
        <p:nvSpPr>
          <p:cNvPr id="20" name="Shape 18"/>
          <p:cNvSpPr/>
          <p:nvPr/>
        </p:nvSpPr>
        <p:spPr>
          <a:xfrm>
            <a:off x="822960" y="4160520"/>
            <a:ext cx="457200" cy="457200"/>
          </a:xfrm>
          <a:prstGeom prst="ellipse">
            <a:avLst/>
          </a:prstGeom>
          <a:solidFill>
            <a:srgbClr val="E67E3A"/>
          </a:solidFill>
          <a:ln/>
        </p:spPr>
      </p:sp>
      <p:sp>
        <p:nvSpPr>
          <p:cNvPr id="21" name="Text 19"/>
          <p:cNvSpPr/>
          <p:nvPr/>
        </p:nvSpPr>
        <p:spPr>
          <a:xfrm>
            <a:off x="822960" y="4160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822960" y="4754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Automatic Calculation</a:t>
            </a:r>
            <a:endParaRPr lang="en-US" sz="1500" dirty="0"/>
          </a:p>
        </p:txBody>
      </p:sp>
      <p:sp>
        <p:nvSpPr>
          <p:cNvPr id="23" name="Text 21"/>
          <p:cNvSpPr/>
          <p:nvPr/>
        </p:nvSpPr>
        <p:spPr>
          <a:xfrm>
            <a:off x="822960" y="5120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Calculates item-wise costs and the total amount.</a:t>
            </a:r>
            <a:endParaRPr lang="en-US" sz="1150" dirty="0"/>
          </a:p>
        </p:txBody>
      </p:sp>
      <p:sp>
        <p:nvSpPr>
          <p:cNvPr id="24" name="Shape 22"/>
          <p:cNvSpPr/>
          <p:nvPr/>
        </p:nvSpPr>
        <p:spPr>
          <a:xfrm>
            <a:off x="4343400" y="3886200"/>
            <a:ext cx="3520440" cy="1965960"/>
          </a:xfrm>
          <a:prstGeom prst="roundRect">
            <a:avLst>
              <a:gd name="adj" fmla="val 4651"/>
            </a:avLst>
          </a:prstGeom>
          <a:solidFill>
            <a:srgbClr val="231D17"/>
          </a:solidFill>
          <a:ln w="12700">
            <a:solidFill>
              <a:srgbClr val="3A3126"/>
            </a:solidFill>
            <a:prstDash val="solid"/>
          </a:ln>
        </p:spPr>
      </p:sp>
      <p:sp>
        <p:nvSpPr>
          <p:cNvPr id="25" name="Shape 23"/>
          <p:cNvSpPr/>
          <p:nvPr/>
        </p:nvSpPr>
        <p:spPr>
          <a:xfrm>
            <a:off x="4617720" y="4160520"/>
            <a:ext cx="457200" cy="457200"/>
          </a:xfrm>
          <a:prstGeom prst="ellipse">
            <a:avLst/>
          </a:prstGeom>
          <a:solidFill>
            <a:srgbClr val="E67E3A"/>
          </a:solidFill>
          <a:ln/>
        </p:spPr>
      </p:sp>
      <p:sp>
        <p:nvSpPr>
          <p:cNvPr id="26" name="Text 24"/>
          <p:cNvSpPr/>
          <p:nvPr/>
        </p:nvSpPr>
        <p:spPr>
          <a:xfrm>
            <a:off x="4617720" y="4160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4617720" y="4754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Bill Generation</a:t>
            </a:r>
            <a:endParaRPr lang="en-US" sz="1500" dirty="0"/>
          </a:p>
        </p:txBody>
      </p:sp>
      <p:sp>
        <p:nvSpPr>
          <p:cNvPr id="28" name="Text 26"/>
          <p:cNvSpPr/>
          <p:nvPr/>
        </p:nvSpPr>
        <p:spPr>
          <a:xfrm>
            <a:off x="4617720" y="5120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Displays a structured, easy-to-read final bill.</a:t>
            </a:r>
            <a:endParaRPr lang="en-US" sz="1150" dirty="0"/>
          </a:p>
        </p:txBody>
      </p:sp>
      <p:sp>
        <p:nvSpPr>
          <p:cNvPr id="29" name="Shape 27"/>
          <p:cNvSpPr/>
          <p:nvPr/>
        </p:nvSpPr>
        <p:spPr>
          <a:xfrm>
            <a:off x="8138160" y="3886200"/>
            <a:ext cx="3520440" cy="1965960"/>
          </a:xfrm>
          <a:prstGeom prst="roundRect">
            <a:avLst>
              <a:gd name="adj" fmla="val 4651"/>
            </a:avLst>
          </a:prstGeom>
          <a:solidFill>
            <a:srgbClr val="231D17"/>
          </a:solidFill>
          <a:ln w="12700">
            <a:solidFill>
              <a:srgbClr val="3A3126"/>
            </a:solidFill>
            <a:prstDash val="solid"/>
          </a:ln>
        </p:spPr>
      </p:sp>
      <p:sp>
        <p:nvSpPr>
          <p:cNvPr id="30" name="Shape 28"/>
          <p:cNvSpPr/>
          <p:nvPr/>
        </p:nvSpPr>
        <p:spPr>
          <a:xfrm>
            <a:off x="8412480" y="4160520"/>
            <a:ext cx="457200" cy="457200"/>
          </a:xfrm>
          <a:prstGeom prst="ellipse">
            <a:avLst/>
          </a:prstGeom>
          <a:solidFill>
            <a:srgbClr val="E67E3A"/>
          </a:solidFill>
          <a:ln/>
        </p:spPr>
      </p:sp>
      <p:sp>
        <p:nvSpPr>
          <p:cNvPr id="31" name="Text 29"/>
          <p:cNvSpPr/>
          <p:nvPr/>
        </p:nvSpPr>
        <p:spPr>
          <a:xfrm>
            <a:off x="8412480" y="4160520"/>
            <a:ext cx="457200" cy="457200"/>
          </a:xfrm>
          <a:prstGeom prst="rect">
            <a:avLst/>
          </a:prstGeom>
          <a:noFill/>
          <a:ln/>
        </p:spPr>
        <p:txBody>
          <a:bodyPr wrap="square" lIns="0" tIns="0" rIns="0" bIns="0" rtlCol="0" anchor="ctr"/>
          <a:lstStyle/>
          <a:p>
            <a:pPr algn="ctr" indent="0" marL="0">
              <a:buNone/>
            </a:pPr>
            <a:r>
              <a:rPr lang="en-US" sz="1600" b="1" dirty="0">
                <a:solidFill>
                  <a:srgbClr val="1A1512"/>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8412480" y="4754880"/>
            <a:ext cx="2971800" cy="365760"/>
          </a:xfrm>
          <a:prstGeom prst="rect">
            <a:avLst/>
          </a:prstGeom>
          <a:noFill/>
          <a:ln/>
        </p:spPr>
        <p:txBody>
          <a:bodyPr wrap="square" lIns="0" tIns="0" rIns="0" bIns="0" rtlCol="0" anchor="ctr"/>
          <a:lstStyle/>
          <a:p>
            <a:pPr indent="0" marL="0">
              <a:buNone/>
            </a:pPr>
            <a:r>
              <a:rPr lang="en-US" sz="1500" b="1" dirty="0">
                <a:solidFill>
                  <a:srgbClr val="F6F1E9"/>
                </a:solidFill>
                <a:latin typeface="Calibri" pitchFamily="34" charset="0"/>
                <a:ea typeface="Calibri" pitchFamily="34" charset="-122"/>
                <a:cs typeface="Calibri" pitchFamily="34" charset="-120"/>
              </a:rPr>
              <a:t>Simple Console Interface</a:t>
            </a:r>
            <a:endParaRPr lang="en-US" sz="1500" dirty="0"/>
          </a:p>
        </p:txBody>
      </p:sp>
      <p:sp>
        <p:nvSpPr>
          <p:cNvPr id="33" name="Text 31"/>
          <p:cNvSpPr/>
          <p:nvPr/>
        </p:nvSpPr>
        <p:spPr>
          <a:xfrm>
            <a:off x="8412480" y="5120640"/>
            <a:ext cx="2971800" cy="640080"/>
          </a:xfrm>
          <a:prstGeom prst="rect">
            <a:avLst/>
          </a:prstGeom>
          <a:noFill/>
          <a:ln/>
        </p:spPr>
        <p:txBody>
          <a:bodyPr wrap="square" lIns="0" tIns="0" rIns="0" bIns="0" rtlCol="0" anchor="ctr"/>
          <a:lstStyle/>
          <a:p>
            <a:pPr indent="0" marL="0">
              <a:lnSpc>
                <a:spcPct val="120000"/>
              </a:lnSpc>
              <a:buNone/>
            </a:pPr>
            <a:r>
              <a:rPr lang="en-US" sz="1150" dirty="0">
                <a:solidFill>
                  <a:srgbClr val="AFA492"/>
                </a:solidFill>
                <a:latin typeface="Calibri" pitchFamily="34" charset="0"/>
                <a:ea typeface="Calibri" pitchFamily="34" charset="-122"/>
                <a:cs typeface="Calibri" pitchFamily="34" charset="-120"/>
              </a:rPr>
              <a:t>Designed using standard C input / output.</a:t>
            </a:r>
            <a:endParaRPr lang="en-US" sz="1150" dirty="0"/>
          </a:p>
        </p:txBody>
      </p:sp>
      <p:sp>
        <p:nvSpPr>
          <p:cNvPr id="34" name="Text 32"/>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35" name="Text 33"/>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TECHNICAL FOUNDATION</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C Concepts Used</a:t>
            </a:r>
            <a:endParaRPr lang="en-US" sz="3400" dirty="0"/>
          </a:p>
        </p:txBody>
      </p:sp>
      <p:sp>
        <p:nvSpPr>
          <p:cNvPr id="4" name="Shape 2"/>
          <p:cNvSpPr/>
          <p:nvPr/>
        </p:nvSpPr>
        <p:spPr>
          <a:xfrm>
            <a:off x="548640" y="1554480"/>
            <a:ext cx="11064240" cy="502920"/>
          </a:xfrm>
          <a:prstGeom prst="roundRect">
            <a:avLst>
              <a:gd name="adj" fmla="val 14545"/>
            </a:avLst>
          </a:prstGeom>
          <a:solidFill>
            <a:srgbClr val="E67E3A"/>
          </a:solidFill>
          <a:ln/>
        </p:spPr>
      </p:sp>
      <p:sp>
        <p:nvSpPr>
          <p:cNvPr id="5" name="Text 3"/>
          <p:cNvSpPr/>
          <p:nvPr/>
        </p:nvSpPr>
        <p:spPr>
          <a:xfrm>
            <a:off x="868680" y="1554480"/>
            <a:ext cx="3474720" cy="502920"/>
          </a:xfrm>
          <a:prstGeom prst="rect">
            <a:avLst/>
          </a:prstGeom>
          <a:noFill/>
          <a:ln/>
        </p:spPr>
        <p:txBody>
          <a:bodyPr wrap="square" lIns="0" tIns="0" rIns="0" bIns="0" rtlCol="0" anchor="ctr"/>
          <a:lstStyle/>
          <a:p>
            <a:pPr indent="0" marL="0">
              <a:buNone/>
            </a:pPr>
            <a:r>
              <a:rPr lang="en-US" sz="1250" b="1" spc="100" kern="0" dirty="0">
                <a:solidFill>
                  <a:srgbClr val="1A1512"/>
                </a:solidFill>
                <a:latin typeface="Calibri" pitchFamily="34" charset="0"/>
                <a:ea typeface="Calibri" pitchFamily="34" charset="-122"/>
                <a:cs typeface="Calibri" pitchFamily="34" charset="-120"/>
              </a:rPr>
              <a:t>C CONCEPT</a:t>
            </a:r>
            <a:endParaRPr lang="en-US" sz="1250" dirty="0"/>
          </a:p>
        </p:txBody>
      </p:sp>
      <p:sp>
        <p:nvSpPr>
          <p:cNvPr id="6" name="Text 4"/>
          <p:cNvSpPr/>
          <p:nvPr/>
        </p:nvSpPr>
        <p:spPr>
          <a:xfrm>
            <a:off x="4389120" y="1554480"/>
            <a:ext cx="6858000" cy="502920"/>
          </a:xfrm>
          <a:prstGeom prst="rect">
            <a:avLst/>
          </a:prstGeom>
          <a:noFill/>
          <a:ln/>
        </p:spPr>
        <p:txBody>
          <a:bodyPr wrap="square" lIns="0" tIns="0" rIns="0" bIns="0" rtlCol="0" anchor="ctr"/>
          <a:lstStyle/>
          <a:p>
            <a:pPr indent="0" marL="0">
              <a:buNone/>
            </a:pPr>
            <a:r>
              <a:rPr lang="en-US" sz="1250" b="1" spc="100" kern="0" dirty="0">
                <a:solidFill>
                  <a:srgbClr val="1A1512"/>
                </a:solidFill>
                <a:latin typeface="Calibri" pitchFamily="34" charset="0"/>
                <a:ea typeface="Calibri" pitchFamily="34" charset="-122"/>
                <a:cs typeface="Calibri" pitchFamily="34" charset="-120"/>
              </a:rPr>
              <a:t>APPLICATION IN PROJECT</a:t>
            </a:r>
            <a:endParaRPr lang="en-US" sz="1250" dirty="0"/>
          </a:p>
        </p:txBody>
      </p:sp>
      <p:sp>
        <p:nvSpPr>
          <p:cNvPr id="7" name="Shape 5"/>
          <p:cNvSpPr/>
          <p:nvPr/>
        </p:nvSpPr>
        <p:spPr>
          <a:xfrm>
            <a:off x="548640" y="2057400"/>
            <a:ext cx="11064240" cy="530352"/>
          </a:xfrm>
          <a:prstGeom prst="rect">
            <a:avLst/>
          </a:prstGeom>
          <a:solidFill>
            <a:srgbClr val="231D17"/>
          </a:solidFill>
          <a:ln/>
        </p:spPr>
      </p:sp>
      <p:sp>
        <p:nvSpPr>
          <p:cNvPr id="8" name="Text 6"/>
          <p:cNvSpPr/>
          <p:nvPr/>
        </p:nvSpPr>
        <p:spPr>
          <a:xfrm>
            <a:off x="868680" y="2057400"/>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Variables</a:t>
            </a:r>
            <a:endParaRPr lang="en-US" sz="1300" dirty="0"/>
          </a:p>
        </p:txBody>
      </p:sp>
      <p:sp>
        <p:nvSpPr>
          <p:cNvPr id="9" name="Text 7"/>
          <p:cNvSpPr/>
          <p:nvPr/>
        </p:nvSpPr>
        <p:spPr>
          <a:xfrm>
            <a:off x="4389120" y="2057400"/>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Store prices, quantities and totals</a:t>
            </a:r>
            <a:endParaRPr lang="en-US" sz="1300" dirty="0"/>
          </a:p>
        </p:txBody>
      </p:sp>
      <p:sp>
        <p:nvSpPr>
          <p:cNvPr id="10" name="Shape 8"/>
          <p:cNvSpPr/>
          <p:nvPr/>
        </p:nvSpPr>
        <p:spPr>
          <a:xfrm>
            <a:off x="548640" y="2587752"/>
            <a:ext cx="11064240" cy="0"/>
          </a:xfrm>
          <a:prstGeom prst="line">
            <a:avLst/>
          </a:prstGeom>
          <a:noFill/>
          <a:ln w="9525">
            <a:solidFill>
              <a:srgbClr val="3A3126"/>
            </a:solidFill>
            <a:prstDash val="solid"/>
          </a:ln>
        </p:spPr>
      </p:sp>
      <p:sp>
        <p:nvSpPr>
          <p:cNvPr id="11" name="Shape 9"/>
          <p:cNvSpPr/>
          <p:nvPr/>
        </p:nvSpPr>
        <p:spPr>
          <a:xfrm>
            <a:off x="548640" y="2587752"/>
            <a:ext cx="11064240" cy="530352"/>
          </a:xfrm>
          <a:prstGeom prst="rect">
            <a:avLst/>
          </a:prstGeom>
          <a:solidFill>
            <a:srgbClr val="16120E"/>
          </a:solidFill>
          <a:ln/>
        </p:spPr>
      </p:sp>
      <p:sp>
        <p:nvSpPr>
          <p:cNvPr id="12" name="Text 10"/>
          <p:cNvSpPr/>
          <p:nvPr/>
        </p:nvSpPr>
        <p:spPr>
          <a:xfrm>
            <a:off x="868680" y="2587752"/>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Arrays</a:t>
            </a:r>
            <a:endParaRPr lang="en-US" sz="1300" dirty="0"/>
          </a:p>
        </p:txBody>
      </p:sp>
      <p:sp>
        <p:nvSpPr>
          <p:cNvPr id="13" name="Text 11"/>
          <p:cNvSpPr/>
          <p:nvPr/>
        </p:nvSpPr>
        <p:spPr>
          <a:xfrm>
            <a:off x="4389120" y="2587752"/>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Store menu items and their prices</a:t>
            </a:r>
            <a:endParaRPr lang="en-US" sz="1300" dirty="0"/>
          </a:p>
        </p:txBody>
      </p:sp>
      <p:sp>
        <p:nvSpPr>
          <p:cNvPr id="14" name="Shape 12"/>
          <p:cNvSpPr/>
          <p:nvPr/>
        </p:nvSpPr>
        <p:spPr>
          <a:xfrm>
            <a:off x="548640" y="3118104"/>
            <a:ext cx="11064240" cy="0"/>
          </a:xfrm>
          <a:prstGeom prst="line">
            <a:avLst/>
          </a:prstGeom>
          <a:noFill/>
          <a:ln w="9525">
            <a:solidFill>
              <a:srgbClr val="3A3126"/>
            </a:solidFill>
            <a:prstDash val="solid"/>
          </a:ln>
        </p:spPr>
      </p:sp>
      <p:sp>
        <p:nvSpPr>
          <p:cNvPr id="15" name="Shape 13"/>
          <p:cNvSpPr/>
          <p:nvPr/>
        </p:nvSpPr>
        <p:spPr>
          <a:xfrm>
            <a:off x="548640" y="3118104"/>
            <a:ext cx="11064240" cy="530352"/>
          </a:xfrm>
          <a:prstGeom prst="rect">
            <a:avLst/>
          </a:prstGeom>
          <a:solidFill>
            <a:srgbClr val="231D17"/>
          </a:solidFill>
          <a:ln/>
        </p:spPr>
      </p:sp>
      <p:sp>
        <p:nvSpPr>
          <p:cNvPr id="16" name="Text 14"/>
          <p:cNvSpPr/>
          <p:nvPr/>
        </p:nvSpPr>
        <p:spPr>
          <a:xfrm>
            <a:off x="868680" y="3118104"/>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Functions</a:t>
            </a:r>
            <a:endParaRPr lang="en-US" sz="1300" dirty="0"/>
          </a:p>
        </p:txBody>
      </p:sp>
      <p:sp>
        <p:nvSpPr>
          <p:cNvPr id="17" name="Text 15"/>
          <p:cNvSpPr/>
          <p:nvPr/>
        </p:nvSpPr>
        <p:spPr>
          <a:xfrm>
            <a:off x="4389120" y="3118104"/>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Separate billing and menu operations</a:t>
            </a:r>
            <a:endParaRPr lang="en-US" sz="1300" dirty="0"/>
          </a:p>
        </p:txBody>
      </p:sp>
      <p:sp>
        <p:nvSpPr>
          <p:cNvPr id="18" name="Shape 16"/>
          <p:cNvSpPr/>
          <p:nvPr/>
        </p:nvSpPr>
        <p:spPr>
          <a:xfrm>
            <a:off x="548640" y="3648456"/>
            <a:ext cx="11064240" cy="0"/>
          </a:xfrm>
          <a:prstGeom prst="line">
            <a:avLst/>
          </a:prstGeom>
          <a:noFill/>
          <a:ln w="9525">
            <a:solidFill>
              <a:srgbClr val="3A3126"/>
            </a:solidFill>
            <a:prstDash val="solid"/>
          </a:ln>
        </p:spPr>
      </p:sp>
      <p:sp>
        <p:nvSpPr>
          <p:cNvPr id="19" name="Shape 17"/>
          <p:cNvSpPr/>
          <p:nvPr/>
        </p:nvSpPr>
        <p:spPr>
          <a:xfrm>
            <a:off x="548640" y="3648456"/>
            <a:ext cx="11064240" cy="530352"/>
          </a:xfrm>
          <a:prstGeom prst="rect">
            <a:avLst/>
          </a:prstGeom>
          <a:solidFill>
            <a:srgbClr val="16120E"/>
          </a:solidFill>
          <a:ln/>
        </p:spPr>
      </p:sp>
      <p:sp>
        <p:nvSpPr>
          <p:cNvPr id="20" name="Text 18"/>
          <p:cNvSpPr/>
          <p:nvPr/>
        </p:nvSpPr>
        <p:spPr>
          <a:xfrm>
            <a:off x="868680" y="3648456"/>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Loops</a:t>
            </a:r>
            <a:endParaRPr lang="en-US" sz="1300" dirty="0"/>
          </a:p>
        </p:txBody>
      </p:sp>
      <p:sp>
        <p:nvSpPr>
          <p:cNvPr id="21" name="Text 19"/>
          <p:cNvSpPr/>
          <p:nvPr/>
        </p:nvSpPr>
        <p:spPr>
          <a:xfrm>
            <a:off x="4389120" y="3648456"/>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Process multiple ordered items</a:t>
            </a:r>
            <a:endParaRPr lang="en-US" sz="1300" dirty="0"/>
          </a:p>
        </p:txBody>
      </p:sp>
      <p:sp>
        <p:nvSpPr>
          <p:cNvPr id="22" name="Shape 20"/>
          <p:cNvSpPr/>
          <p:nvPr/>
        </p:nvSpPr>
        <p:spPr>
          <a:xfrm>
            <a:off x="548640" y="4178808"/>
            <a:ext cx="11064240" cy="0"/>
          </a:xfrm>
          <a:prstGeom prst="line">
            <a:avLst/>
          </a:prstGeom>
          <a:noFill/>
          <a:ln w="9525">
            <a:solidFill>
              <a:srgbClr val="3A3126"/>
            </a:solidFill>
            <a:prstDash val="solid"/>
          </a:ln>
        </p:spPr>
      </p:sp>
      <p:sp>
        <p:nvSpPr>
          <p:cNvPr id="23" name="Shape 21"/>
          <p:cNvSpPr/>
          <p:nvPr/>
        </p:nvSpPr>
        <p:spPr>
          <a:xfrm>
            <a:off x="548640" y="4178808"/>
            <a:ext cx="11064240" cy="530352"/>
          </a:xfrm>
          <a:prstGeom prst="rect">
            <a:avLst/>
          </a:prstGeom>
          <a:solidFill>
            <a:srgbClr val="231D17"/>
          </a:solidFill>
          <a:ln/>
        </p:spPr>
      </p:sp>
      <p:sp>
        <p:nvSpPr>
          <p:cNvPr id="24" name="Text 22"/>
          <p:cNvSpPr/>
          <p:nvPr/>
        </p:nvSpPr>
        <p:spPr>
          <a:xfrm>
            <a:off x="868680" y="4178808"/>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if / else</a:t>
            </a:r>
            <a:endParaRPr lang="en-US" sz="1300" dirty="0"/>
          </a:p>
        </p:txBody>
      </p:sp>
      <p:sp>
        <p:nvSpPr>
          <p:cNvPr id="25" name="Text 23"/>
          <p:cNvSpPr/>
          <p:nvPr/>
        </p:nvSpPr>
        <p:spPr>
          <a:xfrm>
            <a:off x="4389120" y="4178808"/>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Validate selections and conditions</a:t>
            </a:r>
            <a:endParaRPr lang="en-US" sz="1300" dirty="0"/>
          </a:p>
        </p:txBody>
      </p:sp>
      <p:sp>
        <p:nvSpPr>
          <p:cNvPr id="26" name="Shape 24"/>
          <p:cNvSpPr/>
          <p:nvPr/>
        </p:nvSpPr>
        <p:spPr>
          <a:xfrm>
            <a:off x="548640" y="4709160"/>
            <a:ext cx="11064240" cy="0"/>
          </a:xfrm>
          <a:prstGeom prst="line">
            <a:avLst/>
          </a:prstGeom>
          <a:noFill/>
          <a:ln w="9525">
            <a:solidFill>
              <a:srgbClr val="3A3126"/>
            </a:solidFill>
            <a:prstDash val="solid"/>
          </a:ln>
        </p:spPr>
      </p:sp>
      <p:sp>
        <p:nvSpPr>
          <p:cNvPr id="27" name="Shape 25"/>
          <p:cNvSpPr/>
          <p:nvPr/>
        </p:nvSpPr>
        <p:spPr>
          <a:xfrm>
            <a:off x="548640" y="4709160"/>
            <a:ext cx="11064240" cy="530352"/>
          </a:xfrm>
          <a:prstGeom prst="rect">
            <a:avLst/>
          </a:prstGeom>
          <a:solidFill>
            <a:srgbClr val="16120E"/>
          </a:solidFill>
          <a:ln/>
        </p:spPr>
      </p:sp>
      <p:sp>
        <p:nvSpPr>
          <p:cNvPr id="28" name="Text 26"/>
          <p:cNvSpPr/>
          <p:nvPr/>
        </p:nvSpPr>
        <p:spPr>
          <a:xfrm>
            <a:off x="868680" y="4709160"/>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switch-case</a:t>
            </a:r>
            <a:endParaRPr lang="en-US" sz="1300" dirty="0"/>
          </a:p>
        </p:txBody>
      </p:sp>
      <p:sp>
        <p:nvSpPr>
          <p:cNvPr id="29" name="Text 27"/>
          <p:cNvSpPr/>
          <p:nvPr/>
        </p:nvSpPr>
        <p:spPr>
          <a:xfrm>
            <a:off x="4389120" y="4709160"/>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Handle menu choices</a:t>
            </a:r>
            <a:endParaRPr lang="en-US" sz="1300" dirty="0"/>
          </a:p>
        </p:txBody>
      </p:sp>
      <p:sp>
        <p:nvSpPr>
          <p:cNvPr id="30" name="Shape 28"/>
          <p:cNvSpPr/>
          <p:nvPr/>
        </p:nvSpPr>
        <p:spPr>
          <a:xfrm>
            <a:off x="548640" y="5239512"/>
            <a:ext cx="11064240" cy="0"/>
          </a:xfrm>
          <a:prstGeom prst="line">
            <a:avLst/>
          </a:prstGeom>
          <a:noFill/>
          <a:ln w="9525">
            <a:solidFill>
              <a:srgbClr val="3A3126"/>
            </a:solidFill>
            <a:prstDash val="solid"/>
          </a:ln>
        </p:spPr>
      </p:sp>
      <p:sp>
        <p:nvSpPr>
          <p:cNvPr id="31" name="Shape 29"/>
          <p:cNvSpPr/>
          <p:nvPr/>
        </p:nvSpPr>
        <p:spPr>
          <a:xfrm>
            <a:off x="548640" y="5239512"/>
            <a:ext cx="11064240" cy="530352"/>
          </a:xfrm>
          <a:prstGeom prst="rect">
            <a:avLst/>
          </a:prstGeom>
          <a:solidFill>
            <a:srgbClr val="231D17"/>
          </a:solidFill>
          <a:ln/>
        </p:spPr>
      </p:sp>
      <p:sp>
        <p:nvSpPr>
          <p:cNvPr id="32" name="Text 30"/>
          <p:cNvSpPr/>
          <p:nvPr/>
        </p:nvSpPr>
        <p:spPr>
          <a:xfrm>
            <a:off x="868680" y="5239512"/>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Structures</a:t>
            </a:r>
            <a:endParaRPr lang="en-US" sz="1300" dirty="0"/>
          </a:p>
        </p:txBody>
      </p:sp>
      <p:sp>
        <p:nvSpPr>
          <p:cNvPr id="33" name="Text 31"/>
          <p:cNvSpPr/>
          <p:nvPr/>
        </p:nvSpPr>
        <p:spPr>
          <a:xfrm>
            <a:off x="4389120" y="5239512"/>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Represent menu / order information</a:t>
            </a:r>
            <a:endParaRPr lang="en-US" sz="1300" dirty="0"/>
          </a:p>
        </p:txBody>
      </p:sp>
      <p:sp>
        <p:nvSpPr>
          <p:cNvPr id="34" name="Shape 32"/>
          <p:cNvSpPr/>
          <p:nvPr/>
        </p:nvSpPr>
        <p:spPr>
          <a:xfrm>
            <a:off x="548640" y="5769864"/>
            <a:ext cx="11064240" cy="0"/>
          </a:xfrm>
          <a:prstGeom prst="line">
            <a:avLst/>
          </a:prstGeom>
          <a:noFill/>
          <a:ln w="9525">
            <a:solidFill>
              <a:srgbClr val="3A3126"/>
            </a:solidFill>
            <a:prstDash val="solid"/>
          </a:ln>
        </p:spPr>
      </p:sp>
      <p:sp>
        <p:nvSpPr>
          <p:cNvPr id="35" name="Shape 33"/>
          <p:cNvSpPr/>
          <p:nvPr/>
        </p:nvSpPr>
        <p:spPr>
          <a:xfrm>
            <a:off x="548640" y="5769864"/>
            <a:ext cx="11064240" cy="530352"/>
          </a:xfrm>
          <a:prstGeom prst="rect">
            <a:avLst/>
          </a:prstGeom>
          <a:solidFill>
            <a:srgbClr val="16120E"/>
          </a:solidFill>
          <a:ln/>
        </p:spPr>
      </p:sp>
      <p:sp>
        <p:nvSpPr>
          <p:cNvPr id="36" name="Text 34"/>
          <p:cNvSpPr/>
          <p:nvPr/>
        </p:nvSpPr>
        <p:spPr>
          <a:xfrm>
            <a:off x="868680" y="5769864"/>
            <a:ext cx="3474720" cy="530352"/>
          </a:xfrm>
          <a:prstGeom prst="rect">
            <a:avLst/>
          </a:prstGeom>
          <a:noFill/>
          <a:ln/>
        </p:spPr>
        <p:txBody>
          <a:bodyPr wrap="square" lIns="0" tIns="0" rIns="0" bIns="0" rtlCol="0" anchor="ctr"/>
          <a:lstStyle/>
          <a:p>
            <a:pPr indent="0" marL="0">
              <a:buNone/>
            </a:pPr>
            <a:r>
              <a:rPr lang="en-US" sz="1300" b="1" dirty="0">
                <a:solidFill>
                  <a:srgbClr val="E67E3A"/>
                </a:solidFill>
                <a:latin typeface="Courier New" pitchFamily="34" charset="0"/>
                <a:ea typeface="Courier New" pitchFamily="34" charset="-122"/>
                <a:cs typeface="Courier New" pitchFamily="34" charset="-120"/>
              </a:rPr>
              <a:t>Arithmetic operators</a:t>
            </a:r>
            <a:endParaRPr lang="en-US" sz="1300" dirty="0"/>
          </a:p>
        </p:txBody>
      </p:sp>
      <p:sp>
        <p:nvSpPr>
          <p:cNvPr id="37" name="Text 35"/>
          <p:cNvSpPr/>
          <p:nvPr/>
        </p:nvSpPr>
        <p:spPr>
          <a:xfrm>
            <a:off x="4389120" y="5769864"/>
            <a:ext cx="6858000" cy="530352"/>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Calculate item totals and bill</a:t>
            </a:r>
            <a:endParaRPr lang="en-US" sz="1300" dirty="0"/>
          </a:p>
        </p:txBody>
      </p:sp>
      <p:sp>
        <p:nvSpPr>
          <p:cNvPr id="38" name="Shape 36"/>
          <p:cNvSpPr/>
          <p:nvPr/>
        </p:nvSpPr>
        <p:spPr>
          <a:xfrm>
            <a:off x="548640" y="6300216"/>
            <a:ext cx="11064240" cy="0"/>
          </a:xfrm>
          <a:prstGeom prst="line">
            <a:avLst/>
          </a:prstGeom>
          <a:noFill/>
          <a:ln w="9525">
            <a:solidFill>
              <a:srgbClr val="3A3126"/>
            </a:solidFill>
            <a:prstDash val="solid"/>
          </a:ln>
        </p:spPr>
      </p:sp>
      <p:sp>
        <p:nvSpPr>
          <p:cNvPr id="39" name="Text 37"/>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40" name="Text 38"/>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Program Structure</a:t>
            </a:r>
            <a:endParaRPr lang="en-US" sz="3400" dirty="0"/>
          </a:p>
        </p:txBody>
      </p:sp>
      <p:sp>
        <p:nvSpPr>
          <p:cNvPr id="4" name="Shape 2"/>
          <p:cNvSpPr/>
          <p:nvPr/>
        </p:nvSpPr>
        <p:spPr>
          <a:xfrm>
            <a:off x="548640" y="1554480"/>
            <a:ext cx="4023360" cy="566928"/>
          </a:xfrm>
          <a:prstGeom prst="roundRect">
            <a:avLst>
              <a:gd name="adj" fmla="val 12903"/>
            </a:avLst>
          </a:prstGeom>
          <a:solidFill>
            <a:srgbClr val="E67E3A"/>
          </a:solidFill>
          <a:ln w="12700">
            <a:solidFill>
              <a:srgbClr val="E67E3A"/>
            </a:solidFill>
            <a:prstDash val="solid"/>
          </a:ln>
        </p:spPr>
      </p:sp>
      <p:sp>
        <p:nvSpPr>
          <p:cNvPr id="5" name="Text 3"/>
          <p:cNvSpPr/>
          <p:nvPr/>
        </p:nvSpPr>
        <p:spPr>
          <a:xfrm>
            <a:off x="548640" y="1554480"/>
            <a:ext cx="4023360" cy="566928"/>
          </a:xfrm>
          <a:prstGeom prst="rect">
            <a:avLst/>
          </a:prstGeom>
          <a:noFill/>
          <a:ln/>
        </p:spPr>
        <p:txBody>
          <a:bodyPr wrap="square" lIns="0" tIns="0" rIns="0" bIns="0" rtlCol="0" anchor="ctr"/>
          <a:lstStyle/>
          <a:p>
            <a:pPr algn="ctr" indent="0" marL="0">
              <a:buNone/>
            </a:pPr>
            <a:r>
              <a:rPr lang="en-US" sz="1400" b="1" dirty="0">
                <a:solidFill>
                  <a:srgbClr val="1A1512"/>
                </a:solidFill>
                <a:latin typeface="Courier New" pitchFamily="34" charset="0"/>
                <a:ea typeface="Courier New" pitchFamily="34" charset="-122"/>
                <a:cs typeface="Courier New" pitchFamily="34" charset="-120"/>
              </a:rPr>
              <a:t>main()</a:t>
            </a:r>
            <a:endParaRPr lang="en-US" sz="1400" dirty="0"/>
          </a:p>
        </p:txBody>
      </p:sp>
      <p:sp>
        <p:nvSpPr>
          <p:cNvPr id="6" name="Shape 4"/>
          <p:cNvSpPr/>
          <p:nvPr/>
        </p:nvSpPr>
        <p:spPr>
          <a:xfrm>
            <a:off x="2487168" y="2148840"/>
            <a:ext cx="146304" cy="164592"/>
          </a:xfrm>
          <a:prstGeom prst="downArrow">
            <a:avLst/>
          </a:prstGeom>
          <a:solidFill>
            <a:srgbClr val="7C7264"/>
          </a:solidFill>
          <a:ln/>
        </p:spPr>
      </p:sp>
      <p:sp>
        <p:nvSpPr>
          <p:cNvPr id="7" name="Shape 5"/>
          <p:cNvSpPr/>
          <p:nvPr/>
        </p:nvSpPr>
        <p:spPr>
          <a:xfrm>
            <a:off x="548640" y="2340864"/>
            <a:ext cx="4023360" cy="566928"/>
          </a:xfrm>
          <a:prstGeom prst="roundRect">
            <a:avLst>
              <a:gd name="adj" fmla="val 12903"/>
            </a:avLst>
          </a:prstGeom>
          <a:solidFill>
            <a:srgbClr val="231D17"/>
          </a:solidFill>
          <a:ln w="12700">
            <a:solidFill>
              <a:srgbClr val="3A3126"/>
            </a:solidFill>
            <a:prstDash val="solid"/>
          </a:ln>
        </p:spPr>
      </p:sp>
      <p:sp>
        <p:nvSpPr>
          <p:cNvPr id="8" name="Text 6"/>
          <p:cNvSpPr/>
          <p:nvPr/>
        </p:nvSpPr>
        <p:spPr>
          <a:xfrm>
            <a:off x="548640" y="2340864"/>
            <a:ext cx="4023360" cy="566928"/>
          </a:xfrm>
          <a:prstGeom prst="rect">
            <a:avLst/>
          </a:prstGeom>
          <a:noFill/>
          <a:ln/>
        </p:spPr>
        <p:txBody>
          <a:bodyPr wrap="square" lIns="0" tIns="0" rIns="0" bIns="0" rtlCol="0" anchor="ctr"/>
          <a:lstStyle/>
          <a:p>
            <a:pPr algn="ctr" indent="0" marL="0">
              <a:buNone/>
            </a:pPr>
            <a:r>
              <a:rPr lang="en-US" sz="1400" b="1" dirty="0">
                <a:solidFill>
                  <a:srgbClr val="F6F1E9"/>
                </a:solidFill>
                <a:latin typeface="Calibri" pitchFamily="34" charset="0"/>
                <a:ea typeface="Calibri" pitchFamily="34" charset="-122"/>
                <a:cs typeface="Calibri" pitchFamily="34" charset="-120"/>
              </a:rPr>
              <a:t>Display Menu</a:t>
            </a:r>
            <a:endParaRPr lang="en-US" sz="1400" dirty="0"/>
          </a:p>
        </p:txBody>
      </p:sp>
      <p:sp>
        <p:nvSpPr>
          <p:cNvPr id="9" name="Shape 7"/>
          <p:cNvSpPr/>
          <p:nvPr/>
        </p:nvSpPr>
        <p:spPr>
          <a:xfrm>
            <a:off x="2487168" y="2935224"/>
            <a:ext cx="146304" cy="164592"/>
          </a:xfrm>
          <a:prstGeom prst="downArrow">
            <a:avLst/>
          </a:prstGeom>
          <a:solidFill>
            <a:srgbClr val="7C7264"/>
          </a:solidFill>
          <a:ln/>
        </p:spPr>
      </p:sp>
      <p:sp>
        <p:nvSpPr>
          <p:cNvPr id="10" name="Shape 8"/>
          <p:cNvSpPr/>
          <p:nvPr/>
        </p:nvSpPr>
        <p:spPr>
          <a:xfrm>
            <a:off x="548640" y="3127248"/>
            <a:ext cx="4023360" cy="566928"/>
          </a:xfrm>
          <a:prstGeom prst="roundRect">
            <a:avLst>
              <a:gd name="adj" fmla="val 12903"/>
            </a:avLst>
          </a:prstGeom>
          <a:solidFill>
            <a:srgbClr val="231D17"/>
          </a:solidFill>
          <a:ln w="12700">
            <a:solidFill>
              <a:srgbClr val="3A3126"/>
            </a:solidFill>
            <a:prstDash val="solid"/>
          </a:ln>
        </p:spPr>
      </p:sp>
      <p:sp>
        <p:nvSpPr>
          <p:cNvPr id="11" name="Text 9"/>
          <p:cNvSpPr/>
          <p:nvPr/>
        </p:nvSpPr>
        <p:spPr>
          <a:xfrm>
            <a:off x="548640" y="3127248"/>
            <a:ext cx="4023360" cy="566928"/>
          </a:xfrm>
          <a:prstGeom prst="rect">
            <a:avLst/>
          </a:prstGeom>
          <a:noFill/>
          <a:ln/>
        </p:spPr>
        <p:txBody>
          <a:bodyPr wrap="square" lIns="0" tIns="0" rIns="0" bIns="0" rtlCol="0" anchor="ctr"/>
          <a:lstStyle/>
          <a:p>
            <a:pPr algn="ctr" indent="0" marL="0">
              <a:buNone/>
            </a:pPr>
            <a:r>
              <a:rPr lang="en-US" sz="1400" b="1" dirty="0">
                <a:solidFill>
                  <a:srgbClr val="F6F1E9"/>
                </a:solidFill>
                <a:latin typeface="Calibri" pitchFamily="34" charset="0"/>
                <a:ea typeface="Calibri" pitchFamily="34" charset="-122"/>
                <a:cs typeface="Calibri" pitchFamily="34" charset="-120"/>
              </a:rPr>
              <a:t>Take Order</a:t>
            </a:r>
            <a:endParaRPr lang="en-US" sz="1400" dirty="0"/>
          </a:p>
        </p:txBody>
      </p:sp>
      <p:sp>
        <p:nvSpPr>
          <p:cNvPr id="12" name="Shape 10"/>
          <p:cNvSpPr/>
          <p:nvPr/>
        </p:nvSpPr>
        <p:spPr>
          <a:xfrm>
            <a:off x="2487168" y="3721608"/>
            <a:ext cx="146304" cy="164592"/>
          </a:xfrm>
          <a:prstGeom prst="downArrow">
            <a:avLst/>
          </a:prstGeom>
          <a:solidFill>
            <a:srgbClr val="7C7264"/>
          </a:solidFill>
          <a:ln/>
        </p:spPr>
      </p:sp>
      <p:sp>
        <p:nvSpPr>
          <p:cNvPr id="13" name="Shape 11"/>
          <p:cNvSpPr/>
          <p:nvPr/>
        </p:nvSpPr>
        <p:spPr>
          <a:xfrm>
            <a:off x="548640" y="3913632"/>
            <a:ext cx="4023360" cy="566928"/>
          </a:xfrm>
          <a:prstGeom prst="roundRect">
            <a:avLst>
              <a:gd name="adj" fmla="val 12903"/>
            </a:avLst>
          </a:prstGeom>
          <a:solidFill>
            <a:srgbClr val="231D17"/>
          </a:solidFill>
          <a:ln w="12700">
            <a:solidFill>
              <a:srgbClr val="3A3126"/>
            </a:solidFill>
            <a:prstDash val="solid"/>
          </a:ln>
        </p:spPr>
      </p:sp>
      <p:sp>
        <p:nvSpPr>
          <p:cNvPr id="14" name="Text 12"/>
          <p:cNvSpPr/>
          <p:nvPr/>
        </p:nvSpPr>
        <p:spPr>
          <a:xfrm>
            <a:off x="548640" y="3913632"/>
            <a:ext cx="4023360" cy="566928"/>
          </a:xfrm>
          <a:prstGeom prst="rect">
            <a:avLst/>
          </a:prstGeom>
          <a:noFill/>
          <a:ln/>
        </p:spPr>
        <p:txBody>
          <a:bodyPr wrap="square" lIns="0" tIns="0" rIns="0" bIns="0" rtlCol="0" anchor="ctr"/>
          <a:lstStyle/>
          <a:p>
            <a:pPr algn="ctr" indent="0" marL="0">
              <a:buNone/>
            </a:pPr>
            <a:r>
              <a:rPr lang="en-US" sz="1400" b="1" dirty="0">
                <a:solidFill>
                  <a:srgbClr val="F6F1E9"/>
                </a:solidFill>
                <a:latin typeface="Calibri" pitchFamily="34" charset="0"/>
                <a:ea typeface="Calibri" pitchFamily="34" charset="-122"/>
                <a:cs typeface="Calibri" pitchFamily="34" charset="-120"/>
              </a:rPr>
              <a:t>Process Selection</a:t>
            </a:r>
            <a:endParaRPr lang="en-US" sz="1400" dirty="0"/>
          </a:p>
        </p:txBody>
      </p:sp>
      <p:sp>
        <p:nvSpPr>
          <p:cNvPr id="15" name="Shape 13"/>
          <p:cNvSpPr/>
          <p:nvPr/>
        </p:nvSpPr>
        <p:spPr>
          <a:xfrm>
            <a:off x="2487168" y="4507992"/>
            <a:ext cx="146304" cy="164592"/>
          </a:xfrm>
          <a:prstGeom prst="downArrow">
            <a:avLst/>
          </a:prstGeom>
          <a:solidFill>
            <a:srgbClr val="7C7264"/>
          </a:solidFill>
          <a:ln/>
        </p:spPr>
      </p:sp>
      <p:sp>
        <p:nvSpPr>
          <p:cNvPr id="16" name="Shape 14"/>
          <p:cNvSpPr/>
          <p:nvPr/>
        </p:nvSpPr>
        <p:spPr>
          <a:xfrm>
            <a:off x="548640" y="4700016"/>
            <a:ext cx="4023360" cy="566928"/>
          </a:xfrm>
          <a:prstGeom prst="roundRect">
            <a:avLst>
              <a:gd name="adj" fmla="val 12903"/>
            </a:avLst>
          </a:prstGeom>
          <a:solidFill>
            <a:srgbClr val="231D17"/>
          </a:solidFill>
          <a:ln w="12700">
            <a:solidFill>
              <a:srgbClr val="3A3126"/>
            </a:solidFill>
            <a:prstDash val="solid"/>
          </a:ln>
        </p:spPr>
      </p:sp>
      <p:sp>
        <p:nvSpPr>
          <p:cNvPr id="17" name="Text 15"/>
          <p:cNvSpPr/>
          <p:nvPr/>
        </p:nvSpPr>
        <p:spPr>
          <a:xfrm>
            <a:off x="548640" y="4700016"/>
            <a:ext cx="4023360" cy="566928"/>
          </a:xfrm>
          <a:prstGeom prst="rect">
            <a:avLst/>
          </a:prstGeom>
          <a:noFill/>
          <a:ln/>
        </p:spPr>
        <p:txBody>
          <a:bodyPr wrap="square" lIns="0" tIns="0" rIns="0" bIns="0" rtlCol="0" anchor="ctr"/>
          <a:lstStyle/>
          <a:p>
            <a:pPr algn="ctr" indent="0" marL="0">
              <a:buNone/>
            </a:pPr>
            <a:r>
              <a:rPr lang="en-US" sz="1400" b="1" dirty="0">
                <a:solidFill>
                  <a:srgbClr val="F6F1E9"/>
                </a:solidFill>
                <a:latin typeface="Calibri" pitchFamily="34" charset="0"/>
                <a:ea typeface="Calibri" pitchFamily="34" charset="-122"/>
                <a:cs typeface="Calibri" pitchFamily="34" charset="-120"/>
              </a:rPr>
              <a:t>Calculate Bill</a:t>
            </a:r>
            <a:endParaRPr lang="en-US" sz="1400" dirty="0"/>
          </a:p>
        </p:txBody>
      </p:sp>
      <p:sp>
        <p:nvSpPr>
          <p:cNvPr id="18" name="Shape 16"/>
          <p:cNvSpPr/>
          <p:nvPr/>
        </p:nvSpPr>
        <p:spPr>
          <a:xfrm>
            <a:off x="2487168" y="5294376"/>
            <a:ext cx="146304" cy="164592"/>
          </a:xfrm>
          <a:prstGeom prst="downArrow">
            <a:avLst/>
          </a:prstGeom>
          <a:solidFill>
            <a:srgbClr val="7C7264"/>
          </a:solidFill>
          <a:ln/>
        </p:spPr>
      </p:sp>
      <p:sp>
        <p:nvSpPr>
          <p:cNvPr id="19" name="Shape 17"/>
          <p:cNvSpPr/>
          <p:nvPr/>
        </p:nvSpPr>
        <p:spPr>
          <a:xfrm>
            <a:off x="548640" y="5486400"/>
            <a:ext cx="4023360" cy="566928"/>
          </a:xfrm>
          <a:prstGeom prst="roundRect">
            <a:avLst>
              <a:gd name="adj" fmla="val 12903"/>
            </a:avLst>
          </a:prstGeom>
          <a:solidFill>
            <a:srgbClr val="231D17"/>
          </a:solidFill>
          <a:ln w="12700">
            <a:solidFill>
              <a:srgbClr val="3A3126"/>
            </a:solidFill>
            <a:prstDash val="solid"/>
          </a:ln>
        </p:spPr>
      </p:sp>
      <p:sp>
        <p:nvSpPr>
          <p:cNvPr id="20" name="Text 18"/>
          <p:cNvSpPr/>
          <p:nvPr/>
        </p:nvSpPr>
        <p:spPr>
          <a:xfrm>
            <a:off x="548640" y="5486400"/>
            <a:ext cx="4023360" cy="566928"/>
          </a:xfrm>
          <a:prstGeom prst="rect">
            <a:avLst/>
          </a:prstGeom>
          <a:noFill/>
          <a:ln/>
        </p:spPr>
        <p:txBody>
          <a:bodyPr wrap="square" lIns="0" tIns="0" rIns="0" bIns="0" rtlCol="0" anchor="ctr"/>
          <a:lstStyle/>
          <a:p>
            <a:pPr algn="ctr" indent="0" marL="0">
              <a:buNone/>
            </a:pPr>
            <a:r>
              <a:rPr lang="en-US" sz="1400" b="1" dirty="0">
                <a:solidFill>
                  <a:srgbClr val="F6F1E9"/>
                </a:solidFill>
                <a:latin typeface="Calibri" pitchFamily="34" charset="0"/>
                <a:ea typeface="Calibri" pitchFamily="34" charset="-122"/>
                <a:cs typeface="Calibri" pitchFamily="34" charset="-120"/>
              </a:rPr>
              <a:t>Generate Receipt</a:t>
            </a:r>
            <a:endParaRPr lang="en-US" sz="1400" dirty="0"/>
          </a:p>
        </p:txBody>
      </p:sp>
      <p:sp>
        <p:nvSpPr>
          <p:cNvPr id="21" name="Shape 19"/>
          <p:cNvSpPr/>
          <p:nvPr/>
        </p:nvSpPr>
        <p:spPr>
          <a:xfrm>
            <a:off x="5212080" y="1554480"/>
            <a:ext cx="6309360" cy="4754880"/>
          </a:xfrm>
          <a:prstGeom prst="roundRect">
            <a:avLst>
              <a:gd name="adj" fmla="val 2308"/>
            </a:avLst>
          </a:prstGeom>
          <a:solidFill>
            <a:srgbClr val="231D17"/>
          </a:solidFill>
          <a:ln w="12700">
            <a:solidFill>
              <a:srgbClr val="3A3126"/>
            </a:solidFill>
            <a:prstDash val="solid"/>
          </a:ln>
        </p:spPr>
      </p:sp>
      <p:sp>
        <p:nvSpPr>
          <p:cNvPr id="22" name="Text 20"/>
          <p:cNvSpPr/>
          <p:nvPr/>
        </p:nvSpPr>
        <p:spPr>
          <a:xfrm>
            <a:off x="5577840" y="1874520"/>
            <a:ext cx="5486400" cy="274320"/>
          </a:xfrm>
          <a:prstGeom prst="rect">
            <a:avLst/>
          </a:prstGeom>
          <a:noFill/>
          <a:ln/>
        </p:spPr>
        <p:txBody>
          <a:bodyPr wrap="square" rtlCol="0" anchor="ctr"/>
          <a:lstStyle/>
          <a:p>
            <a:pPr indent="0" marL="0">
              <a:buNone/>
            </a:pPr>
            <a:r>
              <a:rPr lang="en-US" sz="1100" b="1" spc="130" kern="0" dirty="0">
                <a:solidFill>
                  <a:srgbClr val="E67E3A"/>
                </a:solidFill>
                <a:latin typeface="Calibri" pitchFamily="34" charset="0"/>
                <a:ea typeface="Calibri" pitchFamily="34" charset="-122"/>
                <a:cs typeface="Calibri" pitchFamily="34" charset="-120"/>
              </a:rPr>
              <a:t>CONCEPTUAL FUNCTION BREAKDOWN</a:t>
            </a:r>
            <a:endParaRPr lang="en-US" sz="1100" dirty="0"/>
          </a:p>
        </p:txBody>
      </p:sp>
      <p:sp>
        <p:nvSpPr>
          <p:cNvPr id="23" name="Shape 21"/>
          <p:cNvSpPr/>
          <p:nvPr/>
        </p:nvSpPr>
        <p:spPr>
          <a:xfrm>
            <a:off x="5577840" y="2331720"/>
            <a:ext cx="5577840" cy="713232"/>
          </a:xfrm>
          <a:prstGeom prst="roundRect">
            <a:avLst>
              <a:gd name="adj" fmla="val 10256"/>
            </a:avLst>
          </a:prstGeom>
          <a:solidFill>
            <a:srgbClr val="2C2419"/>
          </a:solidFill>
          <a:ln w="12700">
            <a:solidFill>
              <a:srgbClr val="3A3126"/>
            </a:solidFill>
            <a:prstDash val="solid"/>
          </a:ln>
        </p:spPr>
      </p:sp>
      <p:sp>
        <p:nvSpPr>
          <p:cNvPr id="24" name="Text 22"/>
          <p:cNvSpPr/>
          <p:nvPr/>
        </p:nvSpPr>
        <p:spPr>
          <a:xfrm>
            <a:off x="5806440" y="2404872"/>
            <a:ext cx="5120640" cy="292608"/>
          </a:xfrm>
          <a:prstGeom prst="rect">
            <a:avLst/>
          </a:prstGeom>
          <a:noFill/>
          <a:ln/>
        </p:spPr>
        <p:txBody>
          <a:bodyPr wrap="square" lIns="0" tIns="0" rIns="0" bIns="0" rtlCol="0" anchor="ctr"/>
          <a:lstStyle/>
          <a:p>
            <a:pPr indent="0" marL="0">
              <a:buNone/>
            </a:pPr>
            <a:r>
              <a:rPr lang="en-US" sz="1350" b="1" dirty="0">
                <a:solidFill>
                  <a:srgbClr val="E67E3A"/>
                </a:solidFill>
                <a:latin typeface="Courier New" pitchFamily="34" charset="0"/>
                <a:ea typeface="Courier New" pitchFamily="34" charset="-122"/>
                <a:cs typeface="Courier New" pitchFamily="34" charset="-120"/>
              </a:rPr>
              <a:t>displayMenu()</a:t>
            </a:r>
            <a:endParaRPr lang="en-US" sz="1350" dirty="0"/>
          </a:p>
        </p:txBody>
      </p:sp>
      <p:sp>
        <p:nvSpPr>
          <p:cNvPr id="25" name="Text 23"/>
          <p:cNvSpPr/>
          <p:nvPr/>
        </p:nvSpPr>
        <p:spPr>
          <a:xfrm>
            <a:off x="5806440" y="2697480"/>
            <a:ext cx="5120640" cy="320040"/>
          </a:xfrm>
          <a:prstGeom prst="rect">
            <a:avLst/>
          </a:prstGeom>
          <a:noFill/>
          <a:ln/>
        </p:spPr>
        <p:txBody>
          <a:bodyPr wrap="square" lIns="0" tIns="0" rIns="0" bIns="0" rtlCol="0" anchor="ctr"/>
          <a:lstStyle/>
          <a:p>
            <a:pPr indent="0" marL="0">
              <a:buNone/>
            </a:pPr>
            <a:r>
              <a:rPr lang="en-US" sz="1150" dirty="0">
                <a:solidFill>
                  <a:srgbClr val="AFA492"/>
                </a:solidFill>
                <a:latin typeface="Calibri" pitchFamily="34" charset="0"/>
                <a:ea typeface="Calibri" pitchFamily="34" charset="-122"/>
                <a:cs typeface="Calibri" pitchFamily="34" charset="-120"/>
              </a:rPr>
              <a:t>Prints the food items and prices to the console</a:t>
            </a:r>
            <a:endParaRPr lang="en-US" sz="1150" dirty="0"/>
          </a:p>
        </p:txBody>
      </p:sp>
      <p:sp>
        <p:nvSpPr>
          <p:cNvPr id="26" name="Shape 24"/>
          <p:cNvSpPr/>
          <p:nvPr/>
        </p:nvSpPr>
        <p:spPr>
          <a:xfrm>
            <a:off x="5577840" y="3172968"/>
            <a:ext cx="5577840" cy="713232"/>
          </a:xfrm>
          <a:prstGeom prst="roundRect">
            <a:avLst>
              <a:gd name="adj" fmla="val 10256"/>
            </a:avLst>
          </a:prstGeom>
          <a:solidFill>
            <a:srgbClr val="2C2419"/>
          </a:solidFill>
          <a:ln w="12700">
            <a:solidFill>
              <a:srgbClr val="3A3126"/>
            </a:solidFill>
            <a:prstDash val="solid"/>
          </a:ln>
        </p:spPr>
      </p:sp>
      <p:sp>
        <p:nvSpPr>
          <p:cNvPr id="27" name="Text 25"/>
          <p:cNvSpPr/>
          <p:nvPr/>
        </p:nvSpPr>
        <p:spPr>
          <a:xfrm>
            <a:off x="5806440" y="3246120"/>
            <a:ext cx="5120640" cy="292608"/>
          </a:xfrm>
          <a:prstGeom prst="rect">
            <a:avLst/>
          </a:prstGeom>
          <a:noFill/>
          <a:ln/>
        </p:spPr>
        <p:txBody>
          <a:bodyPr wrap="square" lIns="0" tIns="0" rIns="0" bIns="0" rtlCol="0" anchor="ctr"/>
          <a:lstStyle/>
          <a:p>
            <a:pPr indent="0" marL="0">
              <a:buNone/>
            </a:pPr>
            <a:r>
              <a:rPr lang="en-US" sz="1350" b="1" dirty="0">
                <a:solidFill>
                  <a:srgbClr val="E67E3A"/>
                </a:solidFill>
                <a:latin typeface="Courier New" pitchFamily="34" charset="0"/>
                <a:ea typeface="Courier New" pitchFamily="34" charset="-122"/>
                <a:cs typeface="Courier New" pitchFamily="34" charset="-120"/>
              </a:rPr>
              <a:t>takeOrder()</a:t>
            </a:r>
            <a:endParaRPr lang="en-US" sz="1350" dirty="0"/>
          </a:p>
        </p:txBody>
      </p:sp>
      <p:sp>
        <p:nvSpPr>
          <p:cNvPr id="28" name="Text 26"/>
          <p:cNvSpPr/>
          <p:nvPr/>
        </p:nvSpPr>
        <p:spPr>
          <a:xfrm>
            <a:off x="5806440" y="3538728"/>
            <a:ext cx="5120640" cy="320040"/>
          </a:xfrm>
          <a:prstGeom prst="rect">
            <a:avLst/>
          </a:prstGeom>
          <a:noFill/>
          <a:ln/>
        </p:spPr>
        <p:txBody>
          <a:bodyPr wrap="square" lIns="0" tIns="0" rIns="0" bIns="0" rtlCol="0" anchor="ctr"/>
          <a:lstStyle/>
          <a:p>
            <a:pPr indent="0" marL="0">
              <a:buNone/>
            </a:pPr>
            <a:r>
              <a:rPr lang="en-US" sz="1150" dirty="0">
                <a:solidFill>
                  <a:srgbClr val="AFA492"/>
                </a:solidFill>
                <a:latin typeface="Calibri" pitchFamily="34" charset="0"/>
                <a:ea typeface="Calibri" pitchFamily="34" charset="-122"/>
                <a:cs typeface="Calibri" pitchFamily="34" charset="-120"/>
              </a:rPr>
              <a:t>Reads the item choice and quantity from the user</a:t>
            </a:r>
            <a:endParaRPr lang="en-US" sz="1150" dirty="0"/>
          </a:p>
        </p:txBody>
      </p:sp>
      <p:sp>
        <p:nvSpPr>
          <p:cNvPr id="29" name="Shape 27"/>
          <p:cNvSpPr/>
          <p:nvPr/>
        </p:nvSpPr>
        <p:spPr>
          <a:xfrm>
            <a:off x="5577840" y="4014216"/>
            <a:ext cx="5577840" cy="713232"/>
          </a:xfrm>
          <a:prstGeom prst="roundRect">
            <a:avLst>
              <a:gd name="adj" fmla="val 10256"/>
            </a:avLst>
          </a:prstGeom>
          <a:solidFill>
            <a:srgbClr val="2C2419"/>
          </a:solidFill>
          <a:ln w="12700">
            <a:solidFill>
              <a:srgbClr val="3A3126"/>
            </a:solidFill>
            <a:prstDash val="solid"/>
          </a:ln>
        </p:spPr>
      </p:sp>
      <p:sp>
        <p:nvSpPr>
          <p:cNvPr id="30" name="Text 28"/>
          <p:cNvSpPr/>
          <p:nvPr/>
        </p:nvSpPr>
        <p:spPr>
          <a:xfrm>
            <a:off x="5806440" y="4087368"/>
            <a:ext cx="5120640" cy="292608"/>
          </a:xfrm>
          <a:prstGeom prst="rect">
            <a:avLst/>
          </a:prstGeom>
          <a:noFill/>
          <a:ln/>
        </p:spPr>
        <p:txBody>
          <a:bodyPr wrap="square" lIns="0" tIns="0" rIns="0" bIns="0" rtlCol="0" anchor="ctr"/>
          <a:lstStyle/>
          <a:p>
            <a:pPr indent="0" marL="0">
              <a:buNone/>
            </a:pPr>
            <a:r>
              <a:rPr lang="en-US" sz="1350" b="1" dirty="0">
                <a:solidFill>
                  <a:srgbClr val="E67E3A"/>
                </a:solidFill>
                <a:latin typeface="Courier New" pitchFamily="34" charset="0"/>
                <a:ea typeface="Courier New" pitchFamily="34" charset="-122"/>
                <a:cs typeface="Courier New" pitchFamily="34" charset="-120"/>
              </a:rPr>
              <a:t>calculateBill()</a:t>
            </a:r>
            <a:endParaRPr lang="en-US" sz="1350" dirty="0"/>
          </a:p>
        </p:txBody>
      </p:sp>
      <p:sp>
        <p:nvSpPr>
          <p:cNvPr id="31" name="Text 29"/>
          <p:cNvSpPr/>
          <p:nvPr/>
        </p:nvSpPr>
        <p:spPr>
          <a:xfrm>
            <a:off x="5806440" y="4379976"/>
            <a:ext cx="5120640" cy="320040"/>
          </a:xfrm>
          <a:prstGeom prst="rect">
            <a:avLst/>
          </a:prstGeom>
          <a:noFill/>
          <a:ln/>
        </p:spPr>
        <p:txBody>
          <a:bodyPr wrap="square" lIns="0" tIns="0" rIns="0" bIns="0" rtlCol="0" anchor="ctr"/>
          <a:lstStyle/>
          <a:p>
            <a:pPr indent="0" marL="0">
              <a:buNone/>
            </a:pPr>
            <a:r>
              <a:rPr lang="en-US" sz="1150" dirty="0">
                <a:solidFill>
                  <a:srgbClr val="AFA492"/>
                </a:solidFill>
                <a:latin typeface="Calibri" pitchFamily="34" charset="0"/>
                <a:ea typeface="Calibri" pitchFamily="34" charset="-122"/>
                <a:cs typeface="Calibri" pitchFamily="34" charset="-120"/>
              </a:rPr>
              <a:t>Computes item-wise cost and running total</a:t>
            </a:r>
            <a:endParaRPr lang="en-US" sz="1150" dirty="0"/>
          </a:p>
        </p:txBody>
      </p:sp>
      <p:sp>
        <p:nvSpPr>
          <p:cNvPr id="32" name="Shape 30"/>
          <p:cNvSpPr/>
          <p:nvPr/>
        </p:nvSpPr>
        <p:spPr>
          <a:xfrm>
            <a:off x="5577840" y="4855464"/>
            <a:ext cx="5577840" cy="713232"/>
          </a:xfrm>
          <a:prstGeom prst="roundRect">
            <a:avLst>
              <a:gd name="adj" fmla="val 10256"/>
            </a:avLst>
          </a:prstGeom>
          <a:solidFill>
            <a:srgbClr val="2C2419"/>
          </a:solidFill>
          <a:ln w="12700">
            <a:solidFill>
              <a:srgbClr val="3A3126"/>
            </a:solidFill>
            <a:prstDash val="solid"/>
          </a:ln>
        </p:spPr>
      </p:sp>
      <p:sp>
        <p:nvSpPr>
          <p:cNvPr id="33" name="Text 31"/>
          <p:cNvSpPr/>
          <p:nvPr/>
        </p:nvSpPr>
        <p:spPr>
          <a:xfrm>
            <a:off x="5806440" y="4928616"/>
            <a:ext cx="5120640" cy="292608"/>
          </a:xfrm>
          <a:prstGeom prst="rect">
            <a:avLst/>
          </a:prstGeom>
          <a:noFill/>
          <a:ln/>
        </p:spPr>
        <p:txBody>
          <a:bodyPr wrap="square" lIns="0" tIns="0" rIns="0" bIns="0" rtlCol="0" anchor="ctr"/>
          <a:lstStyle/>
          <a:p>
            <a:pPr indent="0" marL="0">
              <a:buNone/>
            </a:pPr>
            <a:r>
              <a:rPr lang="en-US" sz="1350" b="1" dirty="0">
                <a:solidFill>
                  <a:srgbClr val="E67E3A"/>
                </a:solidFill>
                <a:latin typeface="Courier New" pitchFamily="34" charset="0"/>
                <a:ea typeface="Courier New" pitchFamily="34" charset="-122"/>
                <a:cs typeface="Courier New" pitchFamily="34" charset="-120"/>
              </a:rPr>
              <a:t>generateBill()</a:t>
            </a:r>
            <a:endParaRPr lang="en-US" sz="1350" dirty="0"/>
          </a:p>
        </p:txBody>
      </p:sp>
      <p:sp>
        <p:nvSpPr>
          <p:cNvPr id="34" name="Text 32"/>
          <p:cNvSpPr/>
          <p:nvPr/>
        </p:nvSpPr>
        <p:spPr>
          <a:xfrm>
            <a:off x="5806440" y="5221224"/>
            <a:ext cx="5120640" cy="320040"/>
          </a:xfrm>
          <a:prstGeom prst="rect">
            <a:avLst/>
          </a:prstGeom>
          <a:noFill/>
          <a:ln/>
        </p:spPr>
        <p:txBody>
          <a:bodyPr wrap="square" lIns="0" tIns="0" rIns="0" bIns="0" rtlCol="0" anchor="ctr"/>
          <a:lstStyle/>
          <a:p>
            <a:pPr indent="0" marL="0">
              <a:buNone/>
            </a:pPr>
            <a:r>
              <a:rPr lang="en-US" sz="1150" dirty="0">
                <a:solidFill>
                  <a:srgbClr val="AFA492"/>
                </a:solidFill>
                <a:latin typeface="Calibri" pitchFamily="34" charset="0"/>
                <a:ea typeface="Calibri" pitchFamily="34" charset="-122"/>
                <a:cs typeface="Calibri" pitchFamily="34" charset="-120"/>
              </a:rPr>
              <a:t>Prints the final, structured bill / receipt</a:t>
            </a:r>
            <a:endParaRPr lang="en-US" sz="1150" dirty="0"/>
          </a:p>
        </p:txBody>
      </p:sp>
      <p:sp>
        <p:nvSpPr>
          <p:cNvPr id="35" name="Text 33"/>
          <p:cNvSpPr/>
          <p:nvPr/>
        </p:nvSpPr>
        <p:spPr>
          <a:xfrm>
            <a:off x="5577840" y="5852160"/>
            <a:ext cx="5577840" cy="384048"/>
          </a:xfrm>
          <a:prstGeom prst="rect">
            <a:avLst/>
          </a:prstGeom>
          <a:noFill/>
          <a:ln/>
        </p:spPr>
        <p:txBody>
          <a:bodyPr wrap="square" rtlCol="0" anchor="ctr"/>
          <a:lstStyle/>
          <a:p>
            <a:pPr indent="0" marL="0">
              <a:lnSpc>
                <a:spcPct val="120000"/>
              </a:lnSpc>
              <a:buNone/>
            </a:pPr>
            <a:r>
              <a:rPr lang="en-US" sz="950" i="1" dirty="0">
                <a:solidFill>
                  <a:srgbClr val="7C7264"/>
                </a:solidFill>
                <a:latin typeface="Calibri" pitchFamily="34" charset="0"/>
                <a:ea typeface="Calibri" pitchFamily="34" charset="-122"/>
                <a:cs typeface="Calibri" pitchFamily="34" charset="-120"/>
              </a:rPr>
              <a:t>Note: function names are conceptual and illustrate the program's structure; they follow the standard organization of a menu-driven C application.</a:t>
            </a:r>
            <a:endParaRPr lang="en-US" sz="950" dirty="0"/>
          </a:p>
        </p:txBody>
      </p:sp>
      <p:sp>
        <p:nvSpPr>
          <p:cNvPr id="36" name="Text 34"/>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37" name="Text 35"/>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LOGIC</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Billing Calculation</a:t>
            </a:r>
            <a:endParaRPr lang="en-US" sz="3400" dirty="0"/>
          </a:p>
        </p:txBody>
      </p:sp>
      <p:sp>
        <p:nvSpPr>
          <p:cNvPr id="4" name="Shape 2"/>
          <p:cNvSpPr/>
          <p:nvPr/>
        </p:nvSpPr>
        <p:spPr>
          <a:xfrm>
            <a:off x="548640" y="1554480"/>
            <a:ext cx="5212080" cy="914400"/>
          </a:xfrm>
          <a:prstGeom prst="roundRect">
            <a:avLst>
              <a:gd name="adj" fmla="val 10000"/>
            </a:avLst>
          </a:prstGeom>
          <a:solidFill>
            <a:srgbClr val="231D17"/>
          </a:solidFill>
          <a:ln w="12700">
            <a:solidFill>
              <a:srgbClr val="3A3126"/>
            </a:solidFill>
            <a:prstDash val="solid"/>
          </a:ln>
        </p:spPr>
      </p:sp>
      <p:sp>
        <p:nvSpPr>
          <p:cNvPr id="5" name="Text 3"/>
          <p:cNvSpPr/>
          <p:nvPr/>
        </p:nvSpPr>
        <p:spPr>
          <a:xfrm>
            <a:off x="548640" y="1554480"/>
            <a:ext cx="5212080" cy="914400"/>
          </a:xfrm>
          <a:prstGeom prst="rect">
            <a:avLst/>
          </a:prstGeom>
          <a:noFill/>
          <a:ln/>
        </p:spPr>
        <p:txBody>
          <a:bodyPr wrap="square" lIns="0" tIns="0" rIns="0" bIns="0" rtlCol="0" anchor="ctr"/>
          <a:lstStyle/>
          <a:p>
            <a:pPr algn="ctr" indent="0" marL="0">
              <a:buNone/>
            </a:pPr>
            <a:r>
              <a:rPr lang="en-US" sz="1700" b="1" dirty="0">
                <a:solidFill>
                  <a:srgbClr val="E67E3A"/>
                </a:solidFill>
                <a:latin typeface="Courier New" pitchFamily="34" charset="0"/>
                <a:ea typeface="Courier New" pitchFamily="34" charset="-122"/>
                <a:cs typeface="Courier New" pitchFamily="34" charset="-120"/>
              </a:rPr>
              <a:t>Item Total  =  Price  ×  Quantity</a:t>
            </a:r>
            <a:endParaRPr lang="en-US" sz="1700" dirty="0"/>
          </a:p>
        </p:txBody>
      </p:sp>
      <p:sp>
        <p:nvSpPr>
          <p:cNvPr id="6" name="Shape 4"/>
          <p:cNvSpPr/>
          <p:nvPr/>
        </p:nvSpPr>
        <p:spPr>
          <a:xfrm>
            <a:off x="548640" y="2606040"/>
            <a:ext cx="5212080" cy="914400"/>
          </a:xfrm>
          <a:prstGeom prst="roundRect">
            <a:avLst>
              <a:gd name="adj" fmla="val 10000"/>
            </a:avLst>
          </a:prstGeom>
          <a:solidFill>
            <a:srgbClr val="231D17"/>
          </a:solidFill>
          <a:ln w="12700">
            <a:solidFill>
              <a:srgbClr val="3A3126"/>
            </a:solidFill>
            <a:prstDash val="solid"/>
          </a:ln>
        </p:spPr>
      </p:sp>
      <p:sp>
        <p:nvSpPr>
          <p:cNvPr id="7" name="Text 5"/>
          <p:cNvSpPr/>
          <p:nvPr/>
        </p:nvSpPr>
        <p:spPr>
          <a:xfrm>
            <a:off x="548640" y="2606040"/>
            <a:ext cx="5212080" cy="914400"/>
          </a:xfrm>
          <a:prstGeom prst="rect">
            <a:avLst/>
          </a:prstGeom>
          <a:noFill/>
          <a:ln/>
        </p:spPr>
        <p:txBody>
          <a:bodyPr wrap="square" lIns="0" tIns="0" rIns="0" bIns="0" rtlCol="0" anchor="ctr"/>
          <a:lstStyle/>
          <a:p>
            <a:pPr algn="ctr" indent="0" marL="0">
              <a:buNone/>
            </a:pPr>
            <a:r>
              <a:rPr lang="en-US" sz="1700" b="1" dirty="0">
                <a:solidFill>
                  <a:srgbClr val="E67E3A"/>
                </a:solidFill>
                <a:latin typeface="Courier New" pitchFamily="34" charset="0"/>
                <a:ea typeface="Courier New" pitchFamily="34" charset="-122"/>
                <a:cs typeface="Courier New" pitchFamily="34" charset="-120"/>
              </a:rPr>
              <a:t>Grand Total  =  Σ ( Item Total )</a:t>
            </a:r>
            <a:endParaRPr lang="en-US" sz="1700" dirty="0"/>
          </a:p>
        </p:txBody>
      </p:sp>
      <p:sp>
        <p:nvSpPr>
          <p:cNvPr id="8" name="Text 6"/>
          <p:cNvSpPr/>
          <p:nvPr/>
        </p:nvSpPr>
        <p:spPr>
          <a:xfrm>
            <a:off x="548640" y="3794760"/>
            <a:ext cx="5212080" cy="1463040"/>
          </a:xfrm>
          <a:prstGeom prst="rect">
            <a:avLst/>
          </a:prstGeom>
          <a:noFill/>
          <a:ln/>
        </p:spPr>
        <p:txBody>
          <a:bodyPr wrap="square" rtlCol="0" anchor="ctr"/>
          <a:lstStyle/>
          <a:p>
            <a:pPr indent="0" marL="0">
              <a:lnSpc>
                <a:spcPct val="130000"/>
              </a:lnSpc>
              <a:buNone/>
            </a:pPr>
            <a:r>
              <a:rPr lang="en-US" sz="1300" dirty="0">
                <a:solidFill>
                  <a:srgbClr val="AFA492"/>
                </a:solidFill>
                <a:latin typeface="Calibri" pitchFamily="34" charset="0"/>
                <a:ea typeface="Calibri" pitchFamily="34" charset="-122"/>
                <a:cs typeface="Calibri" pitchFamily="34" charset="-120"/>
              </a:rPr>
              <a:t>Each ordered item's cost is computed by multiplying its unit price by the quantity entered. The system accumulates every item total into a single running sum to arrive at the grand total for the bill.</a:t>
            </a:r>
            <a:endParaRPr lang="en-US" sz="1300" dirty="0"/>
          </a:p>
        </p:txBody>
      </p:sp>
      <p:sp>
        <p:nvSpPr>
          <p:cNvPr id="9" name="Shape 7"/>
          <p:cNvSpPr/>
          <p:nvPr/>
        </p:nvSpPr>
        <p:spPr>
          <a:xfrm>
            <a:off x="6309360" y="1554480"/>
            <a:ext cx="5349240" cy="4251960"/>
          </a:xfrm>
          <a:prstGeom prst="roundRect">
            <a:avLst>
              <a:gd name="adj" fmla="val 2151"/>
            </a:avLst>
          </a:prstGeom>
          <a:solidFill>
            <a:srgbClr val="231D17"/>
          </a:solidFill>
          <a:ln w="12700">
            <a:solidFill>
              <a:srgbClr val="3A3126"/>
            </a:solidFill>
            <a:prstDash val="solid"/>
          </a:ln>
        </p:spPr>
      </p:sp>
      <p:sp>
        <p:nvSpPr>
          <p:cNvPr id="10" name="Text 8"/>
          <p:cNvSpPr/>
          <p:nvPr/>
        </p:nvSpPr>
        <p:spPr>
          <a:xfrm>
            <a:off x="6629400" y="1828800"/>
            <a:ext cx="4572000" cy="320040"/>
          </a:xfrm>
          <a:prstGeom prst="rect">
            <a:avLst/>
          </a:prstGeom>
          <a:noFill/>
          <a:ln/>
        </p:spPr>
        <p:txBody>
          <a:bodyPr wrap="square" rtlCol="0" anchor="ctr"/>
          <a:lstStyle/>
          <a:p>
            <a:pPr indent="0" marL="0">
              <a:buNone/>
            </a:pPr>
            <a:r>
              <a:rPr lang="en-US" sz="1200" b="1" spc="150" kern="0" dirty="0">
                <a:solidFill>
                  <a:srgbClr val="E67E3A"/>
                </a:solidFill>
                <a:latin typeface="Calibri" pitchFamily="34" charset="0"/>
                <a:ea typeface="Calibri" pitchFamily="34" charset="-122"/>
                <a:cs typeface="Calibri" pitchFamily="34" charset="-120"/>
              </a:rPr>
              <a:t>EXAMPLE BILL</a:t>
            </a:r>
            <a:endParaRPr lang="en-US" sz="1200" dirty="0"/>
          </a:p>
        </p:txBody>
      </p:sp>
      <p:sp>
        <p:nvSpPr>
          <p:cNvPr id="11" name="Text 9"/>
          <p:cNvSpPr/>
          <p:nvPr/>
        </p:nvSpPr>
        <p:spPr>
          <a:xfrm>
            <a:off x="6629400" y="2331720"/>
            <a:ext cx="1645920" cy="292608"/>
          </a:xfrm>
          <a:prstGeom prst="rect">
            <a:avLst/>
          </a:prstGeom>
          <a:noFill/>
          <a:ln/>
        </p:spPr>
        <p:txBody>
          <a:bodyPr wrap="square" lIns="0" tIns="0" rIns="0" bIns="0" rtlCol="0" anchor="ctr"/>
          <a:lstStyle/>
          <a:p>
            <a:pPr indent="0" marL="0">
              <a:buNone/>
            </a:pPr>
            <a:r>
              <a:rPr lang="en-US" sz="1050" b="1" spc="100" kern="0" dirty="0">
                <a:solidFill>
                  <a:srgbClr val="7C7264"/>
                </a:solidFill>
                <a:latin typeface="Calibri" pitchFamily="34" charset="0"/>
                <a:ea typeface="Calibri" pitchFamily="34" charset="-122"/>
                <a:cs typeface="Calibri" pitchFamily="34" charset="-120"/>
              </a:rPr>
              <a:t>ITEM</a:t>
            </a:r>
            <a:endParaRPr lang="en-US" sz="1050" dirty="0"/>
          </a:p>
        </p:txBody>
      </p:sp>
      <p:sp>
        <p:nvSpPr>
          <p:cNvPr id="12" name="Text 10"/>
          <p:cNvSpPr/>
          <p:nvPr/>
        </p:nvSpPr>
        <p:spPr>
          <a:xfrm>
            <a:off x="8275320" y="2331720"/>
            <a:ext cx="1005840" cy="292608"/>
          </a:xfrm>
          <a:prstGeom prst="rect">
            <a:avLst/>
          </a:prstGeom>
          <a:noFill/>
          <a:ln/>
        </p:spPr>
        <p:txBody>
          <a:bodyPr wrap="square" lIns="0" tIns="0" rIns="0" bIns="0" rtlCol="0" anchor="ctr"/>
          <a:lstStyle/>
          <a:p>
            <a:pPr indent="0" marL="0">
              <a:buNone/>
            </a:pPr>
            <a:r>
              <a:rPr lang="en-US" sz="1050" b="1" spc="100" kern="0" dirty="0">
                <a:solidFill>
                  <a:srgbClr val="7C7264"/>
                </a:solidFill>
                <a:latin typeface="Calibri" pitchFamily="34" charset="0"/>
                <a:ea typeface="Calibri" pitchFamily="34" charset="-122"/>
                <a:cs typeface="Calibri" pitchFamily="34" charset="-120"/>
              </a:rPr>
              <a:t>PRICE</a:t>
            </a:r>
            <a:endParaRPr lang="en-US" sz="1050" dirty="0"/>
          </a:p>
        </p:txBody>
      </p:sp>
      <p:sp>
        <p:nvSpPr>
          <p:cNvPr id="13" name="Text 11"/>
          <p:cNvSpPr/>
          <p:nvPr/>
        </p:nvSpPr>
        <p:spPr>
          <a:xfrm>
            <a:off x="9281160" y="2331720"/>
            <a:ext cx="731520" cy="292608"/>
          </a:xfrm>
          <a:prstGeom prst="rect">
            <a:avLst/>
          </a:prstGeom>
          <a:noFill/>
          <a:ln/>
        </p:spPr>
        <p:txBody>
          <a:bodyPr wrap="square" lIns="0" tIns="0" rIns="0" bIns="0" rtlCol="0" anchor="ctr"/>
          <a:lstStyle/>
          <a:p>
            <a:pPr indent="0" marL="0">
              <a:buNone/>
            </a:pPr>
            <a:r>
              <a:rPr lang="en-US" sz="1050" b="1" spc="100" kern="0" dirty="0">
                <a:solidFill>
                  <a:srgbClr val="7C7264"/>
                </a:solidFill>
                <a:latin typeface="Calibri" pitchFamily="34" charset="0"/>
                <a:ea typeface="Calibri" pitchFamily="34" charset="-122"/>
                <a:cs typeface="Calibri" pitchFamily="34" charset="-120"/>
              </a:rPr>
              <a:t>QTY</a:t>
            </a:r>
            <a:endParaRPr lang="en-US" sz="1050" dirty="0"/>
          </a:p>
        </p:txBody>
      </p:sp>
      <p:sp>
        <p:nvSpPr>
          <p:cNvPr id="14" name="Text 12"/>
          <p:cNvSpPr/>
          <p:nvPr/>
        </p:nvSpPr>
        <p:spPr>
          <a:xfrm>
            <a:off x="10012680" y="2331720"/>
            <a:ext cx="1325880" cy="292608"/>
          </a:xfrm>
          <a:prstGeom prst="rect">
            <a:avLst/>
          </a:prstGeom>
          <a:noFill/>
          <a:ln/>
        </p:spPr>
        <p:txBody>
          <a:bodyPr wrap="square" lIns="0" tIns="0" rIns="0" bIns="0" rtlCol="0" anchor="ctr"/>
          <a:lstStyle/>
          <a:p>
            <a:pPr indent="0" marL="0">
              <a:buNone/>
            </a:pPr>
            <a:r>
              <a:rPr lang="en-US" sz="1050" b="1" spc="100" kern="0" dirty="0">
                <a:solidFill>
                  <a:srgbClr val="7C7264"/>
                </a:solidFill>
                <a:latin typeface="Calibri" pitchFamily="34" charset="0"/>
                <a:ea typeface="Calibri" pitchFamily="34" charset="-122"/>
                <a:cs typeface="Calibri" pitchFamily="34" charset="-120"/>
              </a:rPr>
              <a:t>AMOUNT</a:t>
            </a:r>
            <a:endParaRPr lang="en-US" sz="1050" dirty="0"/>
          </a:p>
        </p:txBody>
      </p:sp>
      <p:sp>
        <p:nvSpPr>
          <p:cNvPr id="15" name="Shape 13"/>
          <p:cNvSpPr/>
          <p:nvPr/>
        </p:nvSpPr>
        <p:spPr>
          <a:xfrm>
            <a:off x="6629400" y="2660904"/>
            <a:ext cx="4709160" cy="0"/>
          </a:xfrm>
          <a:prstGeom prst="line">
            <a:avLst/>
          </a:prstGeom>
          <a:noFill/>
          <a:ln w="12700">
            <a:solidFill>
              <a:srgbClr val="3A3126"/>
            </a:solidFill>
            <a:prstDash val="solid"/>
          </a:ln>
        </p:spPr>
      </p:sp>
      <p:sp>
        <p:nvSpPr>
          <p:cNvPr id="16" name="Text 14"/>
          <p:cNvSpPr/>
          <p:nvPr/>
        </p:nvSpPr>
        <p:spPr>
          <a:xfrm>
            <a:off x="6629400" y="2834640"/>
            <a:ext cx="16459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Burger</a:t>
            </a:r>
            <a:endParaRPr lang="en-US" sz="1300" dirty="0"/>
          </a:p>
        </p:txBody>
      </p:sp>
      <p:sp>
        <p:nvSpPr>
          <p:cNvPr id="17" name="Text 15"/>
          <p:cNvSpPr/>
          <p:nvPr/>
        </p:nvSpPr>
        <p:spPr>
          <a:xfrm>
            <a:off x="8275320" y="2834640"/>
            <a:ext cx="100584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₹120</a:t>
            </a:r>
            <a:endParaRPr lang="en-US" sz="1250" dirty="0"/>
          </a:p>
        </p:txBody>
      </p:sp>
      <p:sp>
        <p:nvSpPr>
          <p:cNvPr id="18" name="Text 16"/>
          <p:cNvSpPr/>
          <p:nvPr/>
        </p:nvSpPr>
        <p:spPr>
          <a:xfrm>
            <a:off x="9281160" y="2834640"/>
            <a:ext cx="73152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2</a:t>
            </a:r>
            <a:endParaRPr lang="en-US" sz="1250" dirty="0"/>
          </a:p>
        </p:txBody>
      </p:sp>
      <p:sp>
        <p:nvSpPr>
          <p:cNvPr id="19" name="Text 17"/>
          <p:cNvSpPr/>
          <p:nvPr/>
        </p:nvSpPr>
        <p:spPr>
          <a:xfrm>
            <a:off x="10012680" y="2834640"/>
            <a:ext cx="1325880" cy="365760"/>
          </a:xfrm>
          <a:prstGeom prst="rect">
            <a:avLst/>
          </a:prstGeom>
          <a:noFill/>
          <a:ln/>
        </p:spPr>
        <p:txBody>
          <a:bodyPr wrap="square" lIns="0" tIns="0" rIns="0" bIns="0" rtlCol="0" anchor="ctr"/>
          <a:lstStyle/>
          <a:p>
            <a:pPr indent="0" marL="0">
              <a:buNone/>
            </a:pPr>
            <a:r>
              <a:rPr lang="en-US" sz="1300" b="1" dirty="0">
                <a:solidFill>
                  <a:srgbClr val="F6F1E9"/>
                </a:solidFill>
                <a:latin typeface="Courier New" pitchFamily="34" charset="0"/>
                <a:ea typeface="Courier New" pitchFamily="34" charset="-122"/>
                <a:cs typeface="Courier New" pitchFamily="34" charset="-120"/>
              </a:rPr>
              <a:t>₹240</a:t>
            </a:r>
            <a:endParaRPr lang="en-US" sz="1300" dirty="0"/>
          </a:p>
        </p:txBody>
      </p:sp>
      <p:sp>
        <p:nvSpPr>
          <p:cNvPr id="20" name="Text 18"/>
          <p:cNvSpPr/>
          <p:nvPr/>
        </p:nvSpPr>
        <p:spPr>
          <a:xfrm>
            <a:off x="6629400" y="3291840"/>
            <a:ext cx="16459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Pizza</a:t>
            </a:r>
            <a:endParaRPr lang="en-US" sz="1300" dirty="0"/>
          </a:p>
        </p:txBody>
      </p:sp>
      <p:sp>
        <p:nvSpPr>
          <p:cNvPr id="21" name="Text 19"/>
          <p:cNvSpPr/>
          <p:nvPr/>
        </p:nvSpPr>
        <p:spPr>
          <a:xfrm>
            <a:off x="8275320" y="3291840"/>
            <a:ext cx="100584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₹250</a:t>
            </a:r>
            <a:endParaRPr lang="en-US" sz="1250" dirty="0"/>
          </a:p>
        </p:txBody>
      </p:sp>
      <p:sp>
        <p:nvSpPr>
          <p:cNvPr id="22" name="Text 20"/>
          <p:cNvSpPr/>
          <p:nvPr/>
        </p:nvSpPr>
        <p:spPr>
          <a:xfrm>
            <a:off x="9281160" y="3291840"/>
            <a:ext cx="73152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1</a:t>
            </a:r>
            <a:endParaRPr lang="en-US" sz="1250" dirty="0"/>
          </a:p>
        </p:txBody>
      </p:sp>
      <p:sp>
        <p:nvSpPr>
          <p:cNvPr id="23" name="Text 21"/>
          <p:cNvSpPr/>
          <p:nvPr/>
        </p:nvSpPr>
        <p:spPr>
          <a:xfrm>
            <a:off x="10012680" y="3291840"/>
            <a:ext cx="1325880" cy="365760"/>
          </a:xfrm>
          <a:prstGeom prst="rect">
            <a:avLst/>
          </a:prstGeom>
          <a:noFill/>
          <a:ln/>
        </p:spPr>
        <p:txBody>
          <a:bodyPr wrap="square" lIns="0" tIns="0" rIns="0" bIns="0" rtlCol="0" anchor="ctr"/>
          <a:lstStyle/>
          <a:p>
            <a:pPr indent="0" marL="0">
              <a:buNone/>
            </a:pPr>
            <a:r>
              <a:rPr lang="en-US" sz="1300" b="1" dirty="0">
                <a:solidFill>
                  <a:srgbClr val="F6F1E9"/>
                </a:solidFill>
                <a:latin typeface="Courier New" pitchFamily="34" charset="0"/>
                <a:ea typeface="Courier New" pitchFamily="34" charset="-122"/>
                <a:cs typeface="Courier New" pitchFamily="34" charset="-120"/>
              </a:rPr>
              <a:t>₹250</a:t>
            </a:r>
            <a:endParaRPr lang="en-US" sz="1300" dirty="0"/>
          </a:p>
        </p:txBody>
      </p:sp>
      <p:sp>
        <p:nvSpPr>
          <p:cNvPr id="24" name="Text 22"/>
          <p:cNvSpPr/>
          <p:nvPr/>
        </p:nvSpPr>
        <p:spPr>
          <a:xfrm>
            <a:off x="6629400" y="3749040"/>
            <a:ext cx="1645920" cy="365760"/>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Soft Drink</a:t>
            </a:r>
            <a:endParaRPr lang="en-US" sz="1300" dirty="0"/>
          </a:p>
        </p:txBody>
      </p:sp>
      <p:sp>
        <p:nvSpPr>
          <p:cNvPr id="25" name="Text 23"/>
          <p:cNvSpPr/>
          <p:nvPr/>
        </p:nvSpPr>
        <p:spPr>
          <a:xfrm>
            <a:off x="8275320" y="3749040"/>
            <a:ext cx="100584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₹60</a:t>
            </a:r>
            <a:endParaRPr lang="en-US" sz="1250" dirty="0"/>
          </a:p>
        </p:txBody>
      </p:sp>
      <p:sp>
        <p:nvSpPr>
          <p:cNvPr id="26" name="Text 24"/>
          <p:cNvSpPr/>
          <p:nvPr/>
        </p:nvSpPr>
        <p:spPr>
          <a:xfrm>
            <a:off x="9281160" y="3749040"/>
            <a:ext cx="731520" cy="365760"/>
          </a:xfrm>
          <a:prstGeom prst="rect">
            <a:avLst/>
          </a:prstGeom>
          <a:noFill/>
          <a:ln/>
        </p:spPr>
        <p:txBody>
          <a:bodyPr wrap="square" lIns="0" tIns="0" rIns="0" bIns="0" rtlCol="0" anchor="ctr"/>
          <a:lstStyle/>
          <a:p>
            <a:pPr indent="0" marL="0">
              <a:buNone/>
            </a:pPr>
            <a:r>
              <a:rPr lang="en-US" sz="1250" dirty="0">
                <a:solidFill>
                  <a:srgbClr val="AFA492"/>
                </a:solidFill>
                <a:latin typeface="Courier New" pitchFamily="34" charset="0"/>
                <a:ea typeface="Courier New" pitchFamily="34" charset="-122"/>
                <a:cs typeface="Courier New" pitchFamily="34" charset="-120"/>
              </a:rPr>
              <a:t>2</a:t>
            </a:r>
            <a:endParaRPr lang="en-US" sz="1250" dirty="0"/>
          </a:p>
        </p:txBody>
      </p:sp>
      <p:sp>
        <p:nvSpPr>
          <p:cNvPr id="27" name="Text 25"/>
          <p:cNvSpPr/>
          <p:nvPr/>
        </p:nvSpPr>
        <p:spPr>
          <a:xfrm>
            <a:off x="10012680" y="3749040"/>
            <a:ext cx="1325880" cy="365760"/>
          </a:xfrm>
          <a:prstGeom prst="rect">
            <a:avLst/>
          </a:prstGeom>
          <a:noFill/>
          <a:ln/>
        </p:spPr>
        <p:txBody>
          <a:bodyPr wrap="square" lIns="0" tIns="0" rIns="0" bIns="0" rtlCol="0" anchor="ctr"/>
          <a:lstStyle/>
          <a:p>
            <a:pPr indent="0" marL="0">
              <a:buNone/>
            </a:pPr>
            <a:r>
              <a:rPr lang="en-US" sz="1300" b="1" dirty="0">
                <a:solidFill>
                  <a:srgbClr val="F6F1E9"/>
                </a:solidFill>
                <a:latin typeface="Courier New" pitchFamily="34" charset="0"/>
                <a:ea typeface="Courier New" pitchFamily="34" charset="-122"/>
                <a:cs typeface="Courier New" pitchFamily="34" charset="-120"/>
              </a:rPr>
              <a:t>₹120</a:t>
            </a:r>
            <a:endParaRPr lang="en-US" sz="1300" dirty="0"/>
          </a:p>
        </p:txBody>
      </p:sp>
      <p:sp>
        <p:nvSpPr>
          <p:cNvPr id="28" name="Shape 26"/>
          <p:cNvSpPr/>
          <p:nvPr/>
        </p:nvSpPr>
        <p:spPr>
          <a:xfrm>
            <a:off x="6629400" y="4279392"/>
            <a:ext cx="4709160" cy="0"/>
          </a:xfrm>
          <a:prstGeom prst="line">
            <a:avLst/>
          </a:prstGeom>
          <a:noFill/>
          <a:ln w="12700">
            <a:solidFill>
              <a:srgbClr val="3A3126"/>
            </a:solidFill>
            <a:prstDash val="solid"/>
          </a:ln>
        </p:spPr>
      </p:sp>
      <p:sp>
        <p:nvSpPr>
          <p:cNvPr id="29" name="Shape 27"/>
          <p:cNvSpPr/>
          <p:nvPr/>
        </p:nvSpPr>
        <p:spPr>
          <a:xfrm>
            <a:off x="6629400" y="4480560"/>
            <a:ext cx="4709160" cy="685800"/>
          </a:xfrm>
          <a:prstGeom prst="roundRect">
            <a:avLst>
              <a:gd name="adj" fmla="val 10667"/>
            </a:avLst>
          </a:prstGeom>
          <a:solidFill>
            <a:srgbClr val="E67E3A"/>
          </a:solidFill>
          <a:ln/>
        </p:spPr>
      </p:sp>
      <p:sp>
        <p:nvSpPr>
          <p:cNvPr id="30" name="Text 28"/>
          <p:cNvSpPr/>
          <p:nvPr/>
        </p:nvSpPr>
        <p:spPr>
          <a:xfrm>
            <a:off x="6858000" y="4480560"/>
            <a:ext cx="2011680" cy="685800"/>
          </a:xfrm>
          <a:prstGeom prst="rect">
            <a:avLst/>
          </a:prstGeom>
          <a:noFill/>
          <a:ln/>
        </p:spPr>
        <p:txBody>
          <a:bodyPr wrap="square" lIns="0" tIns="0" rIns="0" bIns="0" rtlCol="0" anchor="ctr"/>
          <a:lstStyle/>
          <a:p>
            <a:pPr indent="0" marL="0">
              <a:buNone/>
            </a:pPr>
            <a:r>
              <a:rPr lang="en-US" sz="1300" b="1" spc="100" kern="0" dirty="0">
                <a:solidFill>
                  <a:srgbClr val="1A1512"/>
                </a:solidFill>
                <a:latin typeface="Calibri" pitchFamily="34" charset="0"/>
                <a:ea typeface="Calibri" pitchFamily="34" charset="-122"/>
                <a:cs typeface="Calibri" pitchFamily="34" charset="-120"/>
              </a:rPr>
              <a:t>GRAND TOTAL</a:t>
            </a:r>
            <a:endParaRPr lang="en-US" sz="1300" dirty="0"/>
          </a:p>
        </p:txBody>
      </p:sp>
      <p:sp>
        <p:nvSpPr>
          <p:cNvPr id="31" name="Text 29"/>
          <p:cNvSpPr/>
          <p:nvPr/>
        </p:nvSpPr>
        <p:spPr>
          <a:xfrm>
            <a:off x="8961120" y="4480560"/>
            <a:ext cx="2377440" cy="685800"/>
          </a:xfrm>
          <a:prstGeom prst="rect">
            <a:avLst/>
          </a:prstGeom>
          <a:noFill/>
          <a:ln/>
        </p:spPr>
        <p:txBody>
          <a:bodyPr wrap="square" lIns="0" tIns="0" rIns="0" bIns="0" rtlCol="0" anchor="ctr"/>
          <a:lstStyle/>
          <a:p>
            <a:pPr algn="r" indent="0" marL="0">
              <a:buNone/>
            </a:pPr>
            <a:r>
              <a:rPr lang="en-US" sz="2200" b="1" dirty="0">
                <a:solidFill>
                  <a:srgbClr val="1A1512"/>
                </a:solidFill>
                <a:latin typeface="Courier New" pitchFamily="34" charset="0"/>
                <a:ea typeface="Courier New" pitchFamily="34" charset="-122"/>
                <a:cs typeface="Courier New" pitchFamily="34" charset="-120"/>
              </a:rPr>
              <a:t>₹610</a:t>
            </a:r>
            <a:endParaRPr lang="en-US" sz="2200" dirty="0"/>
          </a:p>
        </p:txBody>
      </p:sp>
      <p:sp>
        <p:nvSpPr>
          <p:cNvPr id="32" name="Text 30"/>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33" name="Text 31"/>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09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DEMONSTRATION</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Sample Console Output</a:t>
            </a:r>
            <a:endParaRPr lang="en-US" sz="3400" dirty="0"/>
          </a:p>
        </p:txBody>
      </p:sp>
      <p:sp>
        <p:nvSpPr>
          <p:cNvPr id="4" name="Shape 2"/>
          <p:cNvSpPr/>
          <p:nvPr/>
        </p:nvSpPr>
        <p:spPr>
          <a:xfrm>
            <a:off x="1691640" y="1371600"/>
            <a:ext cx="8778240" cy="4892040"/>
          </a:xfrm>
          <a:prstGeom prst="roundRect">
            <a:avLst>
              <a:gd name="adj" fmla="val 2243"/>
            </a:avLst>
          </a:prstGeom>
          <a:solidFill>
            <a:srgbClr val="0E0C09"/>
          </a:solidFill>
          <a:ln w="12700">
            <a:solidFill>
              <a:srgbClr val="3A3126"/>
            </a:solidFill>
            <a:prstDash val="solid"/>
          </a:ln>
        </p:spPr>
      </p:sp>
      <p:sp>
        <p:nvSpPr>
          <p:cNvPr id="5" name="Shape 3"/>
          <p:cNvSpPr/>
          <p:nvPr/>
        </p:nvSpPr>
        <p:spPr>
          <a:xfrm>
            <a:off x="1691640" y="1371600"/>
            <a:ext cx="8778240" cy="384048"/>
          </a:xfrm>
          <a:prstGeom prst="roundRect">
            <a:avLst>
              <a:gd name="adj" fmla="val 28571"/>
            </a:avLst>
          </a:prstGeom>
          <a:solidFill>
            <a:srgbClr val="2C2419"/>
          </a:solidFill>
          <a:ln/>
        </p:spPr>
      </p:sp>
      <p:sp>
        <p:nvSpPr>
          <p:cNvPr id="6" name="Shape 4"/>
          <p:cNvSpPr/>
          <p:nvPr/>
        </p:nvSpPr>
        <p:spPr>
          <a:xfrm>
            <a:off x="1691640" y="1563624"/>
            <a:ext cx="8778240" cy="192024"/>
          </a:xfrm>
          <a:prstGeom prst="rect">
            <a:avLst/>
          </a:prstGeom>
          <a:solidFill>
            <a:srgbClr val="2C2419"/>
          </a:solidFill>
          <a:ln/>
        </p:spPr>
      </p:sp>
      <p:sp>
        <p:nvSpPr>
          <p:cNvPr id="7" name="Shape 5"/>
          <p:cNvSpPr/>
          <p:nvPr/>
        </p:nvSpPr>
        <p:spPr>
          <a:xfrm>
            <a:off x="1920240" y="1499616"/>
            <a:ext cx="128016" cy="128016"/>
          </a:xfrm>
          <a:prstGeom prst="ellipse">
            <a:avLst/>
          </a:prstGeom>
          <a:solidFill>
            <a:srgbClr val="C97B6B"/>
          </a:solidFill>
          <a:ln/>
        </p:spPr>
      </p:sp>
      <p:sp>
        <p:nvSpPr>
          <p:cNvPr id="8" name="Shape 6"/>
          <p:cNvSpPr/>
          <p:nvPr/>
        </p:nvSpPr>
        <p:spPr>
          <a:xfrm>
            <a:off x="2176272" y="1499616"/>
            <a:ext cx="128016" cy="128016"/>
          </a:xfrm>
          <a:prstGeom prst="ellipse">
            <a:avLst/>
          </a:prstGeom>
          <a:solidFill>
            <a:srgbClr val="E67E3A"/>
          </a:solidFill>
          <a:ln/>
        </p:spPr>
      </p:sp>
      <p:sp>
        <p:nvSpPr>
          <p:cNvPr id="9" name="Shape 7"/>
          <p:cNvSpPr/>
          <p:nvPr/>
        </p:nvSpPr>
        <p:spPr>
          <a:xfrm>
            <a:off x="2432304" y="1499616"/>
            <a:ext cx="128016" cy="128016"/>
          </a:xfrm>
          <a:prstGeom prst="ellipse">
            <a:avLst/>
          </a:prstGeom>
          <a:solidFill>
            <a:srgbClr val="8FB996"/>
          </a:solidFill>
          <a:ln/>
        </p:spPr>
      </p:sp>
      <p:sp>
        <p:nvSpPr>
          <p:cNvPr id="10" name="Text 8"/>
          <p:cNvSpPr/>
          <p:nvPr/>
        </p:nvSpPr>
        <p:spPr>
          <a:xfrm>
            <a:off x="1691640" y="1371600"/>
            <a:ext cx="8778240" cy="384048"/>
          </a:xfrm>
          <a:prstGeom prst="rect">
            <a:avLst/>
          </a:prstGeom>
          <a:noFill/>
          <a:ln/>
        </p:spPr>
        <p:txBody>
          <a:bodyPr wrap="square" lIns="0" tIns="0" rIns="0" bIns="0" rtlCol="0" anchor="ctr"/>
          <a:lstStyle/>
          <a:p>
            <a:pPr algn="ctr" indent="0" marL="0">
              <a:buNone/>
            </a:pPr>
            <a:r>
              <a:rPr lang="en-US" sz="1050" dirty="0">
                <a:solidFill>
                  <a:srgbClr val="AFA492"/>
                </a:solidFill>
                <a:latin typeface="Courier New" pitchFamily="34" charset="0"/>
                <a:ea typeface="Courier New" pitchFamily="34" charset="-122"/>
                <a:cs typeface="Courier New" pitchFamily="34" charset="-120"/>
              </a:rPr>
              <a:t>billing.exe</a:t>
            </a:r>
            <a:endParaRPr lang="en-US" sz="1050" dirty="0"/>
          </a:p>
        </p:txBody>
      </p:sp>
      <p:sp>
        <p:nvSpPr>
          <p:cNvPr id="11" name="Text 9"/>
          <p:cNvSpPr/>
          <p:nvPr/>
        </p:nvSpPr>
        <p:spPr>
          <a:xfrm>
            <a:off x="2103120" y="1874520"/>
            <a:ext cx="7955280" cy="4206240"/>
          </a:xfrm>
          <a:prstGeom prst="rect">
            <a:avLst/>
          </a:prstGeom>
          <a:noFill/>
          <a:ln/>
        </p:spPr>
        <p:txBody>
          <a:bodyPr wrap="square" lIns="0" tIns="0" rIns="0" bIns="0" rtlCol="0" anchor="t"/>
          <a:lstStyle/>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       RESTAURANT BILLING SYSTEM</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1. Burger           ₹120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2. Pizza            ₹250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3. Soft Drink        ₹60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4. French Fries      ₹90</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Enter your choice: 1</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Enter quantity: 2</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Add another item? Y</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Enter your choice: 3</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Enter quantity: 2</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              FINAL BILL</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Burger        2 x ₹120  =  ₹240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Soft Drink    2 x ₹60   =  ₹120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TOTAL                      ₹360</a:t>
            </a: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a:t>
            </a:r>
            <a:endParaRPr lang="en-US" sz="1050" dirty="0"/>
          </a:p>
          <a:p>
            <a:pPr indent="0" marL="0">
              <a:lnSpc>
                <a:spcPct val="105000"/>
              </a:lnSpc>
              <a:buNone/>
            </a:pPr>
            <a:endParaRPr lang="en-US" sz="1050" dirty="0"/>
          </a:p>
          <a:p>
            <a:pPr indent="0" marL="0">
              <a:lnSpc>
                <a:spcPct val="105000"/>
              </a:lnSpc>
              <a:buNone/>
            </a:pPr>
            <a:r>
              <a:rPr lang="en-US" sz="1050" dirty="0">
                <a:solidFill>
                  <a:srgbClr val="D8F0DC"/>
                </a:solidFill>
                <a:latin typeface="Courier New" pitchFamily="34" charset="0"/>
                <a:ea typeface="Courier New" pitchFamily="34" charset="-122"/>
                <a:cs typeface="Courier New" pitchFamily="34" charset="-120"/>
              </a:rPr>
              <a:t>Thank you! Visit Again.</a:t>
            </a:r>
            <a:endParaRPr lang="en-US" sz="1050" dirty="0"/>
          </a:p>
        </p:txBody>
      </p:sp>
      <p:sp>
        <p:nvSpPr>
          <p:cNvPr id="12" name="Text 10"/>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13" name="Text 11"/>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Advantages &amp; Limitations</a:t>
            </a:r>
            <a:endParaRPr lang="en-US" sz="3400" dirty="0"/>
          </a:p>
        </p:txBody>
      </p:sp>
      <p:sp>
        <p:nvSpPr>
          <p:cNvPr id="4" name="Shape 2"/>
          <p:cNvSpPr/>
          <p:nvPr/>
        </p:nvSpPr>
        <p:spPr>
          <a:xfrm>
            <a:off x="548640" y="1554480"/>
            <a:ext cx="5349240" cy="4709160"/>
          </a:xfrm>
          <a:prstGeom prst="roundRect">
            <a:avLst>
              <a:gd name="adj" fmla="val 2330"/>
            </a:avLst>
          </a:prstGeom>
          <a:solidFill>
            <a:srgbClr val="231D17"/>
          </a:solidFill>
          <a:ln w="15875">
            <a:solidFill>
              <a:srgbClr val="8FB996"/>
            </a:solidFill>
            <a:prstDash val="solid"/>
          </a:ln>
        </p:spPr>
      </p:sp>
      <p:sp>
        <p:nvSpPr>
          <p:cNvPr id="5" name="Text 3"/>
          <p:cNvSpPr/>
          <p:nvPr/>
        </p:nvSpPr>
        <p:spPr>
          <a:xfrm>
            <a:off x="914400" y="1874520"/>
            <a:ext cx="3657600" cy="320040"/>
          </a:xfrm>
          <a:prstGeom prst="rect">
            <a:avLst/>
          </a:prstGeom>
          <a:noFill/>
          <a:ln/>
        </p:spPr>
        <p:txBody>
          <a:bodyPr wrap="square" rtlCol="0" anchor="ctr"/>
          <a:lstStyle/>
          <a:p>
            <a:pPr indent="0" marL="0">
              <a:buNone/>
            </a:pPr>
            <a:r>
              <a:rPr lang="en-US" sz="1400" b="1" spc="150" kern="0" dirty="0">
                <a:solidFill>
                  <a:srgbClr val="8FB996"/>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914400" y="2423160"/>
            <a:ext cx="256032" cy="256032"/>
          </a:xfrm>
          <a:prstGeom prst="ellipse">
            <a:avLst/>
          </a:prstGeom>
          <a:solidFill>
            <a:srgbClr val="2C2419"/>
          </a:solidFill>
          <a:ln w="12700">
            <a:solidFill>
              <a:srgbClr val="8FB996"/>
            </a:solidFill>
            <a:prstDash val="solid"/>
          </a:ln>
        </p:spPr>
      </p:sp>
      <p:sp>
        <p:nvSpPr>
          <p:cNvPr id="7" name="Text 5"/>
          <p:cNvSpPr/>
          <p:nvPr/>
        </p:nvSpPr>
        <p:spPr>
          <a:xfrm>
            <a:off x="914400" y="242316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325880" y="236829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Faster billing</a:t>
            </a:r>
            <a:endParaRPr lang="en-US" sz="1300" dirty="0"/>
          </a:p>
        </p:txBody>
      </p:sp>
      <p:sp>
        <p:nvSpPr>
          <p:cNvPr id="9" name="Shape 7"/>
          <p:cNvSpPr/>
          <p:nvPr/>
        </p:nvSpPr>
        <p:spPr>
          <a:xfrm>
            <a:off x="914400" y="3017520"/>
            <a:ext cx="256032" cy="256032"/>
          </a:xfrm>
          <a:prstGeom prst="ellipse">
            <a:avLst/>
          </a:prstGeom>
          <a:solidFill>
            <a:srgbClr val="2C2419"/>
          </a:solidFill>
          <a:ln w="12700">
            <a:solidFill>
              <a:srgbClr val="8FB996"/>
            </a:solidFill>
            <a:prstDash val="solid"/>
          </a:ln>
        </p:spPr>
      </p:sp>
      <p:sp>
        <p:nvSpPr>
          <p:cNvPr id="10" name="Text 8"/>
          <p:cNvSpPr/>
          <p:nvPr/>
        </p:nvSpPr>
        <p:spPr>
          <a:xfrm>
            <a:off x="914400" y="301752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325880" y="296265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Reduces calculation errors</a:t>
            </a:r>
            <a:endParaRPr lang="en-US" sz="1300" dirty="0"/>
          </a:p>
        </p:txBody>
      </p:sp>
      <p:sp>
        <p:nvSpPr>
          <p:cNvPr id="12" name="Shape 10"/>
          <p:cNvSpPr/>
          <p:nvPr/>
        </p:nvSpPr>
        <p:spPr>
          <a:xfrm>
            <a:off x="914400" y="3611880"/>
            <a:ext cx="256032" cy="256032"/>
          </a:xfrm>
          <a:prstGeom prst="ellipse">
            <a:avLst/>
          </a:prstGeom>
          <a:solidFill>
            <a:srgbClr val="2C2419"/>
          </a:solidFill>
          <a:ln w="12700">
            <a:solidFill>
              <a:srgbClr val="8FB996"/>
            </a:solidFill>
            <a:prstDash val="solid"/>
          </a:ln>
        </p:spPr>
      </p:sp>
      <p:sp>
        <p:nvSpPr>
          <p:cNvPr id="13" name="Text 11"/>
          <p:cNvSpPr/>
          <p:nvPr/>
        </p:nvSpPr>
        <p:spPr>
          <a:xfrm>
            <a:off x="914400" y="361188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325880" y="355701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Simple to operate</a:t>
            </a:r>
            <a:endParaRPr lang="en-US" sz="1300" dirty="0"/>
          </a:p>
        </p:txBody>
      </p:sp>
      <p:sp>
        <p:nvSpPr>
          <p:cNvPr id="15" name="Shape 13"/>
          <p:cNvSpPr/>
          <p:nvPr/>
        </p:nvSpPr>
        <p:spPr>
          <a:xfrm>
            <a:off x="914400" y="4206240"/>
            <a:ext cx="256032" cy="256032"/>
          </a:xfrm>
          <a:prstGeom prst="ellipse">
            <a:avLst/>
          </a:prstGeom>
          <a:solidFill>
            <a:srgbClr val="2C2419"/>
          </a:solidFill>
          <a:ln w="12700">
            <a:solidFill>
              <a:srgbClr val="8FB996"/>
            </a:solidFill>
            <a:prstDash val="solid"/>
          </a:ln>
        </p:spPr>
      </p:sp>
      <p:sp>
        <p:nvSpPr>
          <p:cNvPr id="16" name="Text 14"/>
          <p:cNvSpPr/>
          <p:nvPr/>
        </p:nvSpPr>
        <p:spPr>
          <a:xfrm>
            <a:off x="914400" y="420624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325880" y="415137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Easy menu-based interaction</a:t>
            </a:r>
            <a:endParaRPr lang="en-US" sz="1300" dirty="0"/>
          </a:p>
        </p:txBody>
      </p:sp>
      <p:sp>
        <p:nvSpPr>
          <p:cNvPr id="18" name="Shape 16"/>
          <p:cNvSpPr/>
          <p:nvPr/>
        </p:nvSpPr>
        <p:spPr>
          <a:xfrm>
            <a:off x="914400" y="4800600"/>
            <a:ext cx="256032" cy="256032"/>
          </a:xfrm>
          <a:prstGeom prst="ellipse">
            <a:avLst/>
          </a:prstGeom>
          <a:solidFill>
            <a:srgbClr val="2C2419"/>
          </a:solidFill>
          <a:ln w="12700">
            <a:solidFill>
              <a:srgbClr val="8FB996"/>
            </a:solidFill>
            <a:prstDash val="solid"/>
          </a:ln>
        </p:spPr>
      </p:sp>
      <p:sp>
        <p:nvSpPr>
          <p:cNvPr id="19" name="Text 17"/>
          <p:cNvSpPr/>
          <p:nvPr/>
        </p:nvSpPr>
        <p:spPr>
          <a:xfrm>
            <a:off x="914400" y="480060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325880" y="474573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Demonstrates practical C programming</a:t>
            </a:r>
            <a:endParaRPr lang="en-US" sz="1300" dirty="0"/>
          </a:p>
        </p:txBody>
      </p:sp>
      <p:sp>
        <p:nvSpPr>
          <p:cNvPr id="21" name="Shape 19"/>
          <p:cNvSpPr/>
          <p:nvPr/>
        </p:nvSpPr>
        <p:spPr>
          <a:xfrm>
            <a:off x="914400" y="5394960"/>
            <a:ext cx="256032" cy="256032"/>
          </a:xfrm>
          <a:prstGeom prst="ellipse">
            <a:avLst/>
          </a:prstGeom>
          <a:solidFill>
            <a:srgbClr val="2C2419"/>
          </a:solidFill>
          <a:ln w="12700">
            <a:solidFill>
              <a:srgbClr val="8FB996"/>
            </a:solidFill>
            <a:prstDash val="solid"/>
          </a:ln>
        </p:spPr>
      </p:sp>
      <p:sp>
        <p:nvSpPr>
          <p:cNvPr id="22" name="Text 20"/>
          <p:cNvSpPr/>
          <p:nvPr/>
        </p:nvSpPr>
        <p:spPr>
          <a:xfrm>
            <a:off x="914400" y="5394960"/>
            <a:ext cx="256032" cy="256032"/>
          </a:xfrm>
          <a:prstGeom prst="rect">
            <a:avLst/>
          </a:prstGeom>
          <a:noFill/>
          <a:ln/>
        </p:spPr>
        <p:txBody>
          <a:bodyPr wrap="square" lIns="0" tIns="0" rIns="0" bIns="0" rtlCol="0" anchor="ctr"/>
          <a:lstStyle/>
          <a:p>
            <a:pPr algn="ctr" indent="0" marL="0">
              <a:buNone/>
            </a:pPr>
            <a:r>
              <a:rPr lang="en-US" sz="1400" b="1" dirty="0">
                <a:solidFill>
                  <a:srgbClr val="8FB996"/>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325880" y="534009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Generates consistent bills</a:t>
            </a:r>
            <a:endParaRPr lang="en-US" sz="1300" dirty="0"/>
          </a:p>
        </p:txBody>
      </p:sp>
      <p:sp>
        <p:nvSpPr>
          <p:cNvPr id="24" name="Shape 22"/>
          <p:cNvSpPr/>
          <p:nvPr/>
        </p:nvSpPr>
        <p:spPr>
          <a:xfrm>
            <a:off x="6263640" y="1554480"/>
            <a:ext cx="5349240" cy="4709160"/>
          </a:xfrm>
          <a:prstGeom prst="roundRect">
            <a:avLst>
              <a:gd name="adj" fmla="val 2330"/>
            </a:avLst>
          </a:prstGeom>
          <a:solidFill>
            <a:srgbClr val="231D17"/>
          </a:solidFill>
          <a:ln w="15875">
            <a:solidFill>
              <a:srgbClr val="C97B6B"/>
            </a:solidFill>
            <a:prstDash val="solid"/>
          </a:ln>
        </p:spPr>
      </p:sp>
      <p:sp>
        <p:nvSpPr>
          <p:cNvPr id="25" name="Text 23"/>
          <p:cNvSpPr/>
          <p:nvPr/>
        </p:nvSpPr>
        <p:spPr>
          <a:xfrm>
            <a:off x="6629400" y="1874520"/>
            <a:ext cx="3657600" cy="320040"/>
          </a:xfrm>
          <a:prstGeom prst="rect">
            <a:avLst/>
          </a:prstGeom>
          <a:noFill/>
          <a:ln/>
        </p:spPr>
        <p:txBody>
          <a:bodyPr wrap="square" rtlCol="0" anchor="ctr"/>
          <a:lstStyle/>
          <a:p>
            <a:pPr indent="0" marL="0">
              <a:buNone/>
            </a:pPr>
            <a:r>
              <a:rPr lang="en-US" sz="1400" b="1" spc="150" kern="0" dirty="0">
                <a:solidFill>
                  <a:srgbClr val="C97B6B"/>
                </a:solidFill>
                <a:latin typeface="Calibri" pitchFamily="34" charset="0"/>
                <a:ea typeface="Calibri" pitchFamily="34" charset="-122"/>
                <a:cs typeface="Calibri" pitchFamily="34" charset="-120"/>
              </a:rPr>
              <a:t>LIMITATIONS</a:t>
            </a:r>
            <a:endParaRPr lang="en-US" sz="1400" dirty="0"/>
          </a:p>
        </p:txBody>
      </p:sp>
      <p:sp>
        <p:nvSpPr>
          <p:cNvPr id="26" name="Shape 24"/>
          <p:cNvSpPr/>
          <p:nvPr/>
        </p:nvSpPr>
        <p:spPr>
          <a:xfrm>
            <a:off x="6629400" y="2423160"/>
            <a:ext cx="256032" cy="256032"/>
          </a:xfrm>
          <a:prstGeom prst="ellipse">
            <a:avLst/>
          </a:prstGeom>
          <a:solidFill>
            <a:srgbClr val="2C2419"/>
          </a:solidFill>
          <a:ln w="12700">
            <a:solidFill>
              <a:srgbClr val="C97B6B"/>
            </a:solidFill>
            <a:prstDash val="solid"/>
          </a:ln>
        </p:spPr>
      </p:sp>
      <p:sp>
        <p:nvSpPr>
          <p:cNvPr id="27" name="Text 25"/>
          <p:cNvSpPr/>
          <p:nvPr/>
        </p:nvSpPr>
        <p:spPr>
          <a:xfrm>
            <a:off x="6629400" y="242316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7040880" y="236829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Console-based interface</a:t>
            </a:r>
            <a:endParaRPr lang="en-US" sz="1300" dirty="0"/>
          </a:p>
        </p:txBody>
      </p:sp>
      <p:sp>
        <p:nvSpPr>
          <p:cNvPr id="29" name="Shape 27"/>
          <p:cNvSpPr/>
          <p:nvPr/>
        </p:nvSpPr>
        <p:spPr>
          <a:xfrm>
            <a:off x="6629400" y="3017520"/>
            <a:ext cx="256032" cy="256032"/>
          </a:xfrm>
          <a:prstGeom prst="ellipse">
            <a:avLst/>
          </a:prstGeom>
          <a:solidFill>
            <a:srgbClr val="2C2419"/>
          </a:solidFill>
          <a:ln w="12700">
            <a:solidFill>
              <a:srgbClr val="C97B6B"/>
            </a:solidFill>
            <a:prstDash val="solid"/>
          </a:ln>
        </p:spPr>
      </p:sp>
      <p:sp>
        <p:nvSpPr>
          <p:cNvPr id="30" name="Text 28"/>
          <p:cNvSpPr/>
          <p:nvPr/>
        </p:nvSpPr>
        <p:spPr>
          <a:xfrm>
            <a:off x="6629400" y="301752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7040880" y="296265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No permanent database</a:t>
            </a:r>
            <a:endParaRPr lang="en-US" sz="1300" dirty="0"/>
          </a:p>
        </p:txBody>
      </p:sp>
      <p:sp>
        <p:nvSpPr>
          <p:cNvPr id="32" name="Shape 30"/>
          <p:cNvSpPr/>
          <p:nvPr/>
        </p:nvSpPr>
        <p:spPr>
          <a:xfrm>
            <a:off x="6629400" y="3611880"/>
            <a:ext cx="256032" cy="256032"/>
          </a:xfrm>
          <a:prstGeom prst="ellipse">
            <a:avLst/>
          </a:prstGeom>
          <a:solidFill>
            <a:srgbClr val="2C2419"/>
          </a:solidFill>
          <a:ln w="12700">
            <a:solidFill>
              <a:srgbClr val="C97B6B"/>
            </a:solidFill>
            <a:prstDash val="solid"/>
          </a:ln>
        </p:spPr>
      </p:sp>
      <p:sp>
        <p:nvSpPr>
          <p:cNvPr id="33" name="Text 31"/>
          <p:cNvSpPr/>
          <p:nvPr/>
        </p:nvSpPr>
        <p:spPr>
          <a:xfrm>
            <a:off x="6629400" y="361188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7040880" y="355701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No user authentication</a:t>
            </a:r>
            <a:endParaRPr lang="en-US" sz="1300" dirty="0"/>
          </a:p>
        </p:txBody>
      </p:sp>
      <p:sp>
        <p:nvSpPr>
          <p:cNvPr id="35" name="Shape 33"/>
          <p:cNvSpPr/>
          <p:nvPr/>
        </p:nvSpPr>
        <p:spPr>
          <a:xfrm>
            <a:off x="6629400" y="4206240"/>
            <a:ext cx="256032" cy="256032"/>
          </a:xfrm>
          <a:prstGeom prst="ellipse">
            <a:avLst/>
          </a:prstGeom>
          <a:solidFill>
            <a:srgbClr val="2C2419"/>
          </a:solidFill>
          <a:ln w="12700">
            <a:solidFill>
              <a:srgbClr val="C97B6B"/>
            </a:solidFill>
            <a:prstDash val="solid"/>
          </a:ln>
        </p:spPr>
      </p:sp>
      <p:sp>
        <p:nvSpPr>
          <p:cNvPr id="36" name="Text 34"/>
          <p:cNvSpPr/>
          <p:nvPr/>
        </p:nvSpPr>
        <p:spPr>
          <a:xfrm>
            <a:off x="6629400" y="420624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7040880" y="415137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No online payment integration</a:t>
            </a:r>
            <a:endParaRPr lang="en-US" sz="1300" dirty="0"/>
          </a:p>
        </p:txBody>
      </p:sp>
      <p:sp>
        <p:nvSpPr>
          <p:cNvPr id="38" name="Shape 36"/>
          <p:cNvSpPr/>
          <p:nvPr/>
        </p:nvSpPr>
        <p:spPr>
          <a:xfrm>
            <a:off x="6629400" y="4800600"/>
            <a:ext cx="256032" cy="256032"/>
          </a:xfrm>
          <a:prstGeom prst="ellipse">
            <a:avLst/>
          </a:prstGeom>
          <a:solidFill>
            <a:srgbClr val="2C2419"/>
          </a:solidFill>
          <a:ln w="12700">
            <a:solidFill>
              <a:srgbClr val="C97B6B"/>
            </a:solidFill>
            <a:prstDash val="solid"/>
          </a:ln>
        </p:spPr>
      </p:sp>
      <p:sp>
        <p:nvSpPr>
          <p:cNvPr id="39" name="Text 37"/>
          <p:cNvSpPr/>
          <p:nvPr/>
        </p:nvSpPr>
        <p:spPr>
          <a:xfrm>
            <a:off x="6629400" y="480060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7040880" y="474573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Limited to basic billing operations</a:t>
            </a:r>
            <a:endParaRPr lang="en-US" sz="1300" dirty="0"/>
          </a:p>
        </p:txBody>
      </p:sp>
      <p:sp>
        <p:nvSpPr>
          <p:cNvPr id="41" name="Shape 39"/>
          <p:cNvSpPr/>
          <p:nvPr/>
        </p:nvSpPr>
        <p:spPr>
          <a:xfrm>
            <a:off x="6629400" y="5394960"/>
            <a:ext cx="256032" cy="256032"/>
          </a:xfrm>
          <a:prstGeom prst="ellipse">
            <a:avLst/>
          </a:prstGeom>
          <a:solidFill>
            <a:srgbClr val="2C2419"/>
          </a:solidFill>
          <a:ln w="12700">
            <a:solidFill>
              <a:srgbClr val="C97B6B"/>
            </a:solidFill>
            <a:prstDash val="solid"/>
          </a:ln>
        </p:spPr>
      </p:sp>
      <p:sp>
        <p:nvSpPr>
          <p:cNvPr id="42" name="Text 40"/>
          <p:cNvSpPr/>
          <p:nvPr/>
        </p:nvSpPr>
        <p:spPr>
          <a:xfrm>
            <a:off x="6629400" y="5394960"/>
            <a:ext cx="256032" cy="256032"/>
          </a:xfrm>
          <a:prstGeom prst="rect">
            <a:avLst/>
          </a:prstGeom>
          <a:noFill/>
          <a:ln/>
        </p:spPr>
        <p:txBody>
          <a:bodyPr wrap="square" lIns="0" tIns="0" rIns="0" bIns="0" rtlCol="0" anchor="ctr"/>
          <a:lstStyle/>
          <a:p>
            <a:pPr algn="ctr" indent="0" marL="0">
              <a:buNone/>
            </a:pPr>
            <a:r>
              <a:rPr lang="en-US" sz="1400" b="1" dirty="0">
                <a:solidFill>
                  <a:srgbClr val="C97B6B"/>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7040880" y="5340096"/>
            <a:ext cx="4251960" cy="384048"/>
          </a:xfrm>
          <a:prstGeom prst="rect">
            <a:avLst/>
          </a:prstGeom>
          <a:noFill/>
          <a:ln/>
        </p:spPr>
        <p:txBody>
          <a:bodyPr wrap="square" lIns="0" tIns="0" rIns="0" bIns="0" rtlCol="0" anchor="ctr"/>
          <a:lstStyle/>
          <a:p>
            <a:pPr indent="0" marL="0">
              <a:buNone/>
            </a:pPr>
            <a:r>
              <a:rPr lang="en-US" sz="1300" dirty="0">
                <a:solidFill>
                  <a:srgbClr val="F6F1E9"/>
                </a:solidFill>
                <a:latin typeface="Calibri" pitchFamily="34" charset="0"/>
                <a:ea typeface="Calibri" pitchFamily="34" charset="-122"/>
                <a:cs typeface="Calibri" pitchFamily="34" charset="-120"/>
              </a:rPr>
              <a:t>Suitable mainly for academic / basic use</a:t>
            </a:r>
            <a:endParaRPr lang="en-US" sz="1300" dirty="0"/>
          </a:p>
        </p:txBody>
      </p:sp>
      <p:sp>
        <p:nvSpPr>
          <p:cNvPr id="44" name="Text 42"/>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45" name="Text 43"/>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200" kern="0" dirty="0">
                <a:solidFill>
                  <a:srgbClr val="E67E3A"/>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10789920" cy="731520"/>
          </a:xfrm>
          <a:prstGeom prst="rect">
            <a:avLst/>
          </a:prstGeom>
          <a:noFill/>
          <a:ln/>
        </p:spPr>
        <p:txBody>
          <a:bodyPr wrap="square" rtlCol="0" anchor="ctr"/>
          <a:lstStyle/>
          <a:p>
            <a:pPr indent="0" marL="0">
              <a:buNone/>
            </a:pPr>
            <a:r>
              <a:rPr lang="en-US" sz="3400" b="1" dirty="0">
                <a:solidFill>
                  <a:srgbClr val="F6F1E9"/>
                </a:solidFill>
                <a:latin typeface="Cambria" pitchFamily="34" charset="0"/>
                <a:ea typeface="Cambria" pitchFamily="34" charset="-122"/>
                <a:cs typeface="Cambria" pitchFamily="34" charset="-120"/>
              </a:rPr>
              <a:t>Future Enhancements &amp; Conclusion</a:t>
            </a:r>
            <a:endParaRPr lang="en-US" sz="3400" dirty="0"/>
          </a:p>
        </p:txBody>
      </p:sp>
      <p:sp>
        <p:nvSpPr>
          <p:cNvPr id="4" name="Text 2"/>
          <p:cNvSpPr/>
          <p:nvPr/>
        </p:nvSpPr>
        <p:spPr>
          <a:xfrm>
            <a:off x="548640" y="1417320"/>
            <a:ext cx="73152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POSSIBLE FUTURE IMPROVEMENTS</a:t>
            </a:r>
            <a:endParaRPr lang="en-US" sz="1100" dirty="0"/>
          </a:p>
        </p:txBody>
      </p:sp>
      <p:sp>
        <p:nvSpPr>
          <p:cNvPr id="5" name="Shape 3"/>
          <p:cNvSpPr/>
          <p:nvPr/>
        </p:nvSpPr>
        <p:spPr>
          <a:xfrm>
            <a:off x="548640" y="1783080"/>
            <a:ext cx="3520440" cy="502920"/>
          </a:xfrm>
          <a:prstGeom prst="roundRect">
            <a:avLst>
              <a:gd name="adj" fmla="val 50000"/>
            </a:avLst>
          </a:prstGeom>
          <a:solidFill>
            <a:srgbClr val="231D17"/>
          </a:solidFill>
          <a:ln w="12700">
            <a:solidFill>
              <a:srgbClr val="3A3126"/>
            </a:solidFill>
            <a:prstDash val="solid"/>
          </a:ln>
        </p:spPr>
      </p:sp>
      <p:sp>
        <p:nvSpPr>
          <p:cNvPr id="6" name="Text 4"/>
          <p:cNvSpPr/>
          <p:nvPr/>
        </p:nvSpPr>
        <p:spPr>
          <a:xfrm>
            <a:off x="548640" y="1783080"/>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Graphical User Interface</a:t>
            </a:r>
            <a:endParaRPr lang="en-US" sz="1150" dirty="0"/>
          </a:p>
        </p:txBody>
      </p:sp>
      <p:sp>
        <p:nvSpPr>
          <p:cNvPr id="7" name="Shape 5"/>
          <p:cNvSpPr/>
          <p:nvPr/>
        </p:nvSpPr>
        <p:spPr>
          <a:xfrm>
            <a:off x="4206240" y="1783080"/>
            <a:ext cx="3520440" cy="502920"/>
          </a:xfrm>
          <a:prstGeom prst="roundRect">
            <a:avLst>
              <a:gd name="adj" fmla="val 50000"/>
            </a:avLst>
          </a:prstGeom>
          <a:solidFill>
            <a:srgbClr val="231D17"/>
          </a:solidFill>
          <a:ln w="12700">
            <a:solidFill>
              <a:srgbClr val="3A3126"/>
            </a:solidFill>
            <a:prstDash val="solid"/>
          </a:ln>
        </p:spPr>
      </p:sp>
      <p:sp>
        <p:nvSpPr>
          <p:cNvPr id="8" name="Text 6"/>
          <p:cNvSpPr/>
          <p:nvPr/>
        </p:nvSpPr>
        <p:spPr>
          <a:xfrm>
            <a:off x="4206240" y="1783080"/>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Database integration</a:t>
            </a:r>
            <a:endParaRPr lang="en-US" sz="1150" dirty="0"/>
          </a:p>
        </p:txBody>
      </p:sp>
      <p:sp>
        <p:nvSpPr>
          <p:cNvPr id="9" name="Shape 7"/>
          <p:cNvSpPr/>
          <p:nvPr/>
        </p:nvSpPr>
        <p:spPr>
          <a:xfrm>
            <a:off x="7863840" y="1783080"/>
            <a:ext cx="3520440" cy="502920"/>
          </a:xfrm>
          <a:prstGeom prst="roundRect">
            <a:avLst>
              <a:gd name="adj" fmla="val 50000"/>
            </a:avLst>
          </a:prstGeom>
          <a:solidFill>
            <a:srgbClr val="231D17"/>
          </a:solidFill>
          <a:ln w="12700">
            <a:solidFill>
              <a:srgbClr val="3A3126"/>
            </a:solidFill>
            <a:prstDash val="solid"/>
          </a:ln>
        </p:spPr>
      </p:sp>
      <p:sp>
        <p:nvSpPr>
          <p:cNvPr id="10" name="Text 8"/>
          <p:cNvSpPr/>
          <p:nvPr/>
        </p:nvSpPr>
        <p:spPr>
          <a:xfrm>
            <a:off x="7863840" y="1783080"/>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Customer / order history</a:t>
            </a:r>
            <a:endParaRPr lang="en-US" sz="1150" dirty="0"/>
          </a:p>
        </p:txBody>
      </p:sp>
      <p:sp>
        <p:nvSpPr>
          <p:cNvPr id="11" name="Shape 9"/>
          <p:cNvSpPr/>
          <p:nvPr/>
        </p:nvSpPr>
        <p:spPr>
          <a:xfrm>
            <a:off x="548640" y="2450592"/>
            <a:ext cx="3520440" cy="502920"/>
          </a:xfrm>
          <a:prstGeom prst="roundRect">
            <a:avLst>
              <a:gd name="adj" fmla="val 50000"/>
            </a:avLst>
          </a:prstGeom>
          <a:solidFill>
            <a:srgbClr val="231D17"/>
          </a:solidFill>
          <a:ln w="12700">
            <a:solidFill>
              <a:srgbClr val="3A3126"/>
            </a:solidFill>
            <a:prstDash val="solid"/>
          </a:ln>
        </p:spPr>
      </p:sp>
      <p:sp>
        <p:nvSpPr>
          <p:cNvPr id="12" name="Text 10"/>
          <p:cNvSpPr/>
          <p:nvPr/>
        </p:nvSpPr>
        <p:spPr>
          <a:xfrm>
            <a:off x="548640" y="2450592"/>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Inventory management</a:t>
            </a:r>
            <a:endParaRPr lang="en-US" sz="1150" dirty="0"/>
          </a:p>
        </p:txBody>
      </p:sp>
      <p:sp>
        <p:nvSpPr>
          <p:cNvPr id="13" name="Shape 11"/>
          <p:cNvSpPr/>
          <p:nvPr/>
        </p:nvSpPr>
        <p:spPr>
          <a:xfrm>
            <a:off x="4206240" y="2450592"/>
            <a:ext cx="3520440" cy="502920"/>
          </a:xfrm>
          <a:prstGeom prst="roundRect">
            <a:avLst>
              <a:gd name="adj" fmla="val 50000"/>
            </a:avLst>
          </a:prstGeom>
          <a:solidFill>
            <a:srgbClr val="231D17"/>
          </a:solidFill>
          <a:ln w="12700">
            <a:solidFill>
              <a:srgbClr val="3A3126"/>
            </a:solidFill>
            <a:prstDash val="solid"/>
          </a:ln>
        </p:spPr>
      </p:sp>
      <p:sp>
        <p:nvSpPr>
          <p:cNvPr id="14" name="Text 12"/>
          <p:cNvSpPr/>
          <p:nvPr/>
        </p:nvSpPr>
        <p:spPr>
          <a:xfrm>
            <a:off x="4206240" y="2450592"/>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GST and tax calculation</a:t>
            </a:r>
            <a:endParaRPr lang="en-US" sz="1150" dirty="0"/>
          </a:p>
        </p:txBody>
      </p:sp>
      <p:sp>
        <p:nvSpPr>
          <p:cNvPr id="15" name="Shape 13"/>
          <p:cNvSpPr/>
          <p:nvPr/>
        </p:nvSpPr>
        <p:spPr>
          <a:xfrm>
            <a:off x="7863840" y="2450592"/>
            <a:ext cx="3520440" cy="502920"/>
          </a:xfrm>
          <a:prstGeom prst="roundRect">
            <a:avLst>
              <a:gd name="adj" fmla="val 50000"/>
            </a:avLst>
          </a:prstGeom>
          <a:solidFill>
            <a:srgbClr val="231D17"/>
          </a:solidFill>
          <a:ln w="12700">
            <a:solidFill>
              <a:srgbClr val="3A3126"/>
            </a:solidFill>
            <a:prstDash val="solid"/>
          </a:ln>
        </p:spPr>
      </p:sp>
      <p:sp>
        <p:nvSpPr>
          <p:cNvPr id="16" name="Text 14"/>
          <p:cNvSpPr/>
          <p:nvPr/>
        </p:nvSpPr>
        <p:spPr>
          <a:xfrm>
            <a:off x="7863840" y="2450592"/>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Discount &amp; coupon support</a:t>
            </a:r>
            <a:endParaRPr lang="en-US" sz="1150" dirty="0"/>
          </a:p>
        </p:txBody>
      </p:sp>
      <p:sp>
        <p:nvSpPr>
          <p:cNvPr id="17" name="Shape 15"/>
          <p:cNvSpPr/>
          <p:nvPr/>
        </p:nvSpPr>
        <p:spPr>
          <a:xfrm>
            <a:off x="548640" y="3118104"/>
            <a:ext cx="3520440" cy="502920"/>
          </a:xfrm>
          <a:prstGeom prst="roundRect">
            <a:avLst>
              <a:gd name="adj" fmla="val 50000"/>
            </a:avLst>
          </a:prstGeom>
          <a:solidFill>
            <a:srgbClr val="231D17"/>
          </a:solidFill>
          <a:ln w="12700">
            <a:solidFill>
              <a:srgbClr val="3A3126"/>
            </a:solidFill>
            <a:prstDash val="solid"/>
          </a:ln>
        </p:spPr>
      </p:sp>
      <p:sp>
        <p:nvSpPr>
          <p:cNvPr id="18" name="Text 16"/>
          <p:cNvSpPr/>
          <p:nvPr/>
        </p:nvSpPr>
        <p:spPr>
          <a:xfrm>
            <a:off x="548640" y="3118104"/>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Digital payment integration</a:t>
            </a:r>
            <a:endParaRPr lang="en-US" sz="1150" dirty="0"/>
          </a:p>
        </p:txBody>
      </p:sp>
      <p:sp>
        <p:nvSpPr>
          <p:cNvPr id="19" name="Shape 17"/>
          <p:cNvSpPr/>
          <p:nvPr/>
        </p:nvSpPr>
        <p:spPr>
          <a:xfrm>
            <a:off x="4206240" y="3118104"/>
            <a:ext cx="3520440" cy="502920"/>
          </a:xfrm>
          <a:prstGeom prst="roundRect">
            <a:avLst>
              <a:gd name="adj" fmla="val 50000"/>
            </a:avLst>
          </a:prstGeom>
          <a:solidFill>
            <a:srgbClr val="231D17"/>
          </a:solidFill>
          <a:ln w="12700">
            <a:solidFill>
              <a:srgbClr val="3A3126"/>
            </a:solidFill>
            <a:prstDash val="solid"/>
          </a:ln>
        </p:spPr>
      </p:sp>
      <p:sp>
        <p:nvSpPr>
          <p:cNvPr id="20" name="Text 18"/>
          <p:cNvSpPr/>
          <p:nvPr/>
        </p:nvSpPr>
        <p:spPr>
          <a:xfrm>
            <a:off x="4206240" y="3118104"/>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User authentication</a:t>
            </a:r>
            <a:endParaRPr lang="en-US" sz="1150" dirty="0"/>
          </a:p>
        </p:txBody>
      </p:sp>
      <p:sp>
        <p:nvSpPr>
          <p:cNvPr id="21" name="Shape 19"/>
          <p:cNvSpPr/>
          <p:nvPr/>
        </p:nvSpPr>
        <p:spPr>
          <a:xfrm>
            <a:off x="7863840" y="3118104"/>
            <a:ext cx="3520440" cy="502920"/>
          </a:xfrm>
          <a:prstGeom prst="roundRect">
            <a:avLst>
              <a:gd name="adj" fmla="val 50000"/>
            </a:avLst>
          </a:prstGeom>
          <a:solidFill>
            <a:srgbClr val="231D17"/>
          </a:solidFill>
          <a:ln w="12700">
            <a:solidFill>
              <a:srgbClr val="3A3126"/>
            </a:solidFill>
            <a:prstDash val="solid"/>
          </a:ln>
        </p:spPr>
      </p:sp>
      <p:sp>
        <p:nvSpPr>
          <p:cNvPr id="22" name="Text 20"/>
          <p:cNvSpPr/>
          <p:nvPr/>
        </p:nvSpPr>
        <p:spPr>
          <a:xfrm>
            <a:off x="7863840" y="3118104"/>
            <a:ext cx="3520440" cy="502920"/>
          </a:xfrm>
          <a:prstGeom prst="rect">
            <a:avLst/>
          </a:prstGeom>
          <a:noFill/>
          <a:ln/>
        </p:spPr>
        <p:txBody>
          <a:bodyPr wrap="square" lIns="0" tIns="0" rIns="0" bIns="0" rtlCol="0" anchor="ctr"/>
          <a:lstStyle/>
          <a:p>
            <a:pPr algn="ctr" indent="0" marL="0">
              <a:buNone/>
            </a:pPr>
            <a:r>
              <a:rPr lang="en-US" sz="1150" spc="50" kern="0" dirty="0">
                <a:solidFill>
                  <a:srgbClr val="AFA492"/>
                </a:solidFill>
                <a:latin typeface="Calibri" pitchFamily="34" charset="0"/>
                <a:ea typeface="Calibri" pitchFamily="34" charset="-122"/>
                <a:cs typeface="Calibri" pitchFamily="34" charset="-120"/>
              </a:rPr>
              <a:t>Cloud-based management</a:t>
            </a:r>
            <a:endParaRPr lang="en-US" sz="1150" dirty="0"/>
          </a:p>
        </p:txBody>
      </p:sp>
      <p:sp>
        <p:nvSpPr>
          <p:cNvPr id="23" name="Shape 21"/>
          <p:cNvSpPr/>
          <p:nvPr/>
        </p:nvSpPr>
        <p:spPr>
          <a:xfrm>
            <a:off x="548640" y="3977640"/>
            <a:ext cx="11064240" cy="2148840"/>
          </a:xfrm>
          <a:prstGeom prst="roundRect">
            <a:avLst>
              <a:gd name="adj" fmla="val 5106"/>
            </a:avLst>
          </a:prstGeom>
          <a:solidFill>
            <a:srgbClr val="2C2419"/>
          </a:solidFill>
          <a:ln w="12700">
            <a:solidFill>
              <a:srgbClr val="E67E3A"/>
            </a:solidFill>
            <a:prstDash val="solid"/>
          </a:ln>
        </p:spPr>
      </p:sp>
      <p:sp>
        <p:nvSpPr>
          <p:cNvPr id="24" name="Text 22"/>
          <p:cNvSpPr/>
          <p:nvPr/>
        </p:nvSpPr>
        <p:spPr>
          <a:xfrm>
            <a:off x="914400" y="4251960"/>
            <a:ext cx="3657600" cy="274320"/>
          </a:xfrm>
          <a:prstGeom prst="rect">
            <a:avLst/>
          </a:prstGeom>
          <a:noFill/>
          <a:ln/>
        </p:spPr>
        <p:txBody>
          <a:bodyPr wrap="square" rtlCol="0" anchor="ctr"/>
          <a:lstStyle/>
          <a:p>
            <a:pPr indent="0" marL="0">
              <a:buNone/>
            </a:pPr>
            <a:r>
              <a:rPr lang="en-US" sz="1100" b="1" spc="150" kern="0" dirty="0">
                <a:solidFill>
                  <a:srgbClr val="E67E3A"/>
                </a:solidFill>
                <a:latin typeface="Calibri" pitchFamily="34" charset="0"/>
                <a:ea typeface="Calibri" pitchFamily="34" charset="-122"/>
                <a:cs typeface="Calibri" pitchFamily="34" charset="-120"/>
              </a:rPr>
              <a:t>CONCLUSION</a:t>
            </a:r>
            <a:endParaRPr lang="en-US" sz="1100" dirty="0"/>
          </a:p>
        </p:txBody>
      </p:sp>
      <p:sp>
        <p:nvSpPr>
          <p:cNvPr id="25" name="Text 23"/>
          <p:cNvSpPr/>
          <p:nvPr/>
        </p:nvSpPr>
        <p:spPr>
          <a:xfrm>
            <a:off x="914400" y="4617720"/>
            <a:ext cx="10332720" cy="1371600"/>
          </a:xfrm>
          <a:prstGeom prst="rect">
            <a:avLst/>
          </a:prstGeom>
          <a:noFill/>
          <a:ln/>
        </p:spPr>
        <p:txBody>
          <a:bodyPr wrap="square" rtlCol="0" anchor="ctr"/>
          <a:lstStyle/>
          <a:p>
            <a:pPr indent="0" marL="0">
              <a:lnSpc>
                <a:spcPct val="135000"/>
              </a:lnSpc>
              <a:buNone/>
            </a:pPr>
            <a:r>
              <a:rPr lang="en-US" sz="1500" dirty="0">
                <a:solidFill>
                  <a:srgbClr val="F6F1E9"/>
                </a:solidFill>
                <a:latin typeface="Calibri" pitchFamily="34" charset="0"/>
                <a:ea typeface="Calibri" pitchFamily="34" charset="-122"/>
                <a:cs typeface="Calibri" pitchFamily="34" charset="-120"/>
              </a:rPr>
              <a:t>The Restaurant Management &amp; Billing System demonstrates how fundamental C programming concepts can be combined to solve a practical, real-world billing problem. The project provides a simple, efficient and structured approach to restaurant order and bill processing.</a:t>
            </a:r>
            <a:endParaRPr lang="en-US" sz="1500" dirty="0"/>
          </a:p>
        </p:txBody>
      </p:sp>
      <p:sp>
        <p:nvSpPr>
          <p:cNvPr id="26" name="Text 24"/>
          <p:cNvSpPr/>
          <p:nvPr/>
        </p:nvSpPr>
        <p:spPr>
          <a:xfrm>
            <a:off x="457200" y="6473952"/>
            <a:ext cx="6400800" cy="274320"/>
          </a:xfrm>
          <a:prstGeom prst="rect">
            <a:avLst/>
          </a:prstGeom>
          <a:noFill/>
          <a:ln/>
        </p:spPr>
        <p:txBody>
          <a:bodyPr wrap="square" rtlCol="0" anchor="ctr"/>
          <a:lstStyle/>
          <a:p>
            <a:pPr algn="l" indent="0" marL="0">
              <a:buNone/>
            </a:pPr>
            <a:r>
              <a:rPr lang="en-US" sz="900" spc="150" kern="0" dirty="0">
                <a:solidFill>
                  <a:srgbClr val="7C7264"/>
                </a:solidFill>
                <a:latin typeface="Calibri" pitchFamily="34" charset="0"/>
                <a:ea typeface="Calibri" pitchFamily="34" charset="-122"/>
                <a:cs typeface="Calibri" pitchFamily="34" charset="-120"/>
              </a:rPr>
              <a:t>RESTAURANT MANAGEMENT &amp; BILLING SYSTEM</a:t>
            </a:r>
            <a:endParaRPr lang="en-US" sz="900" dirty="0"/>
          </a:p>
        </p:txBody>
      </p:sp>
      <p:sp>
        <p:nvSpPr>
          <p:cNvPr id="27" name="Text 25"/>
          <p:cNvSpPr/>
          <p:nvPr/>
        </p:nvSpPr>
        <p:spPr>
          <a:xfrm>
            <a:off x="10820095" y="6473952"/>
            <a:ext cx="914400" cy="274320"/>
          </a:xfrm>
          <a:prstGeom prst="rect">
            <a:avLst/>
          </a:prstGeom>
          <a:noFill/>
          <a:ln/>
        </p:spPr>
        <p:txBody>
          <a:bodyPr wrap="square" rtlCol="0" anchor="ctr"/>
          <a:lstStyle/>
          <a:p>
            <a:pPr algn="r" indent="0" marL="0">
              <a:buNone/>
            </a:pPr>
            <a:r>
              <a:rPr lang="en-US" sz="900" dirty="0">
                <a:solidFill>
                  <a:srgbClr val="7C7264"/>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20E"/>
        </a:solidFill>
      </p:bgPr>
    </p:bg>
    <p:spTree>
      <p:nvGrpSpPr>
        <p:cNvPr id="1" name=""/>
        <p:cNvGrpSpPr/>
        <p:nvPr/>
      </p:nvGrpSpPr>
      <p:grpSpPr>
        <a:xfrm>
          <a:off x="0" y="0"/>
          <a:ext cx="0" cy="0"/>
          <a:chOff x="0" y="0"/>
          <a:chExt cx="0" cy="0"/>
        </a:xfrm>
      </p:grpSpPr>
      <p:sp>
        <p:nvSpPr>
          <p:cNvPr id="2" name="Text 0"/>
          <p:cNvSpPr/>
          <p:nvPr/>
        </p:nvSpPr>
        <p:spPr>
          <a:xfrm>
            <a:off x="0" y="2468880"/>
            <a:ext cx="12191695" cy="1097280"/>
          </a:xfrm>
          <a:prstGeom prst="rect">
            <a:avLst/>
          </a:prstGeom>
          <a:noFill/>
          <a:ln/>
        </p:spPr>
        <p:txBody>
          <a:bodyPr wrap="square" lIns="0" tIns="0" rIns="0" bIns="0" rtlCol="0" anchor="ctr"/>
          <a:lstStyle/>
          <a:p>
            <a:pPr algn="ctr" indent="0" marL="0">
              <a:buNone/>
            </a:pPr>
            <a:r>
              <a:rPr lang="en-US" sz="5400" b="1" dirty="0">
                <a:solidFill>
                  <a:srgbClr val="F6F1E9"/>
                </a:solidFill>
                <a:latin typeface="Cambria" pitchFamily="34" charset="0"/>
                <a:ea typeface="Cambria" pitchFamily="34" charset="-122"/>
                <a:cs typeface="Cambria" pitchFamily="34" charset="-120"/>
              </a:rPr>
              <a:t>THANK YOU</a:t>
            </a:r>
            <a:endParaRPr lang="en-US" sz="5400" dirty="0"/>
          </a:p>
        </p:txBody>
      </p:sp>
      <p:sp>
        <p:nvSpPr>
          <p:cNvPr id="3" name="Text 1"/>
          <p:cNvSpPr/>
          <p:nvPr/>
        </p:nvSpPr>
        <p:spPr>
          <a:xfrm>
            <a:off x="0" y="3520440"/>
            <a:ext cx="12191695" cy="457200"/>
          </a:xfrm>
          <a:prstGeom prst="rect">
            <a:avLst/>
          </a:prstGeom>
          <a:noFill/>
          <a:ln/>
        </p:spPr>
        <p:txBody>
          <a:bodyPr wrap="square" lIns="0" tIns="0" rIns="0" bIns="0" rtlCol="0" anchor="ctr"/>
          <a:lstStyle/>
          <a:p>
            <a:pPr algn="ctr" indent="0" marL="0">
              <a:buNone/>
            </a:pPr>
            <a:r>
              <a:rPr lang="en-US" sz="1700" i="1" dirty="0">
                <a:solidFill>
                  <a:srgbClr val="E67E3A"/>
                </a:solidFill>
                <a:latin typeface="Calibri" pitchFamily="34" charset="0"/>
                <a:ea typeface="Calibri" pitchFamily="34" charset="-122"/>
                <a:cs typeface="Calibri" pitchFamily="34" charset="-120"/>
              </a:rPr>
              <a:t>Questions &amp; Discussion</a:t>
            </a:r>
            <a:endParaRPr lang="en-US" sz="1700" dirty="0"/>
          </a:p>
        </p:txBody>
      </p:sp>
      <p:sp>
        <p:nvSpPr>
          <p:cNvPr id="4" name="Shape 2"/>
          <p:cNvSpPr/>
          <p:nvPr/>
        </p:nvSpPr>
        <p:spPr>
          <a:xfrm>
            <a:off x="2849728" y="4434840"/>
            <a:ext cx="1280160" cy="438912"/>
          </a:xfrm>
          <a:prstGeom prst="roundRect">
            <a:avLst>
              <a:gd name="adj" fmla="val 50000"/>
            </a:avLst>
          </a:prstGeom>
          <a:solidFill>
            <a:srgbClr val="2C2419"/>
          </a:solidFill>
          <a:ln w="12700">
            <a:solidFill>
              <a:srgbClr val="3A3126"/>
            </a:solidFill>
            <a:prstDash val="solid"/>
          </a:ln>
        </p:spPr>
      </p:sp>
      <p:sp>
        <p:nvSpPr>
          <p:cNvPr id="5" name="Text 3"/>
          <p:cNvSpPr/>
          <p:nvPr/>
        </p:nvSpPr>
        <p:spPr>
          <a:xfrm>
            <a:off x="2849728" y="4434840"/>
            <a:ext cx="1280160" cy="438912"/>
          </a:xfrm>
          <a:prstGeom prst="rect">
            <a:avLst/>
          </a:prstGeom>
          <a:noFill/>
          <a:ln/>
        </p:spPr>
        <p:txBody>
          <a:bodyPr wrap="square" lIns="0" tIns="0" rIns="0" bIns="0" rtlCol="0" anchor="ctr"/>
          <a:lstStyle/>
          <a:p>
            <a:pPr algn="ctr" indent="0" marL="0">
              <a:buNone/>
            </a:pPr>
            <a:r>
              <a:rPr lang="en-US" sz="1050" b="1" spc="50" kern="0" dirty="0">
                <a:solidFill>
                  <a:srgbClr val="F6F1E9"/>
                </a:solidFill>
                <a:latin typeface="Calibri" pitchFamily="34" charset="0"/>
                <a:ea typeface="Calibri" pitchFamily="34" charset="-122"/>
                <a:cs typeface="Calibri" pitchFamily="34" charset="-120"/>
              </a:rPr>
              <a:t>Menu</a:t>
            </a:r>
            <a:endParaRPr lang="en-US" sz="1050" dirty="0"/>
          </a:p>
        </p:txBody>
      </p:sp>
      <p:sp>
        <p:nvSpPr>
          <p:cNvPr id="6" name="Shape 4"/>
          <p:cNvSpPr/>
          <p:nvPr/>
        </p:nvSpPr>
        <p:spPr>
          <a:xfrm>
            <a:off x="4175608" y="4599432"/>
            <a:ext cx="365760" cy="128016"/>
          </a:xfrm>
          <a:prstGeom prst="rightArrow">
            <a:avLst/>
          </a:prstGeom>
          <a:solidFill>
            <a:srgbClr val="7C7264"/>
          </a:solidFill>
          <a:ln/>
        </p:spPr>
      </p:sp>
      <p:sp>
        <p:nvSpPr>
          <p:cNvPr id="7" name="Shape 5"/>
          <p:cNvSpPr/>
          <p:nvPr/>
        </p:nvSpPr>
        <p:spPr>
          <a:xfrm>
            <a:off x="4587088" y="4434840"/>
            <a:ext cx="1280160" cy="438912"/>
          </a:xfrm>
          <a:prstGeom prst="roundRect">
            <a:avLst>
              <a:gd name="adj" fmla="val 50000"/>
            </a:avLst>
          </a:prstGeom>
          <a:solidFill>
            <a:srgbClr val="2C2419"/>
          </a:solidFill>
          <a:ln w="12700">
            <a:solidFill>
              <a:srgbClr val="3A3126"/>
            </a:solidFill>
            <a:prstDash val="solid"/>
          </a:ln>
        </p:spPr>
      </p:sp>
      <p:sp>
        <p:nvSpPr>
          <p:cNvPr id="8" name="Text 6"/>
          <p:cNvSpPr/>
          <p:nvPr/>
        </p:nvSpPr>
        <p:spPr>
          <a:xfrm>
            <a:off x="4587088" y="4434840"/>
            <a:ext cx="1280160" cy="438912"/>
          </a:xfrm>
          <a:prstGeom prst="rect">
            <a:avLst/>
          </a:prstGeom>
          <a:noFill/>
          <a:ln/>
        </p:spPr>
        <p:txBody>
          <a:bodyPr wrap="square" lIns="0" tIns="0" rIns="0" bIns="0" rtlCol="0" anchor="ctr"/>
          <a:lstStyle/>
          <a:p>
            <a:pPr algn="ctr" indent="0" marL="0">
              <a:buNone/>
            </a:pPr>
            <a:r>
              <a:rPr lang="en-US" sz="1050" b="1" spc="50" kern="0" dirty="0">
                <a:solidFill>
                  <a:srgbClr val="F6F1E9"/>
                </a:solidFill>
                <a:latin typeface="Calibri" pitchFamily="34" charset="0"/>
                <a:ea typeface="Calibri" pitchFamily="34" charset="-122"/>
                <a:cs typeface="Calibri" pitchFamily="34" charset="-120"/>
              </a:rPr>
              <a:t>Order</a:t>
            </a:r>
            <a:endParaRPr lang="en-US" sz="1050" dirty="0"/>
          </a:p>
        </p:txBody>
      </p:sp>
      <p:sp>
        <p:nvSpPr>
          <p:cNvPr id="9" name="Shape 7"/>
          <p:cNvSpPr/>
          <p:nvPr/>
        </p:nvSpPr>
        <p:spPr>
          <a:xfrm>
            <a:off x="5912968" y="4599432"/>
            <a:ext cx="365760" cy="128016"/>
          </a:xfrm>
          <a:prstGeom prst="rightArrow">
            <a:avLst/>
          </a:prstGeom>
          <a:solidFill>
            <a:srgbClr val="7C7264"/>
          </a:solidFill>
          <a:ln/>
        </p:spPr>
      </p:sp>
      <p:sp>
        <p:nvSpPr>
          <p:cNvPr id="10" name="Shape 8"/>
          <p:cNvSpPr/>
          <p:nvPr/>
        </p:nvSpPr>
        <p:spPr>
          <a:xfrm>
            <a:off x="6324448" y="4434840"/>
            <a:ext cx="1280160" cy="438912"/>
          </a:xfrm>
          <a:prstGeom prst="roundRect">
            <a:avLst>
              <a:gd name="adj" fmla="val 50000"/>
            </a:avLst>
          </a:prstGeom>
          <a:solidFill>
            <a:srgbClr val="2C2419"/>
          </a:solidFill>
          <a:ln w="12700">
            <a:solidFill>
              <a:srgbClr val="3A3126"/>
            </a:solidFill>
            <a:prstDash val="solid"/>
          </a:ln>
        </p:spPr>
      </p:sp>
      <p:sp>
        <p:nvSpPr>
          <p:cNvPr id="11" name="Text 9"/>
          <p:cNvSpPr/>
          <p:nvPr/>
        </p:nvSpPr>
        <p:spPr>
          <a:xfrm>
            <a:off x="6324448" y="4434840"/>
            <a:ext cx="1280160" cy="438912"/>
          </a:xfrm>
          <a:prstGeom prst="rect">
            <a:avLst/>
          </a:prstGeom>
          <a:noFill/>
          <a:ln/>
        </p:spPr>
        <p:txBody>
          <a:bodyPr wrap="square" lIns="0" tIns="0" rIns="0" bIns="0" rtlCol="0" anchor="ctr"/>
          <a:lstStyle/>
          <a:p>
            <a:pPr algn="ctr" indent="0" marL="0">
              <a:buNone/>
            </a:pPr>
            <a:r>
              <a:rPr lang="en-US" sz="1050" b="1" spc="50" kern="0" dirty="0">
                <a:solidFill>
                  <a:srgbClr val="F6F1E9"/>
                </a:solidFill>
                <a:latin typeface="Calibri" pitchFamily="34" charset="0"/>
                <a:ea typeface="Calibri" pitchFamily="34" charset="-122"/>
                <a:cs typeface="Calibri" pitchFamily="34" charset="-120"/>
              </a:rPr>
              <a:t>Billing</a:t>
            </a:r>
            <a:endParaRPr lang="en-US" sz="1050" dirty="0"/>
          </a:p>
        </p:txBody>
      </p:sp>
      <p:sp>
        <p:nvSpPr>
          <p:cNvPr id="12" name="Shape 10"/>
          <p:cNvSpPr/>
          <p:nvPr/>
        </p:nvSpPr>
        <p:spPr>
          <a:xfrm>
            <a:off x="7650328" y="4599432"/>
            <a:ext cx="365760" cy="128016"/>
          </a:xfrm>
          <a:prstGeom prst="rightArrow">
            <a:avLst/>
          </a:prstGeom>
          <a:solidFill>
            <a:srgbClr val="7C7264"/>
          </a:solidFill>
          <a:ln/>
        </p:spPr>
      </p:sp>
      <p:sp>
        <p:nvSpPr>
          <p:cNvPr id="13" name="Shape 11"/>
          <p:cNvSpPr/>
          <p:nvPr/>
        </p:nvSpPr>
        <p:spPr>
          <a:xfrm>
            <a:off x="8061808" y="4434840"/>
            <a:ext cx="1280160" cy="438912"/>
          </a:xfrm>
          <a:prstGeom prst="roundRect">
            <a:avLst>
              <a:gd name="adj" fmla="val 50000"/>
            </a:avLst>
          </a:prstGeom>
          <a:solidFill>
            <a:srgbClr val="E67E3A"/>
          </a:solidFill>
          <a:ln w="12700">
            <a:solidFill>
              <a:srgbClr val="E67E3A"/>
            </a:solidFill>
            <a:prstDash val="solid"/>
          </a:ln>
        </p:spPr>
      </p:sp>
      <p:sp>
        <p:nvSpPr>
          <p:cNvPr id="14" name="Text 12"/>
          <p:cNvSpPr/>
          <p:nvPr/>
        </p:nvSpPr>
        <p:spPr>
          <a:xfrm>
            <a:off x="8061808" y="4434840"/>
            <a:ext cx="1280160" cy="438912"/>
          </a:xfrm>
          <a:prstGeom prst="rect">
            <a:avLst/>
          </a:prstGeom>
          <a:noFill/>
          <a:ln/>
        </p:spPr>
        <p:txBody>
          <a:bodyPr wrap="square" lIns="0" tIns="0" rIns="0" bIns="0" rtlCol="0" anchor="ctr"/>
          <a:lstStyle/>
          <a:p>
            <a:pPr algn="ctr" indent="0" marL="0">
              <a:buNone/>
            </a:pPr>
            <a:r>
              <a:rPr lang="en-US" sz="1050" b="1" spc="50" kern="0" dirty="0">
                <a:solidFill>
                  <a:srgbClr val="1A1512"/>
                </a:solidFill>
                <a:latin typeface="Calibri" pitchFamily="34" charset="0"/>
                <a:ea typeface="Calibri" pitchFamily="34" charset="-122"/>
                <a:cs typeface="Calibri" pitchFamily="34" charset="-120"/>
              </a:rPr>
              <a:t>Receipt</a:t>
            </a:r>
            <a:endParaRPr lang="en-US" sz="1050" dirty="0"/>
          </a:p>
        </p:txBody>
      </p:sp>
      <p:sp>
        <p:nvSpPr>
          <p:cNvPr id="15" name="Text 13"/>
          <p:cNvSpPr/>
          <p:nvPr/>
        </p:nvSpPr>
        <p:spPr>
          <a:xfrm>
            <a:off x="0" y="6035040"/>
            <a:ext cx="12191695" cy="274320"/>
          </a:xfrm>
          <a:prstGeom prst="rect">
            <a:avLst/>
          </a:prstGeom>
          <a:noFill/>
          <a:ln/>
        </p:spPr>
        <p:txBody>
          <a:bodyPr wrap="square" rtlCol="0" anchor="ctr"/>
          <a:lstStyle/>
          <a:p>
            <a:pPr algn="ctr" indent="0" marL="0">
              <a:buNone/>
            </a:pPr>
            <a:r>
              <a:rPr lang="en-US" sz="1000" spc="150" kern="0" dirty="0">
                <a:solidFill>
                  <a:srgbClr val="7C7264"/>
                </a:solidFill>
                <a:latin typeface="Calibri" pitchFamily="34" charset="0"/>
                <a:ea typeface="Calibri" pitchFamily="34" charset="-122"/>
                <a:cs typeface="Calibri" pitchFamily="34" charset="-120"/>
              </a:rPr>
              <a:t>RESTAURANT MANAGEMENT &amp; BILLING SYSTEM  ·  C PROGRAMMING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2026-08-14T04:44:18Z</dcterms:created>
  <dcterms:modified xsi:type="dcterms:W3CDTF">2026-08-14T04:44:18Z</dcterms:modified>
</cp:coreProperties>
</file>