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slideLayouts/_rels/slideLayout5.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media/image1.png" ContentType="image/png"/>
  <Override PartName="/ppt/media/image2.png" ContentType="image/png"/>
  <Override PartName="/ppt/media/image3.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tBDfr" TargetMode="Externa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Google Shape;9;p2"/>
          <p:cNvSpPr/>
          <p:nvPr/>
        </p:nvSpPr>
        <p:spPr>
          <a:xfrm>
            <a:off x="0" y="0"/>
            <a:ext cx="4548240" cy="5143320"/>
          </a:xfrm>
          <a:prstGeom prst="rect">
            <a:avLst/>
          </a:prstGeom>
          <a:solidFill>
            <a:schemeClr val="dk1"/>
          </a:solidFill>
          <a:ln w="9525">
            <a:solidFill>
              <a:srgbClr val="1d3675"/>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 name="PlaceHolder 1"/>
          <p:cNvSpPr>
            <a:spLocks noGrp="1"/>
          </p:cNvSpPr>
          <p:nvPr>
            <p:ph type="title"/>
          </p:nvPr>
        </p:nvSpPr>
        <p:spPr>
          <a:xfrm>
            <a:off x="720000" y="2627280"/>
            <a:ext cx="3624120" cy="1976400"/>
          </a:xfrm>
          <a:prstGeom prst="rect">
            <a:avLst/>
          </a:prstGeom>
          <a:noFill/>
          <a:ln w="0">
            <a:noFill/>
          </a:ln>
        </p:spPr>
        <p:txBody>
          <a:bodyPr lIns="0" rIns="0" tIns="0" bIns="0" anchor="b">
            <a:noAutofit/>
          </a:bodyPr>
          <a:p>
            <a:pPr indent="0">
              <a:buNone/>
            </a:pPr>
            <a:r>
              <a:rPr b="0" lang="fr-FR" sz="3800" strike="noStrike" u="none">
                <a:solidFill>
                  <a:schemeClr val="dk1"/>
                </a:solidFill>
                <a:effectLst/>
                <a:uFillTx/>
                <a:latin typeface="Arial"/>
              </a:rPr>
              <a:t>Click to edit the title text format</a:t>
            </a:r>
            <a:endParaRPr b="0" lang="fr-FR" sz="3800" strike="noStrike" u="none">
              <a:solidFill>
                <a:schemeClr val="dk1"/>
              </a:solidFill>
              <a:effectLst/>
              <a:uFillTx/>
              <a:latin typeface="Arial"/>
            </a:endParaRPr>
          </a:p>
        </p:txBody>
      </p:sp>
      <p:sp>
        <p:nvSpPr>
          <p:cNvPr id="4" name="PlaceHolder 2"/>
          <p:cNvSpPr>
            <a:spLocks noGrp="1"/>
          </p:cNvSpPr>
          <p:nvPr>
            <p:ph type="body"/>
          </p:nvPr>
        </p:nvSpPr>
        <p:spPr>
          <a:xfrm>
            <a:off x="4548600" y="0"/>
            <a:ext cx="4595040" cy="38581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713520" y="539640"/>
            <a:ext cx="7717320" cy="680040"/>
          </a:xfrm>
          <a:prstGeom prst="rect">
            <a:avLst/>
          </a:prstGeom>
          <a:noFill/>
          <a:ln w="0">
            <a:noFill/>
          </a:ln>
        </p:spPr>
        <p:txBody>
          <a:bodyPr lIns="91440" rIns="91440" tIns="91440" bIns="91440" anchor="ctr">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6" name="PlaceHolder 2"/>
          <p:cNvSpPr>
            <a:spLocks noGrp="1"/>
          </p:cNvSpPr>
          <p:nvPr>
            <p:ph type="body"/>
          </p:nvPr>
        </p:nvSpPr>
        <p:spPr>
          <a:xfrm>
            <a:off x="5284440" y="1457640"/>
            <a:ext cx="3859200" cy="3685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cxnSp>
        <p:nvCxnSpPr>
          <p:cNvPr id="7" name="Google Shape;110;p17"/>
          <p:cNvCxnSpPr/>
          <p:nvPr/>
        </p:nvCxnSpPr>
        <p:spPr>
          <a:xfrm>
            <a:off x="817920" y="464400"/>
            <a:ext cx="816480" cy="360"/>
          </a:xfrm>
          <a:prstGeom prst="straightConnector1">
            <a:avLst/>
          </a:prstGeom>
          <a:ln w="19050">
            <a:solidFill>
              <a:srgbClr val="1d3675"/>
            </a:solidFill>
            <a:round/>
          </a:ln>
        </p:spPr>
      </p:cxn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_1">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713520" y="539640"/>
            <a:ext cx="7717320" cy="680040"/>
          </a:xfrm>
          <a:prstGeom prst="rect">
            <a:avLst/>
          </a:prstGeom>
          <a:noFill/>
          <a:ln w="0">
            <a:noFill/>
          </a:ln>
        </p:spPr>
        <p:txBody>
          <a:bodyPr lIns="91440" rIns="91440" tIns="91440" bIns="91440" anchor="ctr">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cxnSp>
        <p:nvCxnSpPr>
          <p:cNvPr id="9" name="Google Shape;114;p18"/>
          <p:cNvCxnSpPr/>
          <p:nvPr/>
        </p:nvCxnSpPr>
        <p:spPr>
          <a:xfrm>
            <a:off x="817920" y="464400"/>
            <a:ext cx="816480" cy="360"/>
          </a:xfrm>
          <a:prstGeom prst="straightConnector1">
            <a:avLst/>
          </a:prstGeom>
          <a:ln w="19050">
            <a:solidFill>
              <a:srgbClr val="1d3675"/>
            </a:solidFill>
            <a:round/>
          </a:ln>
        </p:spPr>
      </p:cxnSp>
      <p:sp>
        <p:nvSpPr>
          <p:cNvPr id="1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sp>
        <p:nvSpPr>
          <p:cNvPr id="11" name="Google Shape;116;p19"/>
          <p:cNvSpPr/>
          <p:nvPr/>
        </p:nvSpPr>
        <p:spPr>
          <a:xfrm>
            <a:off x="4586040" y="0"/>
            <a:ext cx="4557600" cy="5185440"/>
          </a:xfrm>
          <a:prstGeom prst="rect">
            <a:avLst/>
          </a:prstGeom>
          <a:solidFill>
            <a:schemeClr val="dk1"/>
          </a:solidFill>
          <a:ln w="9525">
            <a:solidFill>
              <a:srgbClr val="1d3675"/>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 name="PlaceHolder 1"/>
          <p:cNvSpPr>
            <a:spLocks noGrp="1"/>
          </p:cNvSpPr>
          <p:nvPr>
            <p:ph type="title"/>
          </p:nvPr>
        </p:nvSpPr>
        <p:spPr>
          <a:xfrm>
            <a:off x="5061240" y="2264400"/>
            <a:ext cx="3369600" cy="540720"/>
          </a:xfrm>
          <a:prstGeom prst="rect">
            <a:avLst/>
          </a:prstGeom>
          <a:noFill/>
          <a:ln w="0">
            <a:noFill/>
          </a:ln>
        </p:spPr>
        <p:txBody>
          <a:bodyPr lIns="91440" rIns="91440" tIns="91440" bIns="91440" anchor="ctr">
            <a:noAutofit/>
          </a:bodyPr>
          <a:p>
            <a:pPr indent="0">
              <a:buNone/>
            </a:pPr>
            <a:r>
              <a:rPr b="0" lang="fr-FR" sz="3800" strike="noStrike" u="none">
                <a:solidFill>
                  <a:schemeClr val="dk1"/>
                </a:solidFill>
                <a:effectLst/>
                <a:uFillTx/>
                <a:latin typeface="Arial"/>
              </a:rPr>
              <a:t>Click to edit the title text format</a:t>
            </a:r>
            <a:endParaRPr b="0" lang="fr-FR" sz="3800" strike="noStrike" u="none">
              <a:solidFill>
                <a:schemeClr val="dk1"/>
              </a:solidFill>
              <a:effectLst/>
              <a:uFillTx/>
              <a:latin typeface="Arial"/>
            </a:endParaRPr>
          </a:p>
        </p:txBody>
      </p:sp>
      <p:sp>
        <p:nvSpPr>
          <p:cNvPr id="13" name="PlaceHolder 2"/>
          <p:cNvSpPr>
            <a:spLocks noGrp="1"/>
          </p:cNvSpPr>
          <p:nvPr>
            <p:ph type="body"/>
          </p:nvPr>
        </p:nvSpPr>
        <p:spPr>
          <a:xfrm>
            <a:off x="0" y="0"/>
            <a:ext cx="4585680" cy="38581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14" name="Google Shape;120;p19"/>
          <p:cNvSpPr/>
          <p:nvPr/>
        </p:nvSpPr>
        <p:spPr>
          <a:xfrm>
            <a:off x="713520" y="4030560"/>
            <a:ext cx="2928960" cy="577800"/>
          </a:xfrm>
          <a:prstGeom prst="rect">
            <a:avLst/>
          </a:prstGeom>
          <a:noFill/>
          <a:ln w="0">
            <a:noFill/>
          </a:ln>
        </p:spPr>
        <p:style>
          <a:lnRef idx="0"/>
          <a:fillRef idx="0"/>
          <a:effectRef idx="0"/>
          <a:fontRef idx="minor"/>
        </p:style>
        <p:txBody>
          <a:bodyPr tIns="91440" bIns="91440" anchor="b">
            <a:noAutofit/>
          </a:bodyPr>
          <a:p>
            <a:pPr defTabSz="914400">
              <a:lnSpc>
                <a:spcPct val="100000"/>
              </a:lnSpc>
              <a:spcBef>
                <a:spcPts val="300"/>
              </a:spcBef>
              <a:tabLst>
                <a:tab algn="l" pos="0"/>
              </a:tabLst>
            </a:pPr>
            <a:r>
              <a:rPr b="0" lang="en" sz="1000" strike="noStrike" u="none">
                <a:solidFill>
                  <a:schemeClr val="dk1"/>
                </a:solidFill>
                <a:effectLst/>
                <a:uFillTx/>
                <a:latin typeface="Syne"/>
                <a:ea typeface="Syne"/>
              </a:rPr>
              <a:t>CREDITS: This presentation template was created by </a:t>
            </a:r>
            <a:r>
              <a:rPr b="1" lang="en" sz="1000" strike="noStrike" u="sng">
                <a:solidFill>
                  <a:schemeClr val="dk1"/>
                </a:solidFill>
                <a:effectLst/>
                <a:uFillTx/>
                <a:latin typeface="Syne"/>
                <a:ea typeface="Syne"/>
                <a:hlinkClick r:id="rId2"/>
              </a:rPr>
              <a:t>Slidesgo</a:t>
            </a:r>
            <a:r>
              <a:rPr b="0" lang="en" sz="1000" strike="noStrike" u="none">
                <a:solidFill>
                  <a:schemeClr val="dk1"/>
                </a:solidFill>
                <a:effectLst/>
                <a:uFillTx/>
                <a:latin typeface="Syne"/>
                <a:ea typeface="Syne"/>
              </a:rPr>
              <a:t>, including icons, infographics &amp; images by </a:t>
            </a:r>
            <a:r>
              <a:rPr b="1" lang="en" sz="1000" strike="noStrike" u="sng">
                <a:solidFill>
                  <a:schemeClr val="dk1"/>
                </a:solidFill>
                <a:effectLst/>
                <a:uFillTx/>
                <a:latin typeface="Syne"/>
                <a:ea typeface="Syne"/>
                <a:hlinkClick r:id="rId3"/>
              </a:rPr>
              <a:t>Freepik</a:t>
            </a:r>
            <a:r>
              <a:rPr b="0" lang="en" sz="1000" strike="noStrike" u="none">
                <a:solidFill>
                  <a:schemeClr val="dk1"/>
                </a:solidFill>
                <a:effectLst/>
                <a:uFillTx/>
                <a:latin typeface="Syne"/>
                <a:ea typeface="Syne"/>
              </a:rPr>
              <a:t>. </a:t>
            </a:r>
            <a:endParaRPr b="0" lang="en-US" sz="1000" strike="noStrike" u="none">
              <a:solidFill>
                <a:srgbClr val="000000"/>
              </a:solidFill>
              <a:effectLst/>
              <a:uFillTx/>
              <a:latin typeface="OpenSymbo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body"/>
          </p:nvPr>
        </p:nvSpPr>
        <p:spPr>
          <a:xfrm>
            <a:off x="713160" y="1063800"/>
            <a:ext cx="7717320" cy="3330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
        <p:nvSpPr>
          <p:cNvPr id="16" name="PlaceHolder 2"/>
          <p:cNvSpPr>
            <a:spLocks noGrp="1"/>
          </p:cNvSpPr>
          <p:nvPr>
            <p:ph type="title"/>
          </p:nvPr>
        </p:nvSpPr>
        <p:spPr>
          <a:xfrm>
            <a:off x="713520" y="535320"/>
            <a:ext cx="7717320" cy="58644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cxnSp>
        <p:nvCxnSpPr>
          <p:cNvPr id="17" name="Google Shape;22;p4"/>
          <p:cNvCxnSpPr/>
          <p:nvPr/>
        </p:nvCxnSpPr>
        <p:spPr>
          <a:xfrm>
            <a:off x="817920" y="464400"/>
            <a:ext cx="816480" cy="360"/>
          </a:xfrm>
          <a:prstGeom prst="straightConnector1">
            <a:avLst/>
          </a:prstGeom>
          <a:ln w="19050">
            <a:solidFill>
              <a:srgbClr val="1d3675"/>
            </a:solidFill>
            <a:round/>
          </a:ln>
        </p:spPr>
      </p:cxn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 name="Google Shape;138;p26" descr=""/>
          <p:cNvPicPr/>
          <p:nvPr/>
        </p:nvPicPr>
        <p:blipFill>
          <a:blip r:embed="rId1"/>
          <a:stretch/>
        </p:blipFill>
        <p:spPr>
          <a:xfrm>
            <a:off x="4552920" y="0"/>
            <a:ext cx="4590720" cy="3857400"/>
          </a:xfrm>
          <a:prstGeom prst="rect">
            <a:avLst/>
          </a:prstGeom>
          <a:noFill/>
          <a:ln w="0">
            <a:noFill/>
          </a:ln>
        </p:spPr>
      </p:pic>
      <p:cxnSp>
        <p:nvCxnSpPr>
          <p:cNvPr id="19" name="Google Shape;142;p26"/>
          <p:cNvCxnSpPr/>
          <p:nvPr/>
        </p:nvCxnSpPr>
        <p:spPr>
          <a:xfrm>
            <a:off x="880920" y="2768040"/>
            <a:ext cx="816120" cy="360"/>
          </a:xfrm>
          <a:prstGeom prst="straightConnector1">
            <a:avLst/>
          </a:prstGeom>
          <a:ln w="19050">
            <a:solidFill>
              <a:srgbClr val="ffffff"/>
            </a:solidFill>
            <a:round/>
          </a:ln>
        </p:spPr>
      </p:cxnSp>
      <p:grpSp>
        <p:nvGrpSpPr>
          <p:cNvPr id="20" name="Google Shape;143;p26"/>
          <p:cNvGrpSpPr/>
          <p:nvPr/>
        </p:nvGrpSpPr>
        <p:grpSpPr>
          <a:xfrm>
            <a:off x="8552160" y="4551840"/>
            <a:ext cx="385560" cy="385560"/>
            <a:chOff x="8552160" y="4551840"/>
            <a:chExt cx="385560" cy="385560"/>
          </a:xfrm>
        </p:grpSpPr>
        <p:sp>
          <p:nvSpPr>
            <p:cNvPr id="21" name="Google Shape;144;p26"/>
            <p:cNvSpPr/>
            <p:nvPr/>
          </p:nvSpPr>
          <p:spPr>
            <a:xfrm rot="16200000">
              <a:off x="8552160" y="4551840"/>
              <a:ext cx="385560" cy="385560"/>
            </a:xfrm>
            <a:prstGeom prst="rect">
              <a:avLst/>
            </a:prstGeom>
            <a:noFill/>
            <a:ln w="19050">
              <a:solidFill>
                <a:srgbClr val="f07621"/>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2" name="Google Shape;145;p26"/>
            <p:cNvGrpSpPr/>
            <p:nvPr/>
          </p:nvGrpSpPr>
          <p:grpSpPr>
            <a:xfrm>
              <a:off x="8632440" y="4632120"/>
              <a:ext cx="224280" cy="224280"/>
              <a:chOff x="8632440" y="4632120"/>
              <a:chExt cx="224280" cy="224280"/>
            </a:xfrm>
          </p:grpSpPr>
          <p:sp>
            <p:nvSpPr>
              <p:cNvPr id="23" name="Google Shape;146;p26"/>
              <p:cNvSpPr/>
              <p:nvPr/>
            </p:nvSpPr>
            <p:spPr>
              <a:xfrm flipV="1">
                <a:off x="8632440" y="4631760"/>
                <a:ext cx="224280" cy="224280"/>
              </a:xfrm>
              <a:custGeom>
                <a:avLst/>
                <a:gdLst>
                  <a:gd name="textAreaLeft" fmla="*/ 0 w 224280"/>
                  <a:gd name="textAreaRight" fmla="*/ 224640 w 224280"/>
                  <a:gd name="textAreaTop" fmla="*/ -360 h 224280"/>
                  <a:gd name="textAreaBottom" fmla="*/ 224280 h 224280"/>
                </a:gdLst>
                <a:ahLst/>
                <a:cxnLst/>
                <a:rect l="textAreaLeft" t="textAreaTop" r="textAreaRight" b="textAreaBottom"/>
                <a:pathLst>
                  <a:path w="3513962" h="3513962">
                    <a:moveTo>
                      <a:pt x="3513963" y="0"/>
                    </a:moveTo>
                    <a:lnTo>
                      <a:pt x="3513963" y="3513963"/>
                    </a:lnTo>
                    <a:lnTo>
                      <a:pt x="0" y="3513963"/>
                    </a:lnTo>
                  </a:path>
                </a:pathLst>
              </a:custGeom>
              <a:noFill/>
              <a:ln w="19050">
                <a:solidFill>
                  <a:srgbClr val="f07621"/>
                </a:solidFill>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 name="Google Shape;147;p26"/>
              <p:cNvSpPr/>
              <p:nvPr/>
            </p:nvSpPr>
            <p:spPr>
              <a:xfrm flipV="1">
                <a:off x="8632440" y="4631760"/>
                <a:ext cx="224280" cy="224280"/>
              </a:xfrm>
              <a:custGeom>
                <a:avLst/>
                <a:gdLst>
                  <a:gd name="textAreaLeft" fmla="*/ 0 w 224280"/>
                  <a:gd name="textAreaRight" fmla="*/ 224640 w 224280"/>
                  <a:gd name="textAreaTop" fmla="*/ -360 h 224280"/>
                  <a:gd name="textAreaBottom" fmla="*/ 224280 h 224280"/>
                </a:gdLst>
                <a:ahLst/>
                <a:cxnLst/>
                <a:rect l="textAreaLeft" t="textAreaTop" r="textAreaRight" b="textAreaBottom"/>
                <a:pathLst>
                  <a:path w="3513963" h="3513962">
                    <a:moveTo>
                      <a:pt x="0" y="0"/>
                    </a:moveTo>
                    <a:lnTo>
                      <a:pt x="3513963" y="3513963"/>
                    </a:lnTo>
                  </a:path>
                </a:pathLst>
              </a:custGeom>
              <a:noFill/>
              <a:ln w="19050">
                <a:solidFill>
                  <a:srgbClr val="f07621"/>
                </a:solidFill>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25" name=""/>
          <p:cNvSpPr/>
          <p:nvPr/>
        </p:nvSpPr>
        <p:spPr>
          <a:xfrm>
            <a:off x="723960" y="2629080"/>
            <a:ext cx="3628800" cy="856800"/>
          </a:xfrm>
          <a:prstGeom prst="rect">
            <a:avLst/>
          </a:prstGeom>
          <a:noFill/>
          <a:ln w="0">
            <a:noFill/>
          </a:ln>
        </p:spPr>
        <p:style>
          <a:lnRef idx="0"/>
          <a:fillRef idx="0"/>
          <a:effectRef idx="0"/>
          <a:fontRef idx="minor"/>
        </p:style>
        <p:txBody>
          <a:bodyPr anchor="b">
            <a:normAutofit fontScale="85000" lnSpcReduction="9999"/>
          </a:bodyPr>
          <a:p>
            <a:pPr defTabSz="914400">
              <a:lnSpc>
                <a:spcPct val="90000"/>
              </a:lnSpc>
              <a:tabLst>
                <a:tab algn="l" pos="0"/>
              </a:tabLst>
            </a:pPr>
            <a:r>
              <a:rPr b="0" lang="en-US" sz="3800" strike="noStrike" u="none">
                <a:solidFill>
                  <a:srgbClr val="ffffff"/>
                </a:solidFill>
                <a:effectLst/>
                <a:uFillTx/>
                <a:latin typeface="Funnel Display"/>
              </a:rPr>
              <a:t>RESTAURANT MANAGEMENT</a:t>
            </a:r>
            <a:endParaRPr b="0" lang="en-US" sz="3800" strike="noStrike" u="none">
              <a:solidFill>
                <a:srgbClr val="000000"/>
              </a:solidFill>
              <a:effectLst/>
              <a:uFillTx/>
              <a:latin typeface="OpenSymbol"/>
            </a:endParaRPr>
          </a:p>
        </p:txBody>
      </p:sp>
      <p:sp>
        <p:nvSpPr>
          <p:cNvPr id="26" name=""/>
          <p:cNvSpPr/>
          <p:nvPr/>
        </p:nvSpPr>
        <p:spPr>
          <a:xfrm>
            <a:off x="4857840" y="4295880"/>
            <a:ext cx="3285720" cy="514080"/>
          </a:xfrm>
          <a:prstGeom prst="rect">
            <a:avLst/>
          </a:prstGeom>
          <a:noFill/>
          <a:ln w="0">
            <a:noFill/>
          </a:ln>
        </p:spPr>
        <p:style>
          <a:lnRef idx="0"/>
          <a:fillRef idx="0"/>
          <a:effectRef idx="0"/>
          <a:fontRef idx="minor"/>
        </p:style>
        <p:txBody>
          <a:bodyPr anchor="b">
            <a:normAutofit fontScale="77500" lnSpcReduction="19999"/>
          </a:bodyPr>
          <a:p>
            <a:pPr defTabSz="914400">
              <a:lnSpc>
                <a:spcPct val="150000"/>
              </a:lnSpc>
              <a:tabLst>
                <a:tab algn="l" pos="0"/>
              </a:tabLst>
            </a:pPr>
            <a:r>
              <a:rPr b="0" lang="en-US" sz="1400" strike="noStrike" u="none">
                <a:solidFill>
                  <a:srgbClr val="1d3675"/>
                </a:solidFill>
                <a:effectLst/>
                <a:uFillTx/>
                <a:latin typeface="Syne"/>
              </a:rPr>
              <a:t>Desktop-Based Restaurant Operations Management Using C99 &amp; GTK3</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
          <p:cNvSpPr/>
          <p:nvPr/>
        </p:nvSpPr>
        <p:spPr>
          <a:xfrm>
            <a:off x="714240" y="542880"/>
            <a:ext cx="7714800" cy="380520"/>
          </a:xfrm>
          <a:prstGeom prst="rect">
            <a:avLst/>
          </a:prstGeom>
          <a:noFill/>
          <a:ln w="0">
            <a:noFill/>
          </a:ln>
        </p:spPr>
        <p:style>
          <a:lnRef idx="0"/>
          <a:fillRef idx="0"/>
          <a:effectRef idx="0"/>
          <a:fontRef idx="minor"/>
        </p:style>
        <p:txBody>
          <a:bodyPr anchor="ctr">
            <a:normAutofit fontScale="77500" lnSpcReduction="19999"/>
          </a:bodyPr>
          <a:p>
            <a:pPr defTabSz="914400">
              <a:lnSpc>
                <a:spcPct val="100000"/>
              </a:lnSpc>
              <a:tabLst>
                <a:tab algn="l" pos="0"/>
              </a:tabLst>
            </a:pPr>
            <a:r>
              <a:rPr b="0" lang="en-US" sz="3000" strike="noStrike" u="none">
                <a:solidFill>
                  <a:srgbClr val="1d3675"/>
                </a:solidFill>
                <a:effectLst/>
                <a:uFillTx/>
                <a:latin typeface="Funnel Display"/>
              </a:rPr>
              <a:t>End-to-End System</a:t>
            </a:r>
            <a:endParaRPr b="0" lang="en-US" sz="3000" strike="noStrike" u="none">
              <a:solidFill>
                <a:srgbClr val="000000"/>
              </a:solidFill>
              <a:effectLst/>
              <a:uFillTx/>
              <a:latin typeface="OpenSymbol"/>
            </a:endParaRPr>
          </a:p>
        </p:txBody>
      </p:sp>
      <p:sp>
        <p:nvSpPr>
          <p:cNvPr id="28" name=""/>
          <p:cNvSpPr/>
          <p:nvPr/>
        </p:nvSpPr>
        <p:spPr>
          <a:xfrm>
            <a:off x="2124000" y="1457280"/>
            <a:ext cx="6305040" cy="1437840"/>
          </a:xfrm>
          <a:prstGeom prst="rect">
            <a:avLst/>
          </a:prstGeom>
          <a:noFill/>
          <a:ln w="0">
            <a:noFill/>
          </a:ln>
        </p:spPr>
        <p:style>
          <a:lnRef idx="0"/>
          <a:fillRef idx="0"/>
          <a:effectRef idx="0"/>
          <a:fontRef idx="minor"/>
        </p:style>
        <p:txBody>
          <a:bodyPr anchor="t">
            <a:normAutofit fontScale="92500" lnSpcReduction="9999"/>
          </a:bodyPr>
          <a:p>
            <a:pPr defTabSz="914400">
              <a:lnSpc>
                <a:spcPct val="150000"/>
              </a:lnSpc>
              <a:tabLst>
                <a:tab algn="l" pos="0"/>
              </a:tabLst>
            </a:pPr>
            <a:r>
              <a:rPr b="0" lang="en-US" sz="1400" strike="noStrike" u="none">
                <a:solidFill>
                  <a:srgbClr val="1d3675"/>
                </a:solidFill>
                <a:effectLst/>
                <a:uFillTx/>
                <a:latin typeface="Syne"/>
              </a:rPr>
              <a:t>A desktop-based Restaurant Management System implemented in C99 with GTK3, covering more than billing. In a mid-size restaurant, staff coordinate menu changes, table allocation, and real-time order routing to the kitchen, while management pulls daily revenue reports. All core functionality sits in a single GUI application, with project files main.c, restaurant.c/h, and gui.c/h.</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 name="Google Shape;253;p34" descr=""/>
          <p:cNvPicPr/>
          <p:nvPr/>
        </p:nvPicPr>
        <p:blipFill>
          <a:blip r:embed="rId1"/>
          <a:stretch/>
        </p:blipFill>
        <p:spPr>
          <a:xfrm>
            <a:off x="5286240" y="1457280"/>
            <a:ext cx="3857400" cy="3685680"/>
          </a:xfrm>
          <a:prstGeom prst="rect">
            <a:avLst/>
          </a:prstGeom>
          <a:noFill/>
          <a:ln w="0">
            <a:noFill/>
          </a:ln>
        </p:spPr>
      </p:pic>
      <p:sp>
        <p:nvSpPr>
          <p:cNvPr id="30" name=""/>
          <p:cNvSpPr/>
          <p:nvPr/>
        </p:nvSpPr>
        <p:spPr>
          <a:xfrm>
            <a:off x="714240" y="542880"/>
            <a:ext cx="7714800" cy="380520"/>
          </a:xfrm>
          <a:prstGeom prst="rect">
            <a:avLst/>
          </a:prstGeom>
          <a:noFill/>
          <a:ln w="0">
            <a:noFill/>
          </a:ln>
        </p:spPr>
        <p:style>
          <a:lnRef idx="0"/>
          <a:fillRef idx="0"/>
          <a:effectRef idx="0"/>
          <a:fontRef idx="minor"/>
        </p:style>
        <p:txBody>
          <a:bodyPr anchor="ctr">
            <a:normAutofit fontScale="77500" lnSpcReduction="19999"/>
          </a:bodyPr>
          <a:p>
            <a:pPr defTabSz="914400">
              <a:lnSpc>
                <a:spcPct val="100000"/>
              </a:lnSpc>
              <a:tabLst>
                <a:tab algn="l" pos="0"/>
              </a:tabLst>
            </a:pPr>
            <a:r>
              <a:rPr b="0" lang="en-US" sz="3000" strike="noStrike" u="none">
                <a:solidFill>
                  <a:srgbClr val="1d3675"/>
                </a:solidFill>
                <a:effectLst/>
                <a:uFillTx/>
                <a:latin typeface="Funnel Display"/>
              </a:rPr>
              <a:t>Operational Pain Points</a:t>
            </a:r>
            <a:endParaRPr b="0" lang="en-US" sz="3000" strike="noStrike" u="none">
              <a:solidFill>
                <a:srgbClr val="000000"/>
              </a:solidFill>
              <a:effectLst/>
              <a:uFillTx/>
              <a:latin typeface="OpenSymbol"/>
            </a:endParaRPr>
          </a:p>
        </p:txBody>
      </p:sp>
      <p:sp>
        <p:nvSpPr>
          <p:cNvPr id="31" name=""/>
          <p:cNvSpPr/>
          <p:nvPr/>
        </p:nvSpPr>
        <p:spPr>
          <a:xfrm>
            <a:off x="714240" y="1457280"/>
            <a:ext cx="3981240" cy="2466720"/>
          </a:xfrm>
          <a:prstGeom prst="rect">
            <a:avLst/>
          </a:prstGeom>
          <a:noFill/>
          <a:ln w="0">
            <a:noFill/>
          </a:ln>
        </p:spPr>
        <p:style>
          <a:lnRef idx="0"/>
          <a:fillRef idx="0"/>
          <a:effectRef idx="0"/>
          <a:fontRef idx="minor"/>
        </p:style>
        <p:txBody>
          <a:bodyPr anchor="t">
            <a:normAutofit lnSpcReduction="9999"/>
          </a:bodyPr>
          <a:p>
            <a:pPr defTabSz="914400">
              <a:lnSpc>
                <a:spcPct val="150000"/>
              </a:lnSpc>
              <a:tabLst>
                <a:tab algn="l" pos="0"/>
              </a:tabLst>
            </a:pPr>
            <a:r>
              <a:rPr b="0" lang="en-US" sz="1400" strike="noStrike" u="none">
                <a:solidFill>
                  <a:srgbClr val="1d3675"/>
                </a:solidFill>
                <a:effectLst/>
                <a:uFillTx/>
                <a:latin typeface="Syne"/>
              </a:rPr>
              <a:t>In manual, paper- or clipboard-based workstreams, wrong table assignments mix orders, producing incorrect dishes and customer frustration. Misplaced bills spark disputes at checkout, wasting staff time and harming trust. Delayed kitchen updates from missing tickets elongate service times and hurt throughput. Collectively, these errors degrade visibility into orders, tables, and revenue.</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1d3675"/>
                </a:solidFill>
                <a:effectLst/>
                <a:uFillTx/>
                <a:latin typeface="Funnel Display"/>
              </a:rPr>
              <a:t>Integrated System Wins</a:t>
            </a:r>
            <a:endParaRPr b="0" lang="en-US" sz="2400" strike="noStrike" u="none">
              <a:solidFill>
                <a:srgbClr val="000000"/>
              </a:solidFill>
              <a:effectLst/>
              <a:uFillTx/>
              <a:latin typeface="OpenSymbol"/>
            </a:endParaRPr>
          </a:p>
        </p:txBody>
      </p:sp>
      <p:sp>
        <p:nvSpPr>
          <p:cNvPr id="33" name=""/>
          <p:cNvSpPr/>
          <p:nvPr/>
        </p:nvSpPr>
        <p:spPr>
          <a:xfrm>
            <a:off x="476280" y="1333440"/>
            <a:ext cx="3904920" cy="105696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d3675"/>
                </a:solidFill>
                <a:effectLst/>
                <a:uFillTx/>
                <a:latin typeface="Syne"/>
              </a:rPr>
              <a:t>Paper order slips, a separate cash register, and scattered table notes. Operations are fragmented, prone to handwritten errors, and delays multiply as staff chase information across tools. Visibility into orders, tables, and revenue is limited and inconsistent.</a:t>
            </a:r>
            <a:endParaRPr b="0" lang="en-US" sz="1200" strike="noStrike" u="none">
              <a:solidFill>
                <a:srgbClr val="000000"/>
              </a:solidFill>
              <a:effectLst/>
              <a:uFillTx/>
              <a:latin typeface="OpenSymbol"/>
            </a:endParaRPr>
          </a:p>
        </p:txBody>
      </p:sp>
      <p:sp>
        <p:nvSpPr>
          <p:cNvPr id="34" name=""/>
          <p:cNvSpPr/>
          <p:nvPr/>
        </p:nvSpPr>
        <p:spPr>
          <a:xfrm>
            <a:off x="4762440" y="1333440"/>
            <a:ext cx="3904920" cy="105696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d3675"/>
                </a:solidFill>
                <a:effectLst/>
                <a:uFillTx/>
                <a:latin typeface="Syne"/>
              </a:rPr>
              <a:t>Centralized menu management and a GUI-driven table status feed. Orders route to a Kitchen Display System, with integrated billing and analytics. Real-time coordination and traceability across orders, tables, and revenue are built into the workflow.</a:t>
            </a:r>
            <a:endParaRPr b="0" lang="en-US" sz="1200" strike="noStrike" u="none">
              <a:solidFill>
                <a:srgbClr val="000000"/>
              </a:solidFill>
              <a:effectLst/>
              <a:uFillTx/>
              <a:latin typeface="OpenSymbol"/>
            </a:endParaRPr>
          </a:p>
        </p:txBody>
      </p:sp>
      <p:sp>
        <p:nvSpPr>
          <p:cNvPr id="35" name=""/>
          <p:cNvSpPr/>
          <p:nvPr/>
        </p:nvSpPr>
        <p:spPr>
          <a:xfrm>
            <a:off x="476280" y="438156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d3675"/>
                </a:solidFill>
                <a:effectLst/>
                <a:uFillTx/>
                <a:latin typeface="Syne"/>
              </a:rPr>
              <a:t>A unified system reduces errors and provides real-time visibility across operations.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
          <p:cNvSpPr/>
          <p:nvPr/>
        </p:nvSpPr>
        <p:spPr>
          <a:xfrm>
            <a:off x="714240" y="542880"/>
            <a:ext cx="7714800" cy="380520"/>
          </a:xfrm>
          <a:prstGeom prst="rect">
            <a:avLst/>
          </a:prstGeom>
          <a:noFill/>
          <a:ln w="0">
            <a:noFill/>
          </a:ln>
        </p:spPr>
        <p:style>
          <a:lnRef idx="0"/>
          <a:fillRef idx="0"/>
          <a:effectRef idx="0"/>
          <a:fontRef idx="minor"/>
        </p:style>
        <p:txBody>
          <a:bodyPr anchor="ctr">
            <a:normAutofit fontScale="77500" lnSpcReduction="19999"/>
          </a:bodyPr>
          <a:p>
            <a:pPr defTabSz="914400">
              <a:lnSpc>
                <a:spcPct val="100000"/>
              </a:lnSpc>
              <a:tabLst>
                <a:tab algn="l" pos="0"/>
              </a:tabLst>
            </a:pPr>
            <a:r>
              <a:rPr b="0" lang="en-US" sz="3000" strike="noStrike" u="none">
                <a:solidFill>
                  <a:srgbClr val="1d3675"/>
                </a:solidFill>
                <a:effectLst/>
                <a:uFillTx/>
                <a:latin typeface="Funnel Display"/>
              </a:rPr>
              <a:t>Reliable Desktop App</a:t>
            </a:r>
            <a:endParaRPr b="0" lang="en-US" sz="3000" strike="noStrike" u="none">
              <a:solidFill>
                <a:srgbClr val="000000"/>
              </a:solidFill>
              <a:effectLst/>
              <a:uFillTx/>
              <a:latin typeface="OpenSymbol"/>
            </a:endParaRPr>
          </a:p>
        </p:txBody>
      </p:sp>
      <p:sp>
        <p:nvSpPr>
          <p:cNvPr id="37" name=""/>
          <p:cNvSpPr/>
          <p:nvPr/>
        </p:nvSpPr>
        <p:spPr>
          <a:xfrm>
            <a:off x="2124000" y="1457280"/>
            <a:ext cx="6305040" cy="143784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1d3675"/>
                </a:solidFill>
                <a:effectLst/>
                <a:uFillTx/>
                <a:latin typeface="Syne"/>
              </a:rPr>
              <a:t>Guided by measurable objectives, the design delivers a modular C99 architecture with GTK3 GUI. Real-time order flow ensures seamless front‑of‑house to kitchen updates. Menu and transactional data are persisted via lightweight storage. Operational reports and analytics track revenue and performance, informing decisions and improvements.</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algn="ctr" defTabSz="914400">
              <a:lnSpc>
                <a:spcPct val="100000"/>
              </a:lnSpc>
              <a:tabLst>
                <a:tab algn="l" pos="0"/>
              </a:tabLst>
            </a:pPr>
            <a:r>
              <a:rPr b="1" lang="en-US" sz="2400" strike="noStrike" u="none">
                <a:solidFill>
                  <a:srgbClr val="1d3675"/>
                </a:solidFill>
                <a:effectLst/>
                <a:uFillTx/>
                <a:latin typeface="Funnel Display"/>
              </a:rPr>
              <a:t>Low Overhead, Full Control</a:t>
            </a:r>
            <a:endParaRPr b="0" lang="en-US" sz="2400" strike="noStrike" u="none">
              <a:solidFill>
                <a:srgbClr val="000000"/>
              </a:solidFill>
              <a:effectLst/>
              <a:uFillTx/>
              <a:latin typeface="OpenSymbol"/>
            </a:endParaRPr>
          </a:p>
        </p:txBody>
      </p:sp>
      <p:sp>
        <p:nvSpPr>
          <p:cNvPr id="39" name=""/>
          <p:cNvSpPr/>
          <p:nvPr/>
        </p:nvSpPr>
        <p:spPr>
          <a:xfrm>
            <a:off x="476280" y="1238400"/>
            <a:ext cx="390492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1400" strike="noStrike" u="none">
                <a:solidFill>
                  <a:srgbClr val="1d3675"/>
                </a:solidFill>
                <a:effectLst/>
                <a:uFillTx/>
                <a:latin typeface="Syne"/>
              </a:rPr>
              <a:t>C99 + GTK3 stack</a:t>
            </a:r>
            <a:endParaRPr b="0" lang="en-US" sz="1400" strike="noStrike" u="none">
              <a:solidFill>
                <a:srgbClr val="000000"/>
              </a:solidFill>
              <a:effectLst/>
              <a:uFillTx/>
              <a:latin typeface="OpenSymbol"/>
            </a:endParaRPr>
          </a:p>
        </p:txBody>
      </p:sp>
      <p:sp>
        <p:nvSpPr>
          <p:cNvPr id="40" name=""/>
          <p:cNvSpPr/>
          <p:nvPr/>
        </p:nvSpPr>
        <p:spPr>
          <a:xfrm>
            <a:off x="476280" y="1695600"/>
            <a:ext cx="3904920" cy="8758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d3675"/>
                </a:solidFill>
                <a:effectLst/>
                <a:uFillTx/>
                <a:latin typeface="Syne"/>
              </a:rPr>
              <a:t>Low runtime overhead with native GTK3 UI on Linux. Full control over memory and performance via GCC compilation. Portable desktop app with predictable behavior and low dependencies.</a:t>
            </a:r>
            <a:endParaRPr b="0" lang="en-US" sz="1200" strike="noStrike" u="none">
              <a:solidFill>
                <a:srgbClr val="000000"/>
              </a:solidFill>
              <a:effectLst/>
              <a:uFillTx/>
              <a:latin typeface="OpenSymbol"/>
            </a:endParaRPr>
          </a:p>
        </p:txBody>
      </p:sp>
      <p:sp>
        <p:nvSpPr>
          <p:cNvPr id="41" name=""/>
          <p:cNvSpPr/>
          <p:nvPr/>
        </p:nvSpPr>
        <p:spPr>
          <a:xfrm>
            <a:off x="4762440" y="1238400"/>
            <a:ext cx="390492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1400" strike="noStrike" u="none">
                <a:solidFill>
                  <a:srgbClr val="1d3675"/>
                </a:solidFill>
                <a:effectLst/>
                <a:uFillTx/>
                <a:latin typeface="Syne"/>
              </a:rPr>
              <a:t>Higher‑level frameworks</a:t>
            </a:r>
            <a:endParaRPr b="0" lang="en-US" sz="1400" strike="noStrike" u="none">
              <a:solidFill>
                <a:srgbClr val="000000"/>
              </a:solidFill>
              <a:effectLst/>
              <a:uFillTx/>
              <a:latin typeface="OpenSymbol"/>
            </a:endParaRPr>
          </a:p>
        </p:txBody>
      </p:sp>
      <p:sp>
        <p:nvSpPr>
          <p:cNvPr id="42" name=""/>
          <p:cNvSpPr/>
          <p:nvPr/>
        </p:nvSpPr>
        <p:spPr>
          <a:xfrm>
            <a:off x="4762440" y="1695600"/>
            <a:ext cx="3904920" cy="6948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d3675"/>
                </a:solidFill>
                <a:effectLst/>
                <a:uFillTx/>
                <a:latin typeface="Syne"/>
              </a:rPr>
              <a:t>Faster to market and richer ecosystems, but heavier runtime, broader platform variance, and reduced direct memory control.</a:t>
            </a:r>
            <a:endParaRPr b="0" lang="en-US" sz="1200" strike="noStrike" u="none">
              <a:solidFill>
                <a:srgbClr val="000000"/>
              </a:solidFill>
              <a:effectLst/>
              <a:uFillTx/>
              <a:latin typeface="OpenSymbol"/>
            </a:endParaRPr>
          </a:p>
        </p:txBody>
      </p:sp>
      <p:sp>
        <p:nvSpPr>
          <p:cNvPr id="43" name=""/>
          <p:cNvSpPr/>
          <p:nvPr/>
        </p:nvSpPr>
        <p:spPr>
          <a:xfrm>
            <a:off x="476280" y="422928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d3675"/>
                </a:solidFill>
                <a:effectLst/>
                <a:uFillTx/>
                <a:latin typeface="Syne"/>
              </a:rPr>
              <a:t>C99+GTK3 provides the lean, portable, high-control foundation that aligns with the project goals.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
          <p:cNvSpPr/>
          <p:nvPr/>
        </p:nvSpPr>
        <p:spPr>
          <a:xfrm>
            <a:off x="2000160" y="2104920"/>
            <a:ext cx="114120" cy="9000"/>
          </a:xfrm>
          <a:prstGeom prst="roundRect">
            <a:avLst>
              <a:gd name="adj" fmla="val 16667"/>
            </a:avLst>
          </a:prstGeom>
          <a:solidFill>
            <a:srgbClr val="f07621"/>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5" name=""/>
          <p:cNvSpPr/>
          <p:nvPr/>
        </p:nvSpPr>
        <p:spPr>
          <a:xfrm>
            <a:off x="3638520" y="2104920"/>
            <a:ext cx="114120" cy="9000"/>
          </a:xfrm>
          <a:prstGeom prst="roundRect">
            <a:avLst>
              <a:gd name="adj" fmla="val 16667"/>
            </a:avLst>
          </a:prstGeom>
          <a:solidFill>
            <a:srgbClr val="f07621"/>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6" name=""/>
          <p:cNvSpPr/>
          <p:nvPr/>
        </p:nvSpPr>
        <p:spPr>
          <a:xfrm>
            <a:off x="5276880" y="2104920"/>
            <a:ext cx="114120" cy="9000"/>
          </a:xfrm>
          <a:prstGeom prst="roundRect">
            <a:avLst>
              <a:gd name="adj" fmla="val 16667"/>
            </a:avLst>
          </a:prstGeom>
          <a:solidFill>
            <a:srgbClr val="f07621"/>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7" name=""/>
          <p:cNvSpPr/>
          <p:nvPr/>
        </p:nvSpPr>
        <p:spPr>
          <a:xfrm>
            <a:off x="6915240" y="2104920"/>
            <a:ext cx="114120" cy="9000"/>
          </a:xfrm>
          <a:prstGeom prst="roundRect">
            <a:avLst>
              <a:gd name="adj" fmla="val 16667"/>
            </a:avLst>
          </a:prstGeom>
          <a:solidFill>
            <a:srgbClr val="f07621"/>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8" name=""/>
          <p:cNvSpPr/>
          <p:nvPr/>
        </p:nvSpPr>
        <p:spPr>
          <a:xfrm>
            <a:off x="476280" y="2000160"/>
            <a:ext cx="1523520" cy="20916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9" name=""/>
          <p:cNvSpPr/>
          <p:nvPr/>
        </p:nvSpPr>
        <p:spPr>
          <a:xfrm>
            <a:off x="1238400" y="2209680"/>
            <a:ext cx="9000" cy="32364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0" name=""/>
          <p:cNvSpPr/>
          <p:nvPr/>
        </p:nvSpPr>
        <p:spPr>
          <a:xfrm>
            <a:off x="2114640" y="2000160"/>
            <a:ext cx="1523520" cy="20916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1" name=""/>
          <p:cNvSpPr/>
          <p:nvPr/>
        </p:nvSpPr>
        <p:spPr>
          <a:xfrm>
            <a:off x="2876400" y="2209680"/>
            <a:ext cx="9000" cy="32364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2" name=""/>
          <p:cNvSpPr/>
          <p:nvPr/>
        </p:nvSpPr>
        <p:spPr>
          <a:xfrm>
            <a:off x="3753000" y="2000160"/>
            <a:ext cx="1523520" cy="20916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3" name=""/>
          <p:cNvSpPr/>
          <p:nvPr/>
        </p:nvSpPr>
        <p:spPr>
          <a:xfrm>
            <a:off x="4514760" y="2209680"/>
            <a:ext cx="9000" cy="32364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4" name=""/>
          <p:cNvSpPr/>
          <p:nvPr/>
        </p:nvSpPr>
        <p:spPr>
          <a:xfrm>
            <a:off x="5391000" y="2000160"/>
            <a:ext cx="1523520" cy="20916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5" name=""/>
          <p:cNvSpPr/>
          <p:nvPr/>
        </p:nvSpPr>
        <p:spPr>
          <a:xfrm>
            <a:off x="6153120" y="2209680"/>
            <a:ext cx="9000" cy="32364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6" name=""/>
          <p:cNvSpPr/>
          <p:nvPr/>
        </p:nvSpPr>
        <p:spPr>
          <a:xfrm>
            <a:off x="7029360" y="2000160"/>
            <a:ext cx="1523520" cy="20916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7" name=""/>
          <p:cNvSpPr/>
          <p:nvPr/>
        </p:nvSpPr>
        <p:spPr>
          <a:xfrm>
            <a:off x="7791480" y="2209680"/>
            <a:ext cx="9000" cy="32364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8" name=""/>
          <p:cNvSpPr/>
          <p:nvPr/>
        </p:nvSpPr>
        <p:spPr>
          <a:xfrm>
            <a:off x="476280" y="380880"/>
            <a:ext cx="8191080" cy="3902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600" strike="noStrike" u="none">
                <a:solidFill>
                  <a:srgbClr val="1d3675"/>
                </a:solidFill>
                <a:effectLst/>
                <a:uFillTx/>
                <a:latin typeface="Funnel Display"/>
              </a:rPr>
              <a:t>Modular Architecture</a:t>
            </a:r>
            <a:endParaRPr b="0" lang="en-US" sz="2600" strike="noStrike" u="none">
              <a:solidFill>
                <a:srgbClr val="000000"/>
              </a:solidFill>
              <a:effectLst/>
              <a:uFillTx/>
              <a:latin typeface="OpenSymbol"/>
            </a:endParaRPr>
          </a:p>
        </p:txBody>
      </p:sp>
      <p:sp>
        <p:nvSpPr>
          <p:cNvPr id="59" name=""/>
          <p:cNvSpPr/>
          <p:nvPr/>
        </p:nvSpPr>
        <p:spPr>
          <a:xfrm>
            <a:off x="476280" y="1219320"/>
            <a:ext cx="1523520" cy="36144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1d3675"/>
                </a:solidFill>
                <a:effectLst/>
                <a:uFillTx/>
                <a:latin typeface="Funnel Display"/>
              </a:rPr>
              <a:t>GUI Layer</a:t>
            </a:r>
            <a:endParaRPr b="0" lang="en-US" sz="1400" strike="noStrike" u="none">
              <a:solidFill>
                <a:srgbClr val="000000"/>
              </a:solidFill>
              <a:effectLst/>
              <a:uFillTx/>
              <a:latin typeface="OpenSymbol"/>
            </a:endParaRPr>
          </a:p>
        </p:txBody>
      </p:sp>
      <p:sp>
        <p:nvSpPr>
          <p:cNvPr id="60" name=""/>
          <p:cNvSpPr/>
          <p:nvPr/>
        </p:nvSpPr>
        <p:spPr>
          <a:xfrm>
            <a:off x="476280" y="2619360"/>
            <a:ext cx="1523520" cy="8758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1d3675"/>
                </a:solidFill>
                <a:effectLst/>
                <a:uFillTx/>
                <a:latin typeface="Syne"/>
              </a:rPr>
              <a:t>GUI layer (gui.c / gui.h) handles GTK3 widgets and user events.</a:t>
            </a:r>
            <a:endParaRPr b="0" lang="en-US" sz="1200" strike="noStrike" u="none">
              <a:solidFill>
                <a:srgbClr val="000000"/>
              </a:solidFill>
              <a:effectLst/>
              <a:uFillTx/>
              <a:latin typeface="OpenSymbol"/>
            </a:endParaRPr>
          </a:p>
        </p:txBody>
      </p:sp>
      <p:sp>
        <p:nvSpPr>
          <p:cNvPr id="61" name=""/>
          <p:cNvSpPr/>
          <p:nvPr/>
        </p:nvSpPr>
        <p:spPr>
          <a:xfrm>
            <a:off x="2114640" y="1219320"/>
            <a:ext cx="1523520" cy="57132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1d3675"/>
                </a:solidFill>
                <a:effectLst/>
                <a:uFillTx/>
                <a:latin typeface="Funnel Display"/>
              </a:rPr>
              <a:t>Application Core</a:t>
            </a:r>
            <a:endParaRPr b="0" lang="en-US" sz="1400" strike="noStrike" u="none">
              <a:solidFill>
                <a:srgbClr val="000000"/>
              </a:solidFill>
              <a:effectLst/>
              <a:uFillTx/>
              <a:latin typeface="OpenSymbol"/>
            </a:endParaRPr>
          </a:p>
        </p:txBody>
      </p:sp>
      <p:sp>
        <p:nvSpPr>
          <p:cNvPr id="62" name=""/>
          <p:cNvSpPr/>
          <p:nvPr/>
        </p:nvSpPr>
        <p:spPr>
          <a:xfrm>
            <a:off x="2114640" y="2619360"/>
            <a:ext cx="1523520" cy="123804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1d3675"/>
                </a:solidFill>
                <a:effectLst/>
                <a:uFillTx/>
                <a:latin typeface="Syne"/>
              </a:rPr>
              <a:t>Application core (restaurant.c / restaurant.h) implements menu, tables, orders, and billing logic.</a:t>
            </a:r>
            <a:endParaRPr b="0" lang="en-US" sz="1200" strike="noStrike" u="none">
              <a:solidFill>
                <a:srgbClr val="000000"/>
              </a:solidFill>
              <a:effectLst/>
              <a:uFillTx/>
              <a:latin typeface="OpenSymbol"/>
            </a:endParaRPr>
          </a:p>
        </p:txBody>
      </p:sp>
      <p:sp>
        <p:nvSpPr>
          <p:cNvPr id="63" name=""/>
          <p:cNvSpPr/>
          <p:nvPr/>
        </p:nvSpPr>
        <p:spPr>
          <a:xfrm>
            <a:off x="3753000" y="1219320"/>
            <a:ext cx="1523520" cy="36144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1d3675"/>
                </a:solidFill>
                <a:effectLst/>
                <a:uFillTx/>
                <a:latin typeface="Funnel Display"/>
              </a:rPr>
              <a:t>Main Wiring</a:t>
            </a:r>
            <a:endParaRPr b="0" lang="en-US" sz="1400" strike="noStrike" u="none">
              <a:solidFill>
                <a:srgbClr val="000000"/>
              </a:solidFill>
              <a:effectLst/>
              <a:uFillTx/>
              <a:latin typeface="OpenSymbol"/>
            </a:endParaRPr>
          </a:p>
        </p:txBody>
      </p:sp>
      <p:sp>
        <p:nvSpPr>
          <p:cNvPr id="64" name=""/>
          <p:cNvSpPr/>
          <p:nvPr/>
        </p:nvSpPr>
        <p:spPr>
          <a:xfrm>
            <a:off x="3753000" y="2619360"/>
            <a:ext cx="1523520" cy="6948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1d3675"/>
                </a:solidFill>
                <a:effectLst/>
                <a:uFillTx/>
                <a:latin typeface="Syne"/>
              </a:rPr>
              <a:t>main.c initializes the app and wires GUI to the core.</a:t>
            </a:r>
            <a:endParaRPr b="0" lang="en-US" sz="1200" strike="noStrike" u="none">
              <a:solidFill>
                <a:srgbClr val="000000"/>
              </a:solidFill>
              <a:effectLst/>
              <a:uFillTx/>
              <a:latin typeface="OpenSymbol"/>
            </a:endParaRPr>
          </a:p>
        </p:txBody>
      </p:sp>
      <p:sp>
        <p:nvSpPr>
          <p:cNvPr id="65" name=""/>
          <p:cNvSpPr/>
          <p:nvPr/>
        </p:nvSpPr>
        <p:spPr>
          <a:xfrm>
            <a:off x="5391000" y="1219320"/>
            <a:ext cx="1523520" cy="57132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1d3675"/>
                </a:solidFill>
                <a:effectLst/>
                <a:uFillTx/>
                <a:latin typeface="Funnel Display"/>
              </a:rPr>
              <a:t>Inter-Module Link</a:t>
            </a:r>
            <a:endParaRPr b="0" lang="en-US" sz="1400" strike="noStrike" u="none">
              <a:solidFill>
                <a:srgbClr val="000000"/>
              </a:solidFill>
              <a:effectLst/>
              <a:uFillTx/>
              <a:latin typeface="OpenSymbol"/>
            </a:endParaRPr>
          </a:p>
        </p:txBody>
      </p:sp>
      <p:sp>
        <p:nvSpPr>
          <p:cNvPr id="66" name=""/>
          <p:cNvSpPr/>
          <p:nvPr/>
        </p:nvSpPr>
        <p:spPr>
          <a:xfrm>
            <a:off x="5391000" y="2619360"/>
            <a:ext cx="1523520" cy="123804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1d3675"/>
                </a:solidFill>
                <a:effectLst/>
                <a:uFillTx/>
                <a:latin typeface="Syne"/>
              </a:rPr>
              <a:t>Inter-module communication uses in-memory C structures and file persistence for records.</a:t>
            </a:r>
            <a:endParaRPr b="0" lang="en-US" sz="1200" strike="noStrike" u="none">
              <a:solidFill>
                <a:srgbClr val="000000"/>
              </a:solidFill>
              <a:effectLst/>
              <a:uFillTx/>
              <a:latin typeface="OpenSymbol"/>
            </a:endParaRPr>
          </a:p>
        </p:txBody>
      </p:sp>
      <p:sp>
        <p:nvSpPr>
          <p:cNvPr id="67" name=""/>
          <p:cNvSpPr/>
          <p:nvPr/>
        </p:nvSpPr>
        <p:spPr>
          <a:xfrm>
            <a:off x="7029360" y="1219320"/>
            <a:ext cx="1523520" cy="36144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1d3675"/>
                </a:solidFill>
                <a:effectLst/>
                <a:uFillTx/>
                <a:latin typeface="Funnel Display"/>
              </a:rPr>
              <a:t>Kitchen View</a:t>
            </a:r>
            <a:endParaRPr b="0" lang="en-US" sz="1400" strike="noStrike" u="none">
              <a:solidFill>
                <a:srgbClr val="000000"/>
              </a:solidFill>
              <a:effectLst/>
              <a:uFillTx/>
              <a:latin typeface="OpenSymbol"/>
            </a:endParaRPr>
          </a:p>
        </p:txBody>
      </p:sp>
      <p:sp>
        <p:nvSpPr>
          <p:cNvPr id="68" name=""/>
          <p:cNvSpPr/>
          <p:nvPr/>
        </p:nvSpPr>
        <p:spPr>
          <a:xfrm>
            <a:off x="7029360" y="2619360"/>
            <a:ext cx="1523520" cy="8758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1d3675"/>
                </a:solidFill>
                <a:effectLst/>
                <a:uFillTx/>
                <a:latin typeface="Syne"/>
              </a:rPr>
              <a:t>Kitchen Display is a GUI view subscribed to order state.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
          <p:cNvSpPr/>
          <p:nvPr/>
        </p:nvSpPr>
        <p:spPr>
          <a:xfrm>
            <a:off x="714240" y="542880"/>
            <a:ext cx="7714800" cy="380520"/>
          </a:xfrm>
          <a:prstGeom prst="rect">
            <a:avLst/>
          </a:prstGeom>
          <a:noFill/>
          <a:ln w="0">
            <a:noFill/>
          </a:ln>
        </p:spPr>
        <p:style>
          <a:lnRef idx="0"/>
          <a:fillRef idx="0"/>
          <a:effectRef idx="0"/>
          <a:fontRef idx="minor"/>
        </p:style>
        <p:txBody>
          <a:bodyPr anchor="ctr">
            <a:normAutofit fontScale="77500" lnSpcReduction="19999"/>
          </a:bodyPr>
          <a:p>
            <a:pPr defTabSz="914400">
              <a:lnSpc>
                <a:spcPct val="100000"/>
              </a:lnSpc>
              <a:tabLst>
                <a:tab algn="l" pos="0"/>
              </a:tabLst>
            </a:pPr>
            <a:r>
              <a:rPr b="0" lang="en-US" sz="3000" strike="noStrike" u="none">
                <a:solidFill>
                  <a:srgbClr val="1d3675"/>
                </a:solidFill>
                <a:effectLst/>
                <a:uFillTx/>
                <a:latin typeface="Funnel Display"/>
              </a:rPr>
              <a:t>Seven Modules</a:t>
            </a:r>
            <a:endParaRPr b="0" lang="en-US" sz="3000" strike="noStrike" u="none">
              <a:solidFill>
                <a:srgbClr val="000000"/>
              </a:solidFill>
              <a:effectLst/>
              <a:uFillTx/>
              <a:latin typeface="OpenSymbol"/>
            </a:endParaRPr>
          </a:p>
        </p:txBody>
      </p:sp>
      <p:sp>
        <p:nvSpPr>
          <p:cNvPr id="70" name=""/>
          <p:cNvSpPr/>
          <p:nvPr/>
        </p:nvSpPr>
        <p:spPr>
          <a:xfrm>
            <a:off x="2124000" y="1457280"/>
            <a:ext cx="6305040" cy="169524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1d3675"/>
                </a:solidFill>
                <a:effectLst/>
                <a:uFillTx/>
                <a:latin typeface="Syne"/>
              </a:rPr>
              <a:t>Seven modules drive core operations, implemented as functions and data structures. Dashboard &amp; Analytics aggregates sales, open orders, and occupancy; Menu Management handles CRUD for items, prices, and categories; Table Management tracks free/occupied/reserved tables; Order Management creates, modifies, and transfers orders; Kitchen Display System queues orders for the kitchen; Billing computes,</a:t>
            </a:r>
            <a:r>
              <a:rPr b="0" lang="zh-CN" sz="1400" strike="noStrike" u="none">
                <a:solidFill>
                  <a:srgbClr val="1d3675"/>
                </a:solidFill>
                <a:effectLst/>
                <a:uFillTx/>
                <a:latin typeface="Syne"/>
              </a:rPr>
              <a:t>税</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
          <p:cNvSpPr/>
          <p:nvPr/>
        </p:nvSpPr>
        <p:spPr>
          <a:xfrm>
            <a:off x="476280" y="1238400"/>
            <a:ext cx="3904920" cy="295236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2" name=""/>
          <p:cNvSpPr/>
          <p:nvPr/>
        </p:nvSpPr>
        <p:spPr>
          <a:xfrm>
            <a:off x="4762440" y="1238400"/>
            <a:ext cx="3904920" cy="295236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3"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1d3675"/>
                </a:solidFill>
                <a:effectLst/>
                <a:uFillTx/>
                <a:latin typeface="Funnel Display"/>
              </a:rPr>
              <a:t>C vs Relational: Concrete Mapping</a:t>
            </a:r>
            <a:endParaRPr b="0" lang="en-US" sz="2400" strike="noStrike" u="none">
              <a:solidFill>
                <a:srgbClr val="000000"/>
              </a:solidFill>
              <a:effectLst/>
              <a:uFillTx/>
              <a:latin typeface="OpenSymbol"/>
            </a:endParaRPr>
          </a:p>
        </p:txBody>
      </p:sp>
      <p:sp>
        <p:nvSpPr>
          <p:cNvPr id="74" name=""/>
          <p:cNvSpPr/>
          <p:nvPr/>
        </p:nvSpPr>
        <p:spPr>
          <a:xfrm>
            <a:off x="704880" y="2771640"/>
            <a:ext cx="3447720" cy="141876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Syne"/>
              </a:rPr>
              <a:t>MenuItem, Table, Order are fixed, in-memory structs (e.g., int id; char name[64]; float price;). They encode domain objects directly, with explicit memory handling and small, fast access. Simple file persistence works by reading/writing these blocks without a separate database layer.</a:t>
            </a:r>
            <a:endParaRPr b="0" lang="en-US" sz="1200" strike="noStrike" u="none">
              <a:solidFill>
                <a:srgbClr val="000000"/>
              </a:solidFill>
              <a:effectLst/>
              <a:uFillTx/>
              <a:latin typeface="OpenSymbol"/>
            </a:endParaRPr>
          </a:p>
        </p:txBody>
      </p:sp>
      <p:sp>
        <p:nvSpPr>
          <p:cNvPr id="75" name=""/>
          <p:cNvSpPr/>
          <p:nvPr/>
        </p:nvSpPr>
        <p:spPr>
          <a:xfrm>
            <a:off x="4991040" y="2771640"/>
            <a:ext cx="3447720" cy="12380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Syne"/>
              </a:rPr>
              <a:t>Data lives in tables with normalization and foreign keys. The same domain entities map to multiple tables and require an ORM or SQL to create, query, and update. This adds flexibility, scalability, and decouples code from storage details.</a:t>
            </a:r>
            <a:endParaRPr b="0" lang="en-US" sz="1200" strike="noStrike" u="none">
              <a:solidFill>
                <a:srgbClr val="000000"/>
              </a:solidFill>
              <a:effectLst/>
              <a:uFillTx/>
              <a:latin typeface="OpenSymbol"/>
            </a:endParaRPr>
          </a:p>
        </p:txBody>
      </p:sp>
      <p:sp>
        <p:nvSpPr>
          <p:cNvPr id="76" name=""/>
          <p:cNvSpPr/>
          <p:nvPr/>
        </p:nvSpPr>
        <p:spPr>
          <a:xfrm>
            <a:off x="476280" y="438156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d3675"/>
                </a:solidFill>
                <a:effectLst/>
                <a:uFillTx/>
                <a:latin typeface="Syne"/>
              </a:rPr>
              <a:t>C structs favor speed and simplicity; relational models favor structure and scalability.</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
          <p:cNvSpPr/>
          <p:nvPr/>
        </p:nvSpPr>
        <p:spPr>
          <a:xfrm>
            <a:off x="476280" y="1866960"/>
            <a:ext cx="1914120" cy="280008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8" name=""/>
          <p:cNvSpPr/>
          <p:nvPr/>
        </p:nvSpPr>
        <p:spPr>
          <a:xfrm>
            <a:off x="2523960" y="1866960"/>
            <a:ext cx="1914120" cy="280008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9" name=""/>
          <p:cNvSpPr/>
          <p:nvPr/>
        </p:nvSpPr>
        <p:spPr>
          <a:xfrm>
            <a:off x="4572000" y="1866960"/>
            <a:ext cx="1914120" cy="280008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80" name=""/>
          <p:cNvSpPr/>
          <p:nvPr/>
        </p:nvSpPr>
        <p:spPr>
          <a:xfrm>
            <a:off x="6620040" y="1866960"/>
            <a:ext cx="1914120" cy="280008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81" name=""/>
          <p:cNvSpPr/>
          <p:nvPr/>
        </p:nvSpPr>
        <p:spPr>
          <a:xfrm>
            <a:off x="476280" y="380880"/>
            <a:ext cx="8191080" cy="3902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600" strike="noStrike" u="none">
                <a:solidFill>
                  <a:srgbClr val="1d3675"/>
                </a:solidFill>
                <a:effectLst/>
                <a:uFillTx/>
                <a:latin typeface="Funnel Display"/>
              </a:rPr>
              <a:t>Order Flow</a:t>
            </a:r>
            <a:endParaRPr b="0" lang="en-US" sz="2600" strike="noStrike" u="none">
              <a:solidFill>
                <a:srgbClr val="000000"/>
              </a:solidFill>
              <a:effectLst/>
              <a:uFillTx/>
              <a:latin typeface="OpenSymbol"/>
            </a:endParaRPr>
          </a:p>
        </p:txBody>
      </p:sp>
      <p:sp>
        <p:nvSpPr>
          <p:cNvPr id="82" name=""/>
          <p:cNvSpPr/>
          <p:nvPr/>
        </p:nvSpPr>
        <p:spPr>
          <a:xfrm>
            <a:off x="47628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1d3675"/>
                </a:solidFill>
                <a:effectLst/>
                <a:uFillTx/>
                <a:latin typeface="Funnel Display"/>
              </a:rPr>
              <a:t>01</a:t>
            </a:r>
            <a:endParaRPr b="0" lang="en-US" sz="2400" strike="noStrike" u="none">
              <a:solidFill>
                <a:srgbClr val="000000"/>
              </a:solidFill>
              <a:effectLst/>
              <a:uFillTx/>
              <a:latin typeface="OpenSymbol"/>
            </a:endParaRPr>
          </a:p>
        </p:txBody>
      </p:sp>
      <p:sp>
        <p:nvSpPr>
          <p:cNvPr id="83" name=""/>
          <p:cNvSpPr/>
          <p:nvPr/>
        </p:nvSpPr>
        <p:spPr>
          <a:xfrm>
            <a:off x="666720" y="2133720"/>
            <a:ext cx="1533240" cy="685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000000"/>
                </a:solidFill>
                <a:effectLst/>
                <a:uFillTx/>
                <a:latin typeface="Funnel Display"/>
              </a:rPr>
              <a:t>Table Allocation</a:t>
            </a:r>
            <a:endParaRPr b="0" lang="en-US" sz="1800" strike="noStrike" u="none">
              <a:solidFill>
                <a:srgbClr val="000000"/>
              </a:solidFill>
              <a:effectLst/>
              <a:uFillTx/>
              <a:latin typeface="OpenSymbol"/>
            </a:endParaRPr>
          </a:p>
        </p:txBody>
      </p:sp>
      <p:sp>
        <p:nvSpPr>
          <p:cNvPr id="84" name=""/>
          <p:cNvSpPr/>
          <p:nvPr/>
        </p:nvSpPr>
        <p:spPr>
          <a:xfrm>
            <a:off x="666720" y="2666880"/>
            <a:ext cx="1533240" cy="6948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Syne"/>
              </a:rPr>
              <a:t>Host assigns a table using Table Management.</a:t>
            </a:r>
            <a:endParaRPr b="0" lang="en-US" sz="1200" strike="noStrike" u="none">
              <a:solidFill>
                <a:srgbClr val="000000"/>
              </a:solidFill>
              <a:effectLst/>
              <a:uFillTx/>
              <a:latin typeface="OpenSymbol"/>
            </a:endParaRPr>
          </a:p>
        </p:txBody>
      </p:sp>
      <p:sp>
        <p:nvSpPr>
          <p:cNvPr id="85" name=""/>
          <p:cNvSpPr/>
          <p:nvPr/>
        </p:nvSpPr>
        <p:spPr>
          <a:xfrm>
            <a:off x="252396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1d3675"/>
                </a:solidFill>
                <a:effectLst/>
                <a:uFillTx/>
                <a:latin typeface="Funnel Display"/>
              </a:rPr>
              <a:t>02</a:t>
            </a:r>
            <a:endParaRPr b="0" lang="en-US" sz="2400" strike="noStrike" u="none">
              <a:solidFill>
                <a:srgbClr val="000000"/>
              </a:solidFill>
              <a:effectLst/>
              <a:uFillTx/>
              <a:latin typeface="OpenSymbol"/>
            </a:endParaRPr>
          </a:p>
        </p:txBody>
      </p:sp>
      <p:sp>
        <p:nvSpPr>
          <p:cNvPr id="86" name=""/>
          <p:cNvSpPr/>
          <p:nvPr/>
        </p:nvSpPr>
        <p:spPr>
          <a:xfrm>
            <a:off x="2714760" y="2133720"/>
            <a:ext cx="1533240" cy="685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000000"/>
                </a:solidFill>
                <a:effectLst/>
                <a:uFillTx/>
                <a:latin typeface="Funnel Display"/>
              </a:rPr>
              <a:t>Create Order</a:t>
            </a:r>
            <a:endParaRPr b="0" lang="en-US" sz="1800" strike="noStrike" u="none">
              <a:solidFill>
                <a:srgbClr val="000000"/>
              </a:solidFill>
              <a:effectLst/>
              <a:uFillTx/>
              <a:latin typeface="OpenSymbol"/>
            </a:endParaRPr>
          </a:p>
        </p:txBody>
      </p:sp>
      <p:sp>
        <p:nvSpPr>
          <p:cNvPr id="87" name=""/>
          <p:cNvSpPr/>
          <p:nvPr/>
        </p:nvSpPr>
        <p:spPr>
          <a:xfrm>
            <a:off x="2714760" y="2666880"/>
            <a:ext cx="1533240" cy="8758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Syne"/>
              </a:rPr>
              <a:t>Server creates an order in Order Management and selects MenuItems.</a:t>
            </a:r>
            <a:endParaRPr b="0" lang="en-US" sz="1200" strike="noStrike" u="none">
              <a:solidFill>
                <a:srgbClr val="000000"/>
              </a:solidFill>
              <a:effectLst/>
              <a:uFillTx/>
              <a:latin typeface="OpenSymbol"/>
            </a:endParaRPr>
          </a:p>
        </p:txBody>
      </p:sp>
      <p:sp>
        <p:nvSpPr>
          <p:cNvPr id="88" name=""/>
          <p:cNvSpPr/>
          <p:nvPr/>
        </p:nvSpPr>
        <p:spPr>
          <a:xfrm>
            <a:off x="457200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1d3675"/>
                </a:solidFill>
                <a:effectLst/>
                <a:uFillTx/>
                <a:latin typeface="Funnel Display"/>
              </a:rPr>
              <a:t>03</a:t>
            </a:r>
            <a:endParaRPr b="0" lang="en-US" sz="2400" strike="noStrike" u="none">
              <a:solidFill>
                <a:srgbClr val="000000"/>
              </a:solidFill>
              <a:effectLst/>
              <a:uFillTx/>
              <a:latin typeface="OpenSymbol"/>
            </a:endParaRPr>
          </a:p>
        </p:txBody>
      </p:sp>
      <p:sp>
        <p:nvSpPr>
          <p:cNvPr id="89" name=""/>
          <p:cNvSpPr/>
          <p:nvPr/>
        </p:nvSpPr>
        <p:spPr>
          <a:xfrm>
            <a:off x="4762440" y="2133720"/>
            <a:ext cx="1533240" cy="685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000000"/>
                </a:solidFill>
                <a:effectLst/>
                <a:uFillTx/>
                <a:latin typeface="Funnel Display"/>
              </a:rPr>
              <a:t>Push to KDS</a:t>
            </a:r>
            <a:endParaRPr b="0" lang="en-US" sz="1800" strike="noStrike" u="none">
              <a:solidFill>
                <a:srgbClr val="000000"/>
              </a:solidFill>
              <a:effectLst/>
              <a:uFillTx/>
              <a:latin typeface="OpenSymbol"/>
            </a:endParaRPr>
          </a:p>
        </p:txBody>
      </p:sp>
      <p:sp>
        <p:nvSpPr>
          <p:cNvPr id="90" name=""/>
          <p:cNvSpPr/>
          <p:nvPr/>
        </p:nvSpPr>
        <p:spPr>
          <a:xfrm>
            <a:off x="4762440" y="2666880"/>
            <a:ext cx="1533240" cy="6948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Syne"/>
              </a:rPr>
              <a:t>Order is pushed to the Kitchen Display System view.</a:t>
            </a:r>
            <a:endParaRPr b="0" lang="en-US" sz="1200" strike="noStrike" u="none">
              <a:solidFill>
                <a:srgbClr val="000000"/>
              </a:solidFill>
              <a:effectLst/>
              <a:uFillTx/>
              <a:latin typeface="OpenSymbol"/>
            </a:endParaRPr>
          </a:p>
        </p:txBody>
      </p:sp>
      <p:sp>
        <p:nvSpPr>
          <p:cNvPr id="91" name=""/>
          <p:cNvSpPr/>
          <p:nvPr/>
        </p:nvSpPr>
        <p:spPr>
          <a:xfrm>
            <a:off x="662004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1d3675"/>
                </a:solidFill>
                <a:effectLst/>
                <a:uFillTx/>
                <a:latin typeface="Funnel Display"/>
              </a:rPr>
              <a:t>04</a:t>
            </a:r>
            <a:endParaRPr b="0" lang="en-US" sz="2400" strike="noStrike" u="none">
              <a:solidFill>
                <a:srgbClr val="000000"/>
              </a:solidFill>
              <a:effectLst/>
              <a:uFillTx/>
              <a:latin typeface="OpenSymbol"/>
            </a:endParaRPr>
          </a:p>
        </p:txBody>
      </p:sp>
      <p:sp>
        <p:nvSpPr>
          <p:cNvPr id="92" name=""/>
          <p:cNvSpPr/>
          <p:nvPr/>
        </p:nvSpPr>
        <p:spPr>
          <a:xfrm>
            <a:off x="6810480" y="2133720"/>
            <a:ext cx="1533240" cy="4186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000000"/>
                </a:solidFill>
                <a:effectLst/>
                <a:uFillTx/>
                <a:latin typeface="Funnel Display"/>
              </a:rPr>
              <a:t>Next Steps</a:t>
            </a:r>
            <a:endParaRPr b="0" lang="en-US" sz="1800" strike="noStrike" u="none">
              <a:solidFill>
                <a:srgbClr val="000000"/>
              </a:solidFill>
              <a:effectLst/>
              <a:uFillTx/>
              <a:latin typeface="OpenSymbol"/>
            </a:endParaRPr>
          </a:p>
        </p:txBody>
      </p:sp>
      <p:sp>
        <p:nvSpPr>
          <p:cNvPr id="93" name=""/>
          <p:cNvSpPr/>
          <p:nvPr/>
        </p:nvSpPr>
        <p:spPr>
          <a:xfrm>
            <a:off x="6810480" y="2666880"/>
            <a:ext cx="1533240" cy="8758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Syne"/>
              </a:rPr>
              <a:t>Will cover status updates, billing, and analytics on the following slide.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4" name=""/>
          <p:cNvSpPr/>
          <p:nvPr/>
        </p:nvSpPr>
        <p:spPr>
          <a:xfrm>
            <a:off x="3610080" y="628560"/>
            <a:ext cx="9000" cy="388584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5" name=""/>
          <p:cNvSpPr/>
          <p:nvPr/>
        </p:nvSpPr>
        <p:spPr>
          <a:xfrm>
            <a:off x="3143160" y="324000"/>
            <a:ext cx="952200" cy="30456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6" name=""/>
          <p:cNvSpPr/>
          <p:nvPr/>
        </p:nvSpPr>
        <p:spPr>
          <a:xfrm>
            <a:off x="3143160" y="4514760"/>
            <a:ext cx="952200" cy="304560"/>
          </a:xfrm>
          <a:prstGeom prst="roundRect">
            <a:avLst>
              <a:gd name="adj" fmla="val 16667"/>
            </a:avLst>
          </a:prstGeom>
          <a:solidFill>
            <a:srgbClr val="f07621"/>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7" name=""/>
          <p:cNvSpPr/>
          <p:nvPr/>
        </p:nvSpPr>
        <p:spPr>
          <a:xfrm>
            <a:off x="3610080" y="1171440"/>
            <a:ext cx="561600" cy="9000"/>
          </a:xfrm>
          <a:prstGeom prst="rect">
            <a:avLst/>
          </a:prstGeom>
          <a:solidFill>
            <a:srgbClr val="f07621"/>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8" name=""/>
          <p:cNvSpPr/>
          <p:nvPr/>
        </p:nvSpPr>
        <p:spPr>
          <a:xfrm rot="5400000">
            <a:off x="4172040" y="1133640"/>
            <a:ext cx="75960" cy="75960"/>
          </a:xfrm>
          <a:prstGeom prst="triangle">
            <a:avLst>
              <a:gd name="adj" fmla="val 50000"/>
            </a:avLst>
          </a:prstGeom>
          <a:solidFill>
            <a:srgbClr val="f07621"/>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9" name=""/>
          <p:cNvSpPr/>
          <p:nvPr/>
        </p:nvSpPr>
        <p:spPr>
          <a:xfrm>
            <a:off x="3610080" y="2562120"/>
            <a:ext cx="561600" cy="9000"/>
          </a:xfrm>
          <a:prstGeom prst="rect">
            <a:avLst/>
          </a:prstGeom>
          <a:solidFill>
            <a:srgbClr val="f07621"/>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00" name=""/>
          <p:cNvSpPr/>
          <p:nvPr/>
        </p:nvSpPr>
        <p:spPr>
          <a:xfrm rot="5400000">
            <a:off x="4172040" y="2523960"/>
            <a:ext cx="75960" cy="75960"/>
          </a:xfrm>
          <a:prstGeom prst="triangle">
            <a:avLst>
              <a:gd name="adj" fmla="val 50000"/>
            </a:avLst>
          </a:prstGeom>
          <a:solidFill>
            <a:srgbClr val="f07621"/>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01" name=""/>
          <p:cNvSpPr/>
          <p:nvPr/>
        </p:nvSpPr>
        <p:spPr>
          <a:xfrm>
            <a:off x="3610080" y="3952800"/>
            <a:ext cx="561600" cy="9000"/>
          </a:xfrm>
          <a:prstGeom prst="rect">
            <a:avLst/>
          </a:prstGeom>
          <a:solidFill>
            <a:srgbClr val="f07621"/>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02" name=""/>
          <p:cNvSpPr/>
          <p:nvPr/>
        </p:nvSpPr>
        <p:spPr>
          <a:xfrm rot="5400000">
            <a:off x="4172040" y="3914640"/>
            <a:ext cx="75960" cy="75960"/>
          </a:xfrm>
          <a:prstGeom prst="triangle">
            <a:avLst>
              <a:gd name="adj" fmla="val 50000"/>
            </a:avLst>
          </a:prstGeom>
          <a:solidFill>
            <a:srgbClr val="f07621"/>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03" name=""/>
          <p:cNvSpPr/>
          <p:nvPr/>
        </p:nvSpPr>
        <p:spPr>
          <a:xfrm>
            <a:off x="476280" y="324000"/>
            <a:ext cx="2285640" cy="7808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600" strike="noStrike" u="none">
                <a:solidFill>
                  <a:srgbClr val="1d3675"/>
                </a:solidFill>
                <a:effectLst/>
                <a:uFillTx/>
                <a:latin typeface="Funnel Display"/>
              </a:rPr>
              <a:t>Order Workflow</a:t>
            </a:r>
            <a:endParaRPr b="0" lang="en-US" sz="2600" strike="noStrike" u="none">
              <a:solidFill>
                <a:srgbClr val="000000"/>
              </a:solidFill>
              <a:effectLst/>
              <a:uFillTx/>
              <a:latin typeface="OpenSymbol"/>
            </a:endParaRPr>
          </a:p>
        </p:txBody>
      </p:sp>
      <p:sp>
        <p:nvSpPr>
          <p:cNvPr id="104" name=""/>
          <p:cNvSpPr/>
          <p:nvPr/>
        </p:nvSpPr>
        <p:spPr>
          <a:xfrm>
            <a:off x="4476600" y="885960"/>
            <a:ext cx="1523520" cy="5713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1d3675"/>
                </a:solidFill>
                <a:effectLst/>
                <a:uFillTx/>
                <a:latin typeface="Funnel Display"/>
              </a:rPr>
              <a:t>Table Allocation</a:t>
            </a:r>
            <a:endParaRPr b="0" lang="en-US" sz="1400" strike="noStrike" u="none">
              <a:solidFill>
                <a:srgbClr val="000000"/>
              </a:solidFill>
              <a:effectLst/>
              <a:uFillTx/>
              <a:latin typeface="OpenSymbol"/>
            </a:endParaRPr>
          </a:p>
        </p:txBody>
      </p:sp>
      <p:sp>
        <p:nvSpPr>
          <p:cNvPr id="105" name=""/>
          <p:cNvSpPr/>
          <p:nvPr/>
        </p:nvSpPr>
        <p:spPr>
          <a:xfrm>
            <a:off x="6191280" y="714240"/>
            <a:ext cx="2476080" cy="6948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1d3675"/>
                </a:solidFill>
                <a:effectLst/>
                <a:uFillTx/>
                <a:latin typeface="Syne"/>
              </a:rPr>
              <a:t>Host assigns a table via Table Management to start the customer session.</a:t>
            </a:r>
            <a:endParaRPr b="0" lang="en-US" sz="1200" strike="noStrike" u="none">
              <a:solidFill>
                <a:srgbClr val="000000"/>
              </a:solidFill>
              <a:effectLst/>
              <a:uFillTx/>
              <a:latin typeface="OpenSymbol"/>
            </a:endParaRPr>
          </a:p>
        </p:txBody>
      </p:sp>
      <p:sp>
        <p:nvSpPr>
          <p:cNvPr id="106" name=""/>
          <p:cNvSpPr/>
          <p:nvPr/>
        </p:nvSpPr>
        <p:spPr>
          <a:xfrm>
            <a:off x="4476600" y="2276640"/>
            <a:ext cx="152352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1d3675"/>
                </a:solidFill>
                <a:effectLst/>
                <a:uFillTx/>
                <a:latin typeface="Funnel Display"/>
              </a:rPr>
              <a:t>Create Order</a:t>
            </a:r>
            <a:endParaRPr b="0" lang="en-US" sz="1400" strike="noStrike" u="none">
              <a:solidFill>
                <a:srgbClr val="000000"/>
              </a:solidFill>
              <a:effectLst/>
              <a:uFillTx/>
              <a:latin typeface="OpenSymbol"/>
            </a:endParaRPr>
          </a:p>
        </p:txBody>
      </p:sp>
      <p:sp>
        <p:nvSpPr>
          <p:cNvPr id="107" name=""/>
          <p:cNvSpPr/>
          <p:nvPr/>
        </p:nvSpPr>
        <p:spPr>
          <a:xfrm>
            <a:off x="6191280" y="2104920"/>
            <a:ext cx="2476080" cy="6948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1d3675"/>
                </a:solidFill>
                <a:effectLst/>
                <a:uFillTx/>
                <a:latin typeface="Syne"/>
              </a:rPr>
              <a:t>Server creates the Order in Order Management and selects MenuItems.</a:t>
            </a:r>
            <a:endParaRPr b="0" lang="en-US" sz="1200" strike="noStrike" u="none">
              <a:solidFill>
                <a:srgbClr val="000000"/>
              </a:solidFill>
              <a:effectLst/>
              <a:uFillTx/>
              <a:latin typeface="OpenSymbol"/>
            </a:endParaRPr>
          </a:p>
        </p:txBody>
      </p:sp>
      <p:sp>
        <p:nvSpPr>
          <p:cNvPr id="108" name=""/>
          <p:cNvSpPr/>
          <p:nvPr/>
        </p:nvSpPr>
        <p:spPr>
          <a:xfrm>
            <a:off x="4476600" y="3666960"/>
            <a:ext cx="152352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1d3675"/>
                </a:solidFill>
                <a:effectLst/>
                <a:uFillTx/>
                <a:latin typeface="Funnel Display"/>
              </a:rPr>
              <a:t>To KDS</a:t>
            </a:r>
            <a:endParaRPr b="0" lang="en-US" sz="1400" strike="noStrike" u="none">
              <a:solidFill>
                <a:srgbClr val="000000"/>
              </a:solidFill>
              <a:effectLst/>
              <a:uFillTx/>
              <a:latin typeface="OpenSymbol"/>
            </a:endParaRPr>
          </a:p>
        </p:txBody>
      </p:sp>
      <p:sp>
        <p:nvSpPr>
          <p:cNvPr id="109" name=""/>
          <p:cNvSpPr/>
          <p:nvPr/>
        </p:nvSpPr>
        <p:spPr>
          <a:xfrm>
            <a:off x="6191280" y="3495600"/>
            <a:ext cx="2476080" cy="6948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1d3675"/>
                </a:solidFill>
                <a:effectLst/>
                <a:uFillTx/>
                <a:latin typeface="Syne"/>
              </a:rPr>
              <a:t>Order is pushed to the Kitchen Display System view for kitchen awareness.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1d3675"/>
                </a:solidFill>
                <a:effectLst/>
                <a:uFillTx/>
                <a:latin typeface="Funnel Display"/>
              </a:rPr>
              <a:t>Core Metrics</a:t>
            </a:r>
            <a:endParaRPr b="0" lang="en-US" sz="2400" strike="noStrike" u="none">
              <a:solidFill>
                <a:srgbClr val="000000"/>
              </a:solidFill>
              <a:effectLst/>
              <a:uFillTx/>
              <a:latin typeface="OpenSymbol"/>
            </a:endParaRPr>
          </a:p>
        </p:txBody>
      </p:sp>
      <p:sp>
        <p:nvSpPr>
          <p:cNvPr id="111" name=""/>
          <p:cNvSpPr/>
          <p:nvPr/>
        </p:nvSpPr>
        <p:spPr>
          <a:xfrm>
            <a:off x="476280" y="1428840"/>
            <a:ext cx="3047760" cy="6948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3600" strike="noStrike" u="none">
                <a:solidFill>
                  <a:srgbClr val="1d3675"/>
                </a:solidFill>
                <a:effectLst/>
                <a:uFillTx/>
                <a:latin typeface="Funnel Display"/>
              </a:rPr>
              <a:t>5</a:t>
            </a:r>
            <a:endParaRPr b="0" lang="en-US" sz="3600" strike="noStrike" u="none">
              <a:solidFill>
                <a:srgbClr val="000000"/>
              </a:solidFill>
              <a:effectLst/>
              <a:uFillTx/>
              <a:latin typeface="OpenSymbol"/>
            </a:endParaRPr>
          </a:p>
        </p:txBody>
      </p:sp>
      <p:sp>
        <p:nvSpPr>
          <p:cNvPr id="112" name=""/>
          <p:cNvSpPr/>
          <p:nvPr/>
        </p:nvSpPr>
        <p:spPr>
          <a:xfrm>
            <a:off x="3809880" y="142884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1d3675"/>
                </a:solidFill>
                <a:effectLst/>
                <a:uFillTx/>
                <a:latin typeface="Syne"/>
              </a:rPr>
              <a:t>Source files: main.c, restaurant.c, restaurant.h, gui.c, gui.h</a:t>
            </a:r>
            <a:endParaRPr b="0" lang="en-US" sz="1400" strike="noStrike" u="none">
              <a:solidFill>
                <a:srgbClr val="000000"/>
              </a:solidFill>
              <a:effectLst/>
              <a:uFillTx/>
              <a:latin typeface="OpenSymbol"/>
            </a:endParaRPr>
          </a:p>
        </p:txBody>
      </p:sp>
      <p:sp>
        <p:nvSpPr>
          <p:cNvPr id="113" name=""/>
          <p:cNvSpPr/>
          <p:nvPr/>
        </p:nvSpPr>
        <p:spPr>
          <a:xfrm>
            <a:off x="476280" y="2076480"/>
            <a:ext cx="3047760" cy="6948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3600" strike="noStrike" u="none">
                <a:solidFill>
                  <a:srgbClr val="1d3675"/>
                </a:solidFill>
                <a:effectLst/>
                <a:uFillTx/>
                <a:latin typeface="Funnel Display"/>
              </a:rPr>
              <a:t>7</a:t>
            </a:r>
            <a:endParaRPr b="0" lang="en-US" sz="3600" strike="noStrike" u="none">
              <a:solidFill>
                <a:srgbClr val="000000"/>
              </a:solidFill>
              <a:effectLst/>
              <a:uFillTx/>
              <a:latin typeface="OpenSymbol"/>
            </a:endParaRPr>
          </a:p>
        </p:txBody>
      </p:sp>
      <p:sp>
        <p:nvSpPr>
          <p:cNvPr id="114" name=""/>
          <p:cNvSpPr/>
          <p:nvPr/>
        </p:nvSpPr>
        <p:spPr>
          <a:xfrm>
            <a:off x="3809880" y="207648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1d3675"/>
                </a:solidFill>
                <a:effectLst/>
                <a:uFillTx/>
                <a:latin typeface="Syne"/>
              </a:rPr>
              <a:t>Major modules implemented</a:t>
            </a:r>
            <a:endParaRPr b="0" lang="en-US" sz="1400" strike="noStrike" u="none">
              <a:solidFill>
                <a:srgbClr val="000000"/>
              </a:solidFill>
              <a:effectLst/>
              <a:uFillTx/>
              <a:latin typeface="OpenSymbol"/>
            </a:endParaRPr>
          </a:p>
        </p:txBody>
      </p:sp>
      <p:sp>
        <p:nvSpPr>
          <p:cNvPr id="115" name=""/>
          <p:cNvSpPr/>
          <p:nvPr/>
        </p:nvSpPr>
        <p:spPr>
          <a:xfrm>
            <a:off x="476280" y="2724120"/>
            <a:ext cx="3047760" cy="6948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3600" strike="noStrike" u="none">
                <a:solidFill>
                  <a:srgbClr val="1d3675"/>
                </a:solidFill>
                <a:effectLst/>
                <a:uFillTx/>
                <a:latin typeface="Funnel Display"/>
              </a:rPr>
              <a:t>25</a:t>
            </a:r>
            <a:endParaRPr b="0" lang="en-US" sz="3600" strike="noStrike" u="none">
              <a:solidFill>
                <a:srgbClr val="000000"/>
              </a:solidFill>
              <a:effectLst/>
              <a:uFillTx/>
              <a:latin typeface="OpenSymbol"/>
            </a:endParaRPr>
          </a:p>
        </p:txBody>
      </p:sp>
      <p:sp>
        <p:nvSpPr>
          <p:cNvPr id="116" name=""/>
          <p:cNvSpPr/>
          <p:nvPr/>
        </p:nvSpPr>
        <p:spPr>
          <a:xfrm>
            <a:off x="3809880" y="272412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1d3675"/>
                </a:solidFill>
                <a:effectLst/>
                <a:uFillTx/>
                <a:latin typeface="Syne"/>
              </a:rPr>
              <a:t>Manual test scenarios executed</a:t>
            </a:r>
            <a:endParaRPr b="0" lang="en-US" sz="1400" strike="noStrike" u="none">
              <a:solidFill>
                <a:srgbClr val="000000"/>
              </a:solidFill>
              <a:effectLst/>
              <a:uFillTx/>
              <a:latin typeface="OpenSymbol"/>
            </a:endParaRPr>
          </a:p>
        </p:txBody>
      </p:sp>
      <p:sp>
        <p:nvSpPr>
          <p:cNvPr id="117" name=""/>
          <p:cNvSpPr/>
          <p:nvPr/>
        </p:nvSpPr>
        <p:spPr>
          <a:xfrm>
            <a:off x="476280" y="3371760"/>
            <a:ext cx="3047760" cy="6948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3600" strike="noStrike" u="none">
                <a:solidFill>
                  <a:srgbClr val="1d3675"/>
                </a:solidFill>
                <a:effectLst/>
                <a:uFillTx/>
                <a:latin typeface="Funnel Display"/>
              </a:rPr>
              <a:t>100%</a:t>
            </a:r>
            <a:endParaRPr b="0" lang="en-US" sz="3600" strike="noStrike" u="none">
              <a:solidFill>
                <a:srgbClr val="000000"/>
              </a:solidFill>
              <a:effectLst/>
              <a:uFillTx/>
              <a:latin typeface="OpenSymbol"/>
            </a:endParaRPr>
          </a:p>
        </p:txBody>
      </p:sp>
      <p:sp>
        <p:nvSpPr>
          <p:cNvPr id="118" name=""/>
          <p:cNvSpPr/>
          <p:nvPr/>
        </p:nvSpPr>
        <p:spPr>
          <a:xfrm>
            <a:off x="3809880" y="3371760"/>
            <a:ext cx="4857480" cy="5713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1d3675"/>
                </a:solidFill>
                <a:effectLst/>
                <a:uFillTx/>
                <a:latin typeface="Syne"/>
              </a:rPr>
              <a:t>Core flow tests passed; edge-case defects logged for buffers and persistence</a:t>
            </a:r>
            <a:endParaRPr b="0" lang="en-US" sz="1400" strike="noStrike" u="none">
              <a:solidFill>
                <a:srgbClr val="000000"/>
              </a:solidFill>
              <a:effectLst/>
              <a:uFillTx/>
              <a:latin typeface="OpenSymbol"/>
            </a:endParaRPr>
          </a:p>
        </p:txBody>
      </p:sp>
      <p:sp>
        <p:nvSpPr>
          <p:cNvPr id="119" name=""/>
          <p:cNvSpPr/>
          <p:nvPr/>
        </p:nvSpPr>
        <p:spPr>
          <a:xfrm>
            <a:off x="476280" y="4019400"/>
            <a:ext cx="3047760" cy="6948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3600" strike="noStrike" u="none">
                <a:solidFill>
                  <a:srgbClr val="1d3675"/>
                </a:solidFill>
                <a:effectLst/>
                <a:uFillTx/>
                <a:latin typeface="Funnel Display"/>
              </a:rPr>
              <a:t>N/A</a:t>
            </a:r>
            <a:endParaRPr b="0" lang="en-US" sz="3600" strike="noStrike" u="none">
              <a:solidFill>
                <a:srgbClr val="000000"/>
              </a:solidFill>
              <a:effectLst/>
              <a:uFillTx/>
              <a:latin typeface="OpenSymbol"/>
            </a:endParaRPr>
          </a:p>
        </p:txBody>
      </p:sp>
      <p:sp>
        <p:nvSpPr>
          <p:cNvPr id="120" name=""/>
          <p:cNvSpPr/>
          <p:nvPr/>
        </p:nvSpPr>
        <p:spPr>
          <a:xfrm>
            <a:off x="3809880" y="4019400"/>
            <a:ext cx="4857480" cy="5713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1d3675"/>
                </a:solidFill>
                <a:effectLst/>
                <a:uFillTx/>
                <a:latin typeface="Syne"/>
              </a:rPr>
              <a:t>Note: edge-case defects identified (buffer sizes, persistence handling)</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
          <p:cNvSpPr/>
          <p:nvPr/>
        </p:nvSpPr>
        <p:spPr>
          <a:xfrm>
            <a:off x="714240" y="542880"/>
            <a:ext cx="7714800" cy="380520"/>
          </a:xfrm>
          <a:prstGeom prst="rect">
            <a:avLst/>
          </a:prstGeom>
          <a:noFill/>
          <a:ln w="0">
            <a:noFill/>
          </a:ln>
        </p:spPr>
        <p:style>
          <a:lnRef idx="0"/>
          <a:fillRef idx="0"/>
          <a:effectRef idx="0"/>
          <a:fontRef idx="minor"/>
        </p:style>
        <p:txBody>
          <a:bodyPr anchor="ctr">
            <a:normAutofit fontScale="77500" lnSpcReduction="19999"/>
          </a:bodyPr>
          <a:p>
            <a:pPr defTabSz="914400">
              <a:lnSpc>
                <a:spcPct val="100000"/>
              </a:lnSpc>
              <a:tabLst>
                <a:tab algn="l" pos="0"/>
              </a:tabLst>
            </a:pPr>
            <a:r>
              <a:rPr b="0" lang="en-US" sz="3000" strike="noStrike" u="none">
                <a:solidFill>
                  <a:srgbClr val="1d3675"/>
                </a:solidFill>
                <a:effectLst/>
                <a:uFillTx/>
                <a:latin typeface="Funnel Display"/>
              </a:rPr>
              <a:t>Impact and Outlook</a:t>
            </a:r>
            <a:endParaRPr b="0" lang="en-US" sz="3000" strike="noStrike" u="none">
              <a:solidFill>
                <a:srgbClr val="000000"/>
              </a:solidFill>
              <a:effectLst/>
              <a:uFillTx/>
              <a:latin typeface="OpenSymbol"/>
            </a:endParaRPr>
          </a:p>
        </p:txBody>
      </p:sp>
      <p:sp>
        <p:nvSpPr>
          <p:cNvPr id="122" name=""/>
          <p:cNvSpPr/>
          <p:nvPr/>
        </p:nvSpPr>
        <p:spPr>
          <a:xfrm>
            <a:off x="2124000" y="1457280"/>
            <a:ext cx="6305040" cy="169524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1d3675"/>
                </a:solidFill>
                <a:effectLst/>
                <a:uFillTx/>
                <a:latin typeface="Syne"/>
              </a:rPr>
              <a:t>This work demonstrates a practical, extensible Restaurant Management System built in C99 and GTK3 that addresses real-world restaurant bottlenecks—from order flow to inventory and reporting. Its architecture, modules, and data structures map cleanly to operations, with tested core flows and representative source snippets. Strengths include modularity and portability; limitations point to potential</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5057640" y="1867320"/>
            <a:ext cx="3371400" cy="1341720"/>
          </a:xfrm>
          <a:prstGeom prst="rect">
            <a:avLst/>
          </a:prstGeom>
          <a:noFill/>
          <a:ln w="0">
            <a:noFill/>
          </a:ln>
        </p:spPr>
        <p:txBody>
          <a:bodyPr lIns="91440" rIns="91440" tIns="91440" bIns="91440" anchor="ctr">
            <a:spAutoFit/>
          </a:bodyPr>
          <a:p>
            <a:pPr indent="0">
              <a:lnSpc>
                <a:spcPct val="100000"/>
              </a:lnSpc>
              <a:buNone/>
              <a:tabLst>
                <a:tab algn="l" pos="0"/>
              </a:tabLst>
            </a:pPr>
            <a:r>
              <a:rPr b="0" lang="en" sz="3800" strike="noStrike" u="none">
                <a:solidFill>
                  <a:schemeClr val="lt1"/>
                </a:solidFill>
                <a:effectLst/>
                <a:uFillTx/>
                <a:latin typeface="Funnel Display"/>
                <a:ea typeface="Funnel Display"/>
              </a:rPr>
              <a:t>Thanks!</a:t>
            </a:r>
            <a:endParaRPr b="0" lang="fr-FR" sz="3800" strike="noStrike" u="none">
              <a:solidFill>
                <a:schemeClr val="dk1"/>
              </a:solidFill>
              <a:effectLst/>
              <a:uFillTx/>
              <a:latin typeface="Arial"/>
            </a:endParaRPr>
          </a:p>
        </p:txBody>
      </p:sp>
      <p:sp>
        <p:nvSpPr>
          <p:cNvPr id="124" name="PlaceHolder 2"/>
          <p:cNvSpPr>
            <a:spLocks noGrp="1"/>
          </p:cNvSpPr>
          <p:nvPr>
            <p:ph type="subTitle"/>
          </p:nvPr>
        </p:nvSpPr>
        <p:spPr>
          <a:xfrm>
            <a:off x="5057640" y="3028680"/>
            <a:ext cx="3371400" cy="1047960"/>
          </a:xfrm>
          <a:prstGeom prst="rect">
            <a:avLst/>
          </a:prstGeom>
          <a:noFill/>
          <a:ln w="0">
            <a:noFill/>
          </a:ln>
        </p:spPr>
        <p:txBody>
          <a:bodyPr lIns="91440" rIns="91440" tIns="91440" bIns="91440" anchor="ctr">
            <a:spAutoFit/>
          </a:bodyPr>
          <a:p>
            <a:pPr indent="0">
              <a:lnSpc>
                <a:spcPct val="100000"/>
              </a:lnSpc>
              <a:buNone/>
              <a:tabLst>
                <a:tab algn="l" pos="0"/>
              </a:tabLst>
            </a:pPr>
            <a:endParaRPr b="0" lang="en-US" sz="1600" strike="noStrike" u="none">
              <a:solidFill>
                <a:srgbClr val="000000"/>
              </a:solidFill>
              <a:effectLst/>
              <a:uFillTx/>
              <a:latin typeface="OpenSymbol"/>
            </a:endParaRPr>
          </a:p>
          <a:p>
            <a:pPr indent="0">
              <a:lnSpc>
                <a:spcPct val="100000"/>
              </a:lnSpc>
              <a:buNone/>
              <a:tabLst>
                <a:tab algn="l" pos="0"/>
              </a:tabLst>
            </a:pPr>
            <a:r>
              <a:rPr b="0" lang="en" sz="1600" strike="noStrike" u="none">
                <a:solidFill>
                  <a:schemeClr val="lt1"/>
                </a:solidFill>
                <a:effectLst/>
                <a:uFillTx/>
                <a:latin typeface="Syne"/>
                <a:ea typeface="Syne"/>
              </a:rPr>
              <a:t>Do you have any questions?</a:t>
            </a:r>
            <a:endParaRPr b="0" lang="en-US" sz="1600" strike="noStrike" u="none">
              <a:solidFill>
                <a:srgbClr val="000000"/>
              </a:solidFill>
              <a:effectLst/>
              <a:uFillTx/>
              <a:latin typeface="OpenSymbol"/>
            </a:endParaRPr>
          </a:p>
          <a:p>
            <a:pPr indent="0">
              <a:lnSpc>
                <a:spcPct val="100000"/>
              </a:lnSpc>
              <a:buNone/>
              <a:tabLst>
                <a:tab algn="l" pos="0"/>
              </a:tabLst>
            </a:pPr>
            <a:r>
              <a:rPr b="0" lang="en" sz="1600" strike="noStrike" u="none">
                <a:solidFill>
                  <a:schemeClr val="lt1"/>
                </a:solidFill>
                <a:effectLst/>
                <a:uFillTx/>
                <a:latin typeface="Syne"/>
                <a:ea typeface="Syne"/>
              </a:rPr>
              <a:t>youremail@freepik.com</a:t>
            </a:r>
            <a:endParaRPr b="0" lang="en-US" sz="1600" strike="noStrike" u="none">
              <a:solidFill>
                <a:srgbClr val="000000"/>
              </a:solidFill>
              <a:effectLst/>
              <a:uFillTx/>
              <a:latin typeface="OpenSymbol"/>
            </a:endParaRPr>
          </a:p>
          <a:p>
            <a:pPr indent="0">
              <a:lnSpc>
                <a:spcPct val="100000"/>
              </a:lnSpc>
              <a:buNone/>
              <a:tabLst>
                <a:tab algn="l" pos="0"/>
              </a:tabLst>
            </a:pPr>
            <a:r>
              <a:rPr b="0" lang="en" sz="1600" strike="noStrike" u="none">
                <a:solidFill>
                  <a:schemeClr val="lt1"/>
                </a:solidFill>
                <a:effectLst/>
                <a:uFillTx/>
                <a:latin typeface="Syne"/>
                <a:ea typeface="Syne"/>
              </a:rPr>
              <a:t>+91 620 421 838</a:t>
            </a:r>
            <a:endParaRPr b="0" lang="en-US" sz="1600" strike="noStrike" u="none">
              <a:solidFill>
                <a:srgbClr val="000000"/>
              </a:solidFill>
              <a:effectLst/>
              <a:uFillTx/>
              <a:latin typeface="OpenSymbol"/>
            </a:endParaRPr>
          </a:p>
          <a:p>
            <a:pPr indent="0">
              <a:lnSpc>
                <a:spcPct val="100000"/>
              </a:lnSpc>
              <a:buNone/>
              <a:tabLst>
                <a:tab algn="l" pos="0"/>
              </a:tabLst>
            </a:pPr>
            <a:r>
              <a:rPr b="0" lang="en" sz="1600" strike="noStrike" u="none">
                <a:solidFill>
                  <a:schemeClr val="lt1"/>
                </a:solidFill>
                <a:effectLst/>
                <a:uFillTx/>
                <a:latin typeface="Syne"/>
                <a:ea typeface="Syne"/>
              </a:rPr>
              <a:t>yourcompany.com</a:t>
            </a:r>
            <a:endParaRPr b="0" lang="en-US" sz="1600" strike="noStrike" u="none">
              <a:solidFill>
                <a:srgbClr val="000000"/>
              </a:solidFill>
              <a:effectLst/>
              <a:uFillTx/>
              <a:latin typeface="OpenSymbol"/>
            </a:endParaRPr>
          </a:p>
          <a:p>
            <a:pPr indent="0">
              <a:lnSpc>
                <a:spcPct val="100000"/>
              </a:lnSpc>
              <a:buNone/>
              <a:tabLst>
                <a:tab algn="l" pos="0"/>
              </a:tabLst>
            </a:pPr>
            <a:endParaRPr b="0" lang="en-US" sz="1600" strike="noStrike" u="none">
              <a:solidFill>
                <a:srgbClr val="000000"/>
              </a:solidFill>
              <a:effectLst/>
              <a:uFillTx/>
              <a:latin typeface="OpenSymbol"/>
            </a:endParaRPr>
          </a:p>
        </p:txBody>
      </p:sp>
      <p:sp>
        <p:nvSpPr>
          <p:cNvPr id="125" name="Google Shape;393;p41"/>
          <p:cNvSpPr/>
          <p:nvPr/>
        </p:nvSpPr>
        <p:spPr>
          <a:xfrm>
            <a:off x="5057640" y="4295880"/>
            <a:ext cx="3314520" cy="313920"/>
          </a:xfrm>
          <a:prstGeom prst="rect">
            <a:avLst/>
          </a:prstGeom>
          <a:noFill/>
          <a:ln w="0">
            <a:noFill/>
          </a:ln>
        </p:spPr>
        <p:style>
          <a:lnRef idx="0"/>
          <a:fillRef idx="0"/>
          <a:effectRef idx="0"/>
          <a:fontRef idx="minor"/>
        </p:style>
        <p:txBody>
          <a:bodyPr lIns="870823080" rIns="870823080" tIns="-2957400" bIns="-2957400" anchor="b">
            <a:spAutoFit/>
          </a:bodyPr>
          <a:p>
            <a:pPr defTabSz="914400">
              <a:lnSpc>
                <a:spcPct val="100000"/>
              </a:lnSpc>
              <a:tabLst>
                <a:tab algn="l" pos="0"/>
              </a:tabLst>
            </a:pPr>
            <a:r>
              <a:rPr b="0" lang="en" sz="1100" strike="noStrike" u="none">
                <a:solidFill>
                  <a:schemeClr val="lt1"/>
                </a:solidFill>
                <a:effectLst/>
                <a:uFillTx/>
                <a:latin typeface="Arial"/>
              </a:rPr>
              <a:t>Please keep this slide for attribution.</a:t>
            </a:r>
            <a:endParaRPr b="0" lang="en-US" sz="1100" strike="noStrike" u="none">
              <a:solidFill>
                <a:srgbClr val="000000"/>
              </a:solidFill>
              <a:effectLst/>
              <a:uFillTx/>
              <a:latin typeface="OpenSymbol"/>
            </a:endParaRPr>
          </a:p>
        </p:txBody>
      </p:sp>
      <p:pic>
        <p:nvPicPr>
          <p:cNvPr id="126" name="Google Shape;394;p41" descr=""/>
          <p:cNvPicPr/>
          <p:nvPr/>
        </p:nvPicPr>
        <p:blipFill>
          <a:blip r:embed="rId1"/>
          <a:srcRect l="0" t="12322" r="0" b="30123"/>
          <a:stretch/>
        </p:blipFill>
        <p:spPr>
          <a:xfrm>
            <a:off x="0" y="0"/>
            <a:ext cx="4585680" cy="3857760"/>
          </a:xfrm>
          <a:prstGeom prst="rect">
            <a:avLst/>
          </a:prstGeom>
          <a:noFill/>
          <a:ln w="0">
            <a:noFill/>
          </a:ln>
        </p:spPr>
      </p:pic>
      <p:sp>
        <p:nvSpPr>
          <p:cNvPr id="127" name="Google Shape;395;p41"/>
          <p:cNvSpPr/>
          <p:nvPr/>
        </p:nvSpPr>
        <p:spPr>
          <a:xfrm>
            <a:off x="4724280" y="85680"/>
            <a:ext cx="4219200" cy="313920"/>
          </a:xfrm>
          <a:prstGeom prst="rect">
            <a:avLst/>
          </a:prstGeom>
          <a:noFill/>
          <a:ln w="0">
            <a:noFill/>
          </a:ln>
        </p:spPr>
        <p:style>
          <a:lnRef idx="0"/>
          <a:fillRef idx="0"/>
          <a:effectRef idx="0"/>
          <a:fontRef idx="minor"/>
        </p:style>
        <p:txBody>
          <a:bodyPr lIns="870823080" rIns="870823080" tIns="-1423440" bIns="-1423440" anchor="t">
            <a:spAutoFit/>
          </a:bodyPr>
          <a:p>
            <a:pPr algn="r" defTabSz="914400">
              <a:lnSpc>
                <a:spcPct val="100000"/>
              </a:lnSpc>
              <a:tabLst>
                <a:tab algn="l" pos="0"/>
              </a:tabLst>
            </a:pPr>
            <a:r>
              <a:rPr b="0" lang="en" sz="1200" strike="noStrike" u="none">
                <a:solidFill>
                  <a:schemeClr val="lt1"/>
                </a:solidFill>
                <a:effectLst/>
                <a:uFillTx/>
                <a:latin typeface="Arial"/>
              </a:rPr>
              <a:t>Name of the company</a:t>
            </a:r>
            <a:endParaRPr b="0" lang="en-US" sz="1200" strike="noStrike" u="none">
              <a:solidFill>
                <a:srgbClr val="000000"/>
              </a:solidFill>
              <a:effectLst/>
              <a:uFillTx/>
              <a:latin typeface="OpenSymbol"/>
            </a:endParaRPr>
          </a:p>
        </p:txBody>
      </p:sp>
      <p:cxnSp>
        <p:nvCxnSpPr>
          <p:cNvPr id="128" name="Google Shape;396;p41"/>
          <p:cNvCxnSpPr/>
          <p:nvPr/>
        </p:nvCxnSpPr>
        <p:spPr>
          <a:xfrm>
            <a:off x="5165640" y="2107440"/>
            <a:ext cx="816480" cy="360"/>
          </a:xfrm>
          <a:prstGeom prst="straightConnector1">
            <a:avLst/>
          </a:prstGeom>
          <a:ln w="19050">
            <a:solidFill>
              <a:srgbClr val="ffffff"/>
            </a:solidFill>
            <a:round/>
          </a:ln>
        </p:spPr>
      </p:cxnSp>
      <p:grpSp>
        <p:nvGrpSpPr>
          <p:cNvPr id="129" name="Google Shape;397;p41"/>
          <p:cNvGrpSpPr/>
          <p:nvPr/>
        </p:nvGrpSpPr>
        <p:grpSpPr>
          <a:xfrm>
            <a:off x="4032720" y="4551840"/>
            <a:ext cx="385560" cy="385560"/>
            <a:chOff x="4032720" y="4551840"/>
            <a:chExt cx="385560" cy="385560"/>
          </a:xfrm>
        </p:grpSpPr>
        <p:sp>
          <p:nvSpPr>
            <p:cNvPr id="130" name="Google Shape;398;p41"/>
            <p:cNvSpPr/>
            <p:nvPr/>
          </p:nvSpPr>
          <p:spPr>
            <a:xfrm rot="16200000">
              <a:off x="4032720" y="4551840"/>
              <a:ext cx="385560" cy="385560"/>
            </a:xfrm>
            <a:prstGeom prst="rect">
              <a:avLst/>
            </a:prstGeom>
            <a:noFill/>
            <a:ln w="19050">
              <a:solidFill>
                <a:srgbClr val="f07621"/>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31" name="Google Shape;399;p41"/>
            <p:cNvGrpSpPr/>
            <p:nvPr/>
          </p:nvGrpSpPr>
          <p:grpSpPr>
            <a:xfrm>
              <a:off x="4113000" y="4632120"/>
              <a:ext cx="224280" cy="224280"/>
              <a:chOff x="4113000" y="4632120"/>
              <a:chExt cx="224280" cy="224280"/>
            </a:xfrm>
          </p:grpSpPr>
          <p:sp>
            <p:nvSpPr>
              <p:cNvPr id="132" name="Google Shape;400;p41"/>
              <p:cNvSpPr/>
              <p:nvPr/>
            </p:nvSpPr>
            <p:spPr>
              <a:xfrm flipV="1">
                <a:off x="4113000" y="4631760"/>
                <a:ext cx="224280" cy="224280"/>
              </a:xfrm>
              <a:custGeom>
                <a:avLst/>
                <a:gdLst>
                  <a:gd name="textAreaLeft" fmla="*/ 0 w 224280"/>
                  <a:gd name="textAreaRight" fmla="*/ 224640 w 224280"/>
                  <a:gd name="textAreaTop" fmla="*/ -360 h 224280"/>
                  <a:gd name="textAreaBottom" fmla="*/ 224280 h 224280"/>
                </a:gdLst>
                <a:ahLst/>
                <a:cxnLst/>
                <a:rect l="textAreaLeft" t="textAreaTop" r="textAreaRight" b="textAreaBottom"/>
                <a:pathLst>
                  <a:path w="3513962" h="3513962">
                    <a:moveTo>
                      <a:pt x="3513963" y="0"/>
                    </a:moveTo>
                    <a:lnTo>
                      <a:pt x="3513963" y="3513963"/>
                    </a:lnTo>
                    <a:lnTo>
                      <a:pt x="0" y="3513963"/>
                    </a:lnTo>
                  </a:path>
                </a:pathLst>
              </a:custGeom>
              <a:noFill/>
              <a:ln w="19050">
                <a:solidFill>
                  <a:srgbClr val="f07621"/>
                </a:solidFill>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3" name="Google Shape;401;p41"/>
              <p:cNvSpPr/>
              <p:nvPr/>
            </p:nvSpPr>
            <p:spPr>
              <a:xfrm flipV="1">
                <a:off x="4113000" y="4631760"/>
                <a:ext cx="224280" cy="224280"/>
              </a:xfrm>
              <a:custGeom>
                <a:avLst/>
                <a:gdLst>
                  <a:gd name="textAreaLeft" fmla="*/ 0 w 224280"/>
                  <a:gd name="textAreaRight" fmla="*/ 224640 w 224280"/>
                  <a:gd name="textAreaTop" fmla="*/ -360 h 224280"/>
                  <a:gd name="textAreaBottom" fmla="*/ 224280 h 224280"/>
                </a:gdLst>
                <a:ahLst/>
                <a:cxnLst/>
                <a:rect l="textAreaLeft" t="textAreaTop" r="textAreaRight" b="textAreaBottom"/>
                <a:pathLst>
                  <a:path w="3513963" h="3513962">
                    <a:moveTo>
                      <a:pt x="0" y="0"/>
                    </a:moveTo>
                    <a:lnTo>
                      <a:pt x="3513963" y="3513963"/>
                    </a:lnTo>
                  </a:path>
                </a:pathLst>
              </a:custGeom>
              <a:noFill/>
              <a:ln w="19050">
                <a:solidFill>
                  <a:srgbClr val="f07621"/>
                </a:solidFill>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134" name="Google Shape;402;p41"/>
          <p:cNvSpPr/>
          <p:nvPr/>
        </p:nvSpPr>
        <p:spPr>
          <a:xfrm>
            <a:off x="4029120" y="4552920"/>
            <a:ext cx="390240" cy="390240"/>
          </a:xfrm>
          <a:prstGeom prst="rect">
            <a:avLst/>
          </a:prstGeom>
          <a:noFill/>
          <a:ln w="0">
            <a:noFill/>
          </a:ln>
        </p:spPr>
        <p:style>
          <a:lnRef idx="0"/>
          <a:fillRef idx="0"/>
          <a:effectRef idx="0"/>
          <a:fontRef idx="minor"/>
        </p:style>
        <p:txBody>
          <a:bodyPr lIns="870823080" rIns="870823080" tIns="195120" bIns="195120" anchor="ctr">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trategic Business Management by Slidesgo">
  <a:themeElements>
    <a:clrScheme name="Simple Light">
      <a:dk1>
        <a:srgbClr val="1d3675"/>
      </a:dk1>
      <a:lt1>
        <a:srgbClr val="ffffff"/>
      </a:lt1>
      <a:dk2>
        <a:srgbClr val="f07621"/>
      </a:dk2>
      <a:lt2>
        <a:srgbClr val="ffffff"/>
      </a:lt2>
      <a:accent1>
        <a:srgbClr val="ffffff"/>
      </a:accent1>
      <a:accent2>
        <a:srgbClr val="ffffff"/>
      </a:accent2>
      <a:accent3>
        <a:srgbClr val="ffffff"/>
      </a:accent3>
      <a:accent4>
        <a:srgbClr val="ffffff"/>
      </a:accent4>
      <a:accent5>
        <a:srgbClr val="ffffff"/>
      </a:accent5>
      <a:accent6>
        <a:srgbClr val="ffffff"/>
      </a:accent6>
      <a:hlink>
        <a:srgbClr val="1d3675"/>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LibreOffice/25.8.1.1$Linux_X86_64 LibreOffice_project/580$Build-1</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2026-08-14T10:18:16Z</dcterms:created>
  <dc:creator>Slidesgo AI</dc:creator>
  <dc:description/>
  <dc:language>en-US</dc:language>
  <cp:lastModifiedBy>Unknown Creator</cp:lastModifiedBy>
  <dcterms:modified xsi:type="dcterms:W3CDTF">2026-08-14T10:18:16Z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14</vt:r8>
  </property>
  <property fmtid="{D5CDD505-2E9C-101B-9397-08002B2CF9AE}" pid="3" name="SlidesgoGeneratedBy">
    <vt:lpwstr>slidesgo-ai</vt:lpwstr>
  </property>
  <property fmtid="{D5CDD505-2E9C-101B-9397-08002B2CF9AE}" pid="4" name="SlidesgoPresentationUuid">
    <vt:lpwstr>a27fe8df-5004-4ad6-9bb5-51717e111677</vt:lpwstr>
  </property>
</Properties>
</file>